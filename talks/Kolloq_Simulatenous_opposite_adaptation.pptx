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bookmarkIdSeed="18">
  <p:sldMasterIdLst>
    <p:sldMasterId id="2147483648" r:id="rId1"/>
    <p:sldMasterId id="2147483655" r:id="rId2"/>
  </p:sldMasterIdLst>
  <p:notesMasterIdLst>
    <p:notesMasterId r:id="rId45"/>
  </p:notesMasterIdLst>
  <p:handoutMasterIdLst>
    <p:handoutMasterId r:id="rId46"/>
  </p:handoutMasterIdLst>
  <p:sldIdLst>
    <p:sldId id="257" r:id="rId3"/>
    <p:sldId id="370" r:id="rId4"/>
    <p:sldId id="287" r:id="rId5"/>
    <p:sldId id="377" r:id="rId6"/>
    <p:sldId id="379" r:id="rId7"/>
    <p:sldId id="371" r:id="rId8"/>
    <p:sldId id="372" r:id="rId9"/>
    <p:sldId id="373" r:id="rId10"/>
    <p:sldId id="374" r:id="rId11"/>
    <p:sldId id="380" r:id="rId12"/>
    <p:sldId id="376" r:id="rId13"/>
    <p:sldId id="381" r:id="rId14"/>
    <p:sldId id="382" r:id="rId15"/>
    <p:sldId id="341" r:id="rId16"/>
    <p:sldId id="340" r:id="rId17"/>
    <p:sldId id="348" r:id="rId18"/>
    <p:sldId id="383" r:id="rId19"/>
    <p:sldId id="384" r:id="rId20"/>
    <p:sldId id="385" r:id="rId21"/>
    <p:sldId id="386" r:id="rId22"/>
    <p:sldId id="387" r:id="rId23"/>
    <p:sldId id="388" r:id="rId24"/>
    <p:sldId id="389" r:id="rId25"/>
    <p:sldId id="390" r:id="rId26"/>
    <p:sldId id="391" r:id="rId27"/>
    <p:sldId id="392" r:id="rId28"/>
    <p:sldId id="393" r:id="rId29"/>
    <p:sldId id="401" r:id="rId30"/>
    <p:sldId id="395" r:id="rId31"/>
    <p:sldId id="402" r:id="rId32"/>
    <p:sldId id="396" r:id="rId33"/>
    <p:sldId id="403" r:id="rId34"/>
    <p:sldId id="404" r:id="rId35"/>
    <p:sldId id="405" r:id="rId36"/>
    <p:sldId id="406" r:id="rId37"/>
    <p:sldId id="407" r:id="rId38"/>
    <p:sldId id="408" r:id="rId39"/>
    <p:sldId id="398" r:id="rId40"/>
    <p:sldId id="345" r:id="rId41"/>
    <p:sldId id="394" r:id="rId42"/>
    <p:sldId id="399" r:id="rId43"/>
    <p:sldId id="400" r:id="rId44"/>
  </p:sldIdLst>
  <p:sldSz cx="6858000" cy="5143500"/>
  <p:notesSz cx="6858000" cy="9144000"/>
  <p:embeddedFontLst>
    <p:embeddedFont>
      <p:font typeface="Palatino Linotype" panose="02040502050505030304" pitchFamily="18" charset="0"/>
      <p:regular r:id="rId47"/>
      <p:bold r:id="rId48"/>
      <p:italic r:id="rId49"/>
      <p:boldItalic r:id="rId50"/>
    </p:embeddedFont>
    <p:embeddedFont>
      <p:font typeface="Roboto Condensed" panose="02000000000000000000" pitchFamily="2" charset="0"/>
      <p:regular r:id="rId51"/>
      <p:bold r:id="rId52"/>
      <p:italic r:id="rId53"/>
      <p:boldItalic r:id="rId54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BDFBC878-E374-47AB-B12C-C90681FF5C42}">
          <p14:sldIdLst>
            <p14:sldId id="257"/>
            <p14:sldId id="370"/>
            <p14:sldId id="287"/>
            <p14:sldId id="377"/>
            <p14:sldId id="379"/>
            <p14:sldId id="371"/>
            <p14:sldId id="372"/>
            <p14:sldId id="373"/>
            <p14:sldId id="374"/>
            <p14:sldId id="380"/>
            <p14:sldId id="376"/>
            <p14:sldId id="381"/>
            <p14:sldId id="382"/>
            <p14:sldId id="341"/>
            <p14:sldId id="340"/>
            <p14:sldId id="348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401"/>
            <p14:sldId id="395"/>
            <p14:sldId id="402"/>
            <p14:sldId id="396"/>
            <p14:sldId id="403"/>
            <p14:sldId id="404"/>
            <p14:sldId id="405"/>
            <p14:sldId id="406"/>
            <p14:sldId id="407"/>
            <p14:sldId id="408"/>
            <p14:sldId id="398"/>
            <p14:sldId id="345"/>
            <p14:sldId id="394"/>
            <p14:sldId id="399"/>
            <p14:sldId id="40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orient="horz" pos="3162" userDrawn="1">
          <p15:clr>
            <a:srgbClr val="A4A3A4"/>
          </p15:clr>
        </p15:guide>
        <p15:guide id="3" orient="horz" pos="2414" userDrawn="1">
          <p15:clr>
            <a:srgbClr val="A4A3A4"/>
          </p15:clr>
        </p15:guide>
        <p15:guide id="5" orient="horz" pos="2867" userDrawn="1">
          <p15:clr>
            <a:srgbClr val="A4A3A4"/>
          </p15:clr>
        </p15:guide>
        <p15:guide id="6" orient="horz" pos="214" userDrawn="1">
          <p15:clr>
            <a:srgbClr val="A4A3A4"/>
          </p15:clr>
        </p15:guide>
        <p15:guide id="7" orient="horz" pos="696" userDrawn="1">
          <p15:clr>
            <a:srgbClr val="A4A3A4"/>
          </p15:clr>
        </p15:guide>
        <p15:guide id="8" orient="horz" pos="2709" userDrawn="1">
          <p15:clr>
            <a:srgbClr val="A4A3A4"/>
          </p15:clr>
        </p15:guide>
        <p15:guide id="9" pos="1514" userDrawn="1">
          <p15:clr>
            <a:srgbClr val="A4A3A4"/>
          </p15:clr>
        </p15:guide>
        <p15:guide id="10" pos="1292" userDrawn="1">
          <p15:clr>
            <a:srgbClr val="A4A3A4"/>
          </p15:clr>
        </p15:guide>
        <p15:guide id="11" pos="4106" userDrawn="1">
          <p15:clr>
            <a:srgbClr val="A4A3A4"/>
          </p15:clr>
        </p15:guide>
        <p15:guide id="12" pos="221" userDrawn="1">
          <p15:clr>
            <a:srgbClr val="A4A3A4"/>
          </p15:clr>
        </p15:guide>
        <p15:guide id="13" pos="3025" userDrawn="1">
          <p15:clr>
            <a:srgbClr val="A4A3A4"/>
          </p15:clr>
        </p15:guide>
        <p15:guide id="14" pos="2809" userDrawn="1">
          <p15:clr>
            <a:srgbClr val="A4A3A4"/>
          </p15:clr>
        </p15:guide>
        <p15:guide id="15" pos="2378" userDrawn="1">
          <p15:clr>
            <a:srgbClr val="A4A3A4"/>
          </p15:clr>
        </p15:guide>
        <p15:guide id="16" pos="433" userDrawn="1">
          <p15:clr>
            <a:srgbClr val="A4A3A4"/>
          </p15:clr>
        </p15:guide>
        <p15:guide id="17" pos="648" userDrawn="1">
          <p15:clr>
            <a:srgbClr val="A4A3A4"/>
          </p15:clr>
        </p15:guide>
        <p15:guide id="18" pos="867" userDrawn="1">
          <p15:clr>
            <a:srgbClr val="A4A3A4"/>
          </p15:clr>
        </p15:guide>
        <p15:guide id="19" pos="1082" userDrawn="1">
          <p15:clr>
            <a:srgbClr val="A4A3A4"/>
          </p15:clr>
        </p15:guide>
        <p15:guide id="20" pos="1734" userDrawn="1">
          <p15:clr>
            <a:srgbClr val="A4A3A4"/>
          </p15:clr>
        </p15:guide>
        <p15:guide id="21" pos="1946" userDrawn="1">
          <p15:clr>
            <a:srgbClr val="A4A3A4"/>
          </p15:clr>
        </p15:guide>
        <p15:guide id="22" pos="2160" userDrawn="1">
          <p15:clr>
            <a:srgbClr val="A4A3A4"/>
          </p15:clr>
        </p15:guide>
        <p15:guide id="23" pos="2594" userDrawn="1">
          <p15:clr>
            <a:srgbClr val="A4A3A4"/>
          </p15:clr>
        </p15:guide>
        <p15:guide id="25" pos="3453" userDrawn="1">
          <p15:clr>
            <a:srgbClr val="A4A3A4"/>
          </p15:clr>
        </p15:guide>
        <p15:guide id="26" pos="3674" userDrawn="1">
          <p15:clr>
            <a:srgbClr val="A4A3A4"/>
          </p15:clr>
        </p15:guide>
        <p15:guide id="27" pos="3890" userDrawn="1">
          <p15:clr>
            <a:srgbClr val="A4A3A4"/>
          </p15:clr>
        </p15:guide>
        <p15:guide id="28" orient="horz" pos="3153" userDrawn="1">
          <p15:clr>
            <a:srgbClr val="A4A3A4"/>
          </p15:clr>
        </p15:guide>
        <p15:guide id="29" orient="horz" pos="2836" userDrawn="1">
          <p15:clr>
            <a:srgbClr val="A4A3A4"/>
          </p15:clr>
        </p15:guide>
        <p15:guide id="30" pos="32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C005E"/>
    <a:srgbClr val="007434"/>
    <a:srgbClr val="FFFFFF"/>
    <a:srgbClr val="FADD2E"/>
    <a:srgbClr val="F0A050"/>
    <a:srgbClr val="6DC41E"/>
    <a:srgbClr val="F272D7"/>
    <a:srgbClr val="002F5D"/>
    <a:srgbClr val="BD9F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C31B6-0F35-409D-A4E9-91F389ADABCA}" v="3" dt="2022-03-13T19:45:58.0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6D9F66E-5EB9-4882-86FB-DCBF35E3C3E4}" styleName="Mittlere Formatvorlage 4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unkle Formatvorlage 1 - Akz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unkle Formatvorlage 1 - Akz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46F890A9-2807-4EBB-B81D-B2AA78EC7F39}" styleName="Dunkle Formatvorlage 2 - Akzent 5/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unkle Formatvorlage 2 - Akzent 3/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505E3EF-67EA-436B-97B2-0124C06EBD24}" styleName="Mittlere Formatvorlage 4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ittlere Formatvorlage 3 - 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Helle Formatvorlage 3 - Akz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38B1855-1B75-4FBE-930C-398BA8C253C6}" styleName="Designformatvorlage 2 - Akz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Designformatvorlage 2 - Akz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929F9F4-4A8F-4326-A1B4-22849713DDAB}" styleName="Dunkle Formatvorlage 1 - Akz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2" autoAdjust="0"/>
    <p:restoredTop sz="95033" autoAdjust="0"/>
  </p:normalViewPr>
  <p:slideViewPr>
    <p:cSldViewPr snapToGrid="0" snapToObjects="1">
      <p:cViewPr varScale="1">
        <p:scale>
          <a:sx n="109" d="100"/>
          <a:sy n="109" d="100"/>
        </p:scale>
        <p:origin x="1286" y="82"/>
      </p:cViewPr>
      <p:guideLst>
        <p:guide orient="horz" pos="1620"/>
        <p:guide orient="horz" pos="3162"/>
        <p:guide orient="horz" pos="2414"/>
        <p:guide orient="horz" pos="2867"/>
        <p:guide orient="horz" pos="214"/>
        <p:guide orient="horz" pos="696"/>
        <p:guide orient="horz" pos="2709"/>
        <p:guide pos="1514"/>
        <p:guide pos="1292"/>
        <p:guide pos="4106"/>
        <p:guide pos="221"/>
        <p:guide pos="3025"/>
        <p:guide pos="2809"/>
        <p:guide pos="2378"/>
        <p:guide pos="433"/>
        <p:guide pos="648"/>
        <p:guide pos="867"/>
        <p:guide pos="1082"/>
        <p:guide pos="1734"/>
        <p:guide pos="1946"/>
        <p:guide pos="2160"/>
        <p:guide pos="2594"/>
        <p:guide pos="3453"/>
        <p:guide pos="3674"/>
        <p:guide pos="3890"/>
        <p:guide orient="horz" pos="3153"/>
        <p:guide orient="horz" pos="2836"/>
        <p:guide pos="32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99" d="100"/>
          <a:sy n="99" d="100"/>
        </p:scale>
        <p:origin x="3570" y="84"/>
      </p:cViewPr>
      <p:guideLst>
        <p:guide orient="horz" pos="2880"/>
        <p:guide pos="2160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7.fntdata"/><Relationship Id="rId58" Type="http://schemas.openxmlformats.org/officeDocument/2006/relationships/tableStyles" Target="tableStyles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2.fntdata"/><Relationship Id="rId56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font" Target="fonts/font5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handoutMaster" Target="handoutMasters/handoutMaster1.xml"/><Relationship Id="rId59" Type="http://schemas.microsoft.com/office/2016/11/relationships/changesInfo" Target="changesInfos/changesInfo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3.fntdata"/><Relationship Id="rId57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6.fntdata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nuel.poehlmann" userId="e2b2f413-eab3-4bb7-8add-c1576b4e2d19" providerId="ADAL" clId="{0BBC31B6-0F35-409D-A4E9-91F389ADABCA}"/>
    <pc:docChg chg="custSel modSld">
      <pc:chgData name="manuel.poehlmann" userId="e2b2f413-eab3-4bb7-8add-c1576b4e2d19" providerId="ADAL" clId="{0BBC31B6-0F35-409D-A4E9-91F389ADABCA}" dt="2022-03-13T19:46:09.273" v="16" actId="1076"/>
      <pc:docMkLst>
        <pc:docMk/>
      </pc:docMkLst>
      <pc:sldChg chg="addSp modSp mod modAnim">
        <pc:chgData name="manuel.poehlmann" userId="e2b2f413-eab3-4bb7-8add-c1576b4e2d19" providerId="ADAL" clId="{0BBC31B6-0F35-409D-A4E9-91F389ADABCA}" dt="2022-03-13T19:45:29.444" v="11" actId="1076"/>
        <pc:sldMkLst>
          <pc:docMk/>
          <pc:sldMk cId="3885464133" sldId="308"/>
        </pc:sldMkLst>
        <pc:spChg chg="mod">
          <ac:chgData name="manuel.poehlmann" userId="e2b2f413-eab3-4bb7-8add-c1576b4e2d19" providerId="ADAL" clId="{0BBC31B6-0F35-409D-A4E9-91F389ADABCA}" dt="2022-03-08T15:00:54.138" v="0" actId="114"/>
          <ac:spMkLst>
            <pc:docMk/>
            <pc:sldMk cId="3885464133" sldId="308"/>
            <ac:spMk id="9" creationId="{60BF4B33-E122-4F10-8DBB-76771B9B1BE5}"/>
          </ac:spMkLst>
        </pc:spChg>
        <pc:spChg chg="mod">
          <ac:chgData name="manuel.poehlmann" userId="e2b2f413-eab3-4bb7-8add-c1576b4e2d19" providerId="ADAL" clId="{0BBC31B6-0F35-409D-A4E9-91F389ADABCA}" dt="2022-03-08T15:01:03.700" v="9" actId="20577"/>
          <ac:spMkLst>
            <pc:docMk/>
            <pc:sldMk cId="3885464133" sldId="308"/>
            <ac:spMk id="10" creationId="{1036E502-672A-44EC-8792-525EDC3B4F60}"/>
          </ac:spMkLst>
        </pc:spChg>
        <pc:picChg chg="add mod">
          <ac:chgData name="manuel.poehlmann" userId="e2b2f413-eab3-4bb7-8add-c1576b4e2d19" providerId="ADAL" clId="{0BBC31B6-0F35-409D-A4E9-91F389ADABCA}" dt="2022-03-13T19:45:29.444" v="11" actId="1076"/>
          <ac:picMkLst>
            <pc:docMk/>
            <pc:sldMk cId="3885464133" sldId="308"/>
            <ac:picMk id="3" creationId="{3D3E5862-6116-4575-9EB0-5334E3962961}"/>
          </ac:picMkLst>
        </pc:picChg>
      </pc:sldChg>
      <pc:sldChg chg="addSp modSp mod modAnim">
        <pc:chgData name="manuel.poehlmann" userId="e2b2f413-eab3-4bb7-8add-c1576b4e2d19" providerId="ADAL" clId="{0BBC31B6-0F35-409D-A4E9-91F389ADABCA}" dt="2022-03-13T19:45:46.021" v="13" actId="1076"/>
        <pc:sldMkLst>
          <pc:docMk/>
          <pc:sldMk cId="3985052763" sldId="311"/>
        </pc:sldMkLst>
        <pc:picChg chg="add mod">
          <ac:chgData name="manuel.poehlmann" userId="e2b2f413-eab3-4bb7-8add-c1576b4e2d19" providerId="ADAL" clId="{0BBC31B6-0F35-409D-A4E9-91F389ADABCA}" dt="2022-03-13T19:45:46.021" v="13" actId="1076"/>
          <ac:picMkLst>
            <pc:docMk/>
            <pc:sldMk cId="3985052763" sldId="311"/>
            <ac:picMk id="2" creationId="{72109BF2-C6B3-4F30-93E8-4C4FCE93E3D5}"/>
          </ac:picMkLst>
        </pc:picChg>
      </pc:sldChg>
      <pc:sldChg chg="addSp modSp mod modAnim">
        <pc:chgData name="manuel.poehlmann" userId="e2b2f413-eab3-4bb7-8add-c1576b4e2d19" providerId="ADAL" clId="{0BBC31B6-0F35-409D-A4E9-91F389ADABCA}" dt="2022-03-13T19:46:09.273" v="16" actId="1076"/>
        <pc:sldMkLst>
          <pc:docMk/>
          <pc:sldMk cId="4113173992" sldId="315"/>
        </pc:sldMkLst>
        <pc:picChg chg="add mod">
          <ac:chgData name="manuel.poehlmann" userId="e2b2f413-eab3-4bb7-8add-c1576b4e2d19" providerId="ADAL" clId="{0BBC31B6-0F35-409D-A4E9-91F389ADABCA}" dt="2022-03-13T19:46:09.273" v="16" actId="1076"/>
          <ac:picMkLst>
            <pc:docMk/>
            <pc:sldMk cId="4113173992" sldId="315"/>
            <ac:picMk id="3" creationId="{AB172EE4-0E1D-40ED-AEDD-22AC7F37E79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2642F8-4030-468B-846F-DE3B6AB6CE0D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AA542-7317-4AC6-A4A4-9C0CA743576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24962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B2040-EA4D-4002-BC41-13AC0377AF84}" type="datetimeFigureOut">
              <a:rPr lang="de-DE" smtClean="0"/>
              <a:t>27.10.2026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DADD7A-5464-40FD-B5CC-4CA36D7CC1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305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Technical </a:t>
            </a:r>
            <a:r>
              <a:rPr lang="de-DE" dirty="0" err="1"/>
              <a:t>term</a:t>
            </a:r>
            <a:r>
              <a:rPr lang="de-DE" dirty="0"/>
              <a:t> -&gt; I </a:t>
            </a:r>
            <a:r>
              <a:rPr lang="de-DE" dirty="0" err="1"/>
              <a:t>apologize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05171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C5A5C-73B0-940B-B468-6980C7D4B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1E9E048-3ECB-CE86-BD71-EF90BE9BB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B6F7E6F-0203-30F6-AD0B-E7F09CBD5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Linguistic</a:t>
            </a:r>
            <a:r>
              <a:rPr lang="de-DE" dirty="0"/>
              <a:t>: </a:t>
            </a:r>
            <a:r>
              <a:rPr lang="de-DE" dirty="0" err="1"/>
              <a:t>speech</a:t>
            </a:r>
            <a:r>
              <a:rPr lang="de-DE" dirty="0"/>
              <a:t> </a:t>
            </a:r>
            <a:r>
              <a:rPr lang="de-DE" dirty="0" err="1"/>
              <a:t>sounds</a:t>
            </a:r>
            <a:r>
              <a:rPr lang="de-DE" dirty="0"/>
              <a:t>, </a:t>
            </a:r>
            <a:r>
              <a:rPr lang="de-DE" dirty="0" err="1"/>
              <a:t>semantics</a:t>
            </a:r>
            <a:r>
              <a:rPr lang="de-DE" dirty="0"/>
              <a:t>, but also </a:t>
            </a:r>
            <a:r>
              <a:rPr lang="de-DE" dirty="0" err="1"/>
              <a:t>phonetcs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Change </a:t>
            </a:r>
            <a:r>
              <a:rPr lang="de-DE" dirty="0" err="1"/>
              <a:t>within</a:t>
            </a:r>
            <a:r>
              <a:rPr lang="de-DE" dirty="0"/>
              <a:t> an </a:t>
            </a:r>
            <a:r>
              <a:rPr lang="de-DE" dirty="0" err="1"/>
              <a:t>interactional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Extalinguistics</a:t>
            </a:r>
            <a:r>
              <a:rPr lang="de-DE" dirty="0"/>
              <a:t>: </a:t>
            </a:r>
            <a:r>
              <a:rPr lang="de-DE" dirty="0" err="1"/>
              <a:t>stable</a:t>
            </a:r>
            <a:r>
              <a:rPr lang="de-DE" dirty="0"/>
              <a:t> </a:t>
            </a:r>
            <a:r>
              <a:rPr lang="de-DE" dirty="0" err="1"/>
              <a:t>speaker</a:t>
            </a:r>
            <a:r>
              <a:rPr lang="de-DE" dirty="0"/>
              <a:t> </a:t>
            </a:r>
            <a:r>
              <a:rPr lang="de-DE" dirty="0" err="1"/>
              <a:t>characteristics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Paralinguistic</a:t>
            </a:r>
            <a:r>
              <a:rPr lang="de-DE" dirty="0"/>
              <a:t>: </a:t>
            </a:r>
            <a:r>
              <a:rPr lang="de-DE" dirty="0" err="1"/>
              <a:t>unfold</a:t>
            </a:r>
            <a:r>
              <a:rPr lang="de-DE" dirty="0"/>
              <a:t> </a:t>
            </a:r>
            <a:r>
              <a:rPr lang="de-DE" dirty="0" err="1"/>
              <a:t>together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the </a:t>
            </a:r>
            <a:r>
              <a:rPr lang="de-DE" dirty="0" err="1"/>
              <a:t>linguistic</a:t>
            </a:r>
            <a:r>
              <a:rPr lang="de-DE" dirty="0"/>
              <a:t>, and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as </a:t>
            </a:r>
            <a:r>
              <a:rPr lang="de-DE" dirty="0" err="1"/>
              <a:t>well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FEFEE-252B-3A8E-8354-B683608E7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2813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„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experts</a:t>
            </a:r>
            <a:r>
              <a:rPr lang="de-DE" dirty="0"/>
              <a:t>“ -&gt; do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Pick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and </a:t>
            </a:r>
            <a:r>
              <a:rPr lang="de-DE" dirty="0" err="1"/>
              <a:t>process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fast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change </a:t>
            </a:r>
            <a:r>
              <a:rPr lang="de-DE" dirty="0" err="1"/>
              <a:t>within</a:t>
            </a:r>
            <a:r>
              <a:rPr lang="de-DE" dirty="0"/>
              <a:t> a </a:t>
            </a:r>
            <a:r>
              <a:rPr lang="de-DE" dirty="0" err="1"/>
              <a:t>few</a:t>
            </a:r>
            <a:r>
              <a:rPr lang="de-DE" dirty="0"/>
              <a:t> </a:t>
            </a:r>
            <a:r>
              <a:rPr lang="de-DE" dirty="0" err="1"/>
              <a:t>seconds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Real time </a:t>
            </a:r>
            <a:r>
              <a:rPr lang="de-DE" dirty="0" err="1"/>
              <a:t>monitoring</a:t>
            </a:r>
            <a:r>
              <a:rPr lang="de-DE" dirty="0"/>
              <a:t> of the </a:t>
            </a:r>
            <a:r>
              <a:rPr lang="de-DE" dirty="0" err="1"/>
              <a:t>auditory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663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2616-3CD1-B2C4-00DA-4358DD7A9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2E406C7-D350-D176-722A-8A5D2323E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2C6970B-1F5C-B053-54A3-9C99C91DD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Not </a:t>
            </a:r>
            <a:r>
              <a:rPr lang="de-DE" dirty="0" err="1"/>
              <a:t>one</a:t>
            </a:r>
            <a:r>
              <a:rPr lang="de-DE" dirty="0"/>
              <a:t> exhaustive </a:t>
            </a:r>
            <a:r>
              <a:rPr lang="de-DE" dirty="0" err="1"/>
              <a:t>answer</a:t>
            </a:r>
            <a:r>
              <a:rPr lang="de-DE" dirty="0"/>
              <a:t> to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questions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But </a:t>
            </a:r>
            <a:r>
              <a:rPr lang="de-DE" dirty="0" err="1"/>
              <a:t>one</a:t>
            </a:r>
            <a:r>
              <a:rPr lang="de-DE" dirty="0"/>
              <a:t> fundamental </a:t>
            </a:r>
            <a:r>
              <a:rPr lang="de-DE" dirty="0" err="1"/>
              <a:t>property</a:t>
            </a:r>
            <a:r>
              <a:rPr lang="de-DE" dirty="0"/>
              <a:t> of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perceptual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: </a:t>
            </a:r>
            <a:r>
              <a:rPr lang="de-DE" dirty="0" err="1"/>
              <a:t>flexibility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We</a:t>
            </a:r>
            <a:r>
              <a:rPr lang="de-DE" dirty="0"/>
              <a:t> tune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contexts</a:t>
            </a:r>
            <a:r>
              <a:rPr lang="de-DE" dirty="0"/>
              <a:t> and </a:t>
            </a:r>
            <a:r>
              <a:rPr lang="de-DE" dirty="0" err="1"/>
              <a:t>speakers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whatever</a:t>
            </a:r>
            <a:r>
              <a:rPr lang="de-DE" dirty="0"/>
              <a:t> </a:t>
            </a:r>
            <a:r>
              <a:rPr lang="de-DE" dirty="0" err="1"/>
              <a:t>cues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informative</a:t>
            </a:r>
          </a:p>
          <a:p>
            <a:pPr marL="171450" indent="-171450">
              <a:buFontTx/>
              <a:buChar char="-"/>
            </a:pPr>
            <a:r>
              <a:rPr lang="de-DE" dirty="0"/>
              <a:t>Speaker express </a:t>
            </a:r>
            <a:r>
              <a:rPr lang="de-DE" dirty="0" err="1"/>
              <a:t>emotions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differently</a:t>
            </a:r>
            <a:r>
              <a:rPr lang="de-DE" dirty="0"/>
              <a:t>, but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equally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recognized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895183-6F77-E9F2-D141-33BD0E744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1839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5EFB6-125A-5ED6-D1D1-0EA055EB4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427F10F-DFD5-8A34-6267-B2BBA50BB6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390E699-7976-421F-DC5D-FEC6BD1BF3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/>
              <a:t>Powerful </a:t>
            </a:r>
            <a:r>
              <a:rPr lang="de-DE" dirty="0" err="1"/>
              <a:t>paradigm</a:t>
            </a:r>
            <a:r>
              <a:rPr lang="de-DE" dirty="0"/>
              <a:t>, to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flexibility</a:t>
            </a:r>
            <a:endParaRPr lang="de-DE" dirty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540D722-1565-190C-C3B7-1B88AE916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463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5EDCC-0DBF-E7BE-A71C-CFD5A1CC6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EE2CBEC-F6C8-FBE3-7D97-3778EACA4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D293C43-318F-6FD3-FF24-4B6CEA2DE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Nice </a:t>
            </a:r>
            <a:r>
              <a:rPr lang="de-DE" dirty="0" err="1"/>
              <a:t>paradigm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To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flexibility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study</a:t>
            </a:r>
            <a:r>
              <a:rPr lang="de-DE" dirty="0"/>
              <a:t> </a:t>
            </a:r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processing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One</a:t>
            </a:r>
            <a:r>
              <a:rPr lang="de-DE" dirty="0"/>
              <a:t> step </a:t>
            </a:r>
            <a:r>
              <a:rPr lang="de-DE" dirty="0" err="1"/>
              <a:t>further</a:t>
            </a:r>
            <a:r>
              <a:rPr lang="de-DE" dirty="0"/>
              <a:t> – and follow a </a:t>
            </a:r>
            <a:r>
              <a:rPr lang="de-DE" dirty="0" err="1"/>
              <a:t>recent</a:t>
            </a:r>
            <a:r>
              <a:rPr lang="de-DE" dirty="0"/>
              <a:t> </a:t>
            </a:r>
            <a:r>
              <a:rPr lang="de-DE" dirty="0" err="1"/>
              <a:t>call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a </a:t>
            </a:r>
            <a:r>
              <a:rPr lang="de-DE" dirty="0" err="1"/>
              <a:t>line</a:t>
            </a:r>
            <a:r>
              <a:rPr lang="de-DE" dirty="0"/>
              <a:t> of </a:t>
            </a:r>
            <a:r>
              <a:rPr lang="de-DE" dirty="0" err="1"/>
              <a:t>thinking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A8098FA-DC3F-347A-2598-54E09E00CE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94803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BD153-0E53-5C7A-5B42-BDCA29CAB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2D34F07-7E74-0E15-5596-613198C2FD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22C514E-31C1-8363-D5F8-0D048872C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For </a:t>
            </a:r>
            <a:r>
              <a:rPr lang="de-DE" dirty="0" err="1"/>
              <a:t>emotion</a:t>
            </a:r>
            <a:r>
              <a:rPr lang="de-DE" dirty="0"/>
              <a:t> </a:t>
            </a:r>
            <a:r>
              <a:rPr lang="de-DE" dirty="0" err="1"/>
              <a:t>processing</a:t>
            </a:r>
            <a:r>
              <a:rPr lang="de-DE" dirty="0"/>
              <a:t>,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perceptual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incorporates</a:t>
            </a:r>
            <a:r>
              <a:rPr lang="de-DE" dirty="0"/>
              <a:t> </a:t>
            </a:r>
            <a:r>
              <a:rPr lang="de-DE" dirty="0" err="1"/>
              <a:t>speaker</a:t>
            </a:r>
            <a:r>
              <a:rPr lang="de-DE" dirty="0"/>
              <a:t> </a:t>
            </a:r>
            <a:r>
              <a:rPr lang="de-DE" dirty="0" err="1"/>
              <a:t>characteristics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Informative </a:t>
            </a:r>
            <a:r>
              <a:rPr lang="de-DE" dirty="0" err="1"/>
              <a:t>rather</a:t>
            </a:r>
            <a:r>
              <a:rPr lang="de-DE" dirty="0"/>
              <a:t> </a:t>
            </a:r>
            <a:r>
              <a:rPr lang="de-DE" dirty="0" err="1"/>
              <a:t>than</a:t>
            </a:r>
            <a:r>
              <a:rPr lang="de-DE" dirty="0"/>
              <a:t> </a:t>
            </a:r>
            <a:r>
              <a:rPr lang="de-DE" dirty="0" err="1"/>
              <a:t>treated</a:t>
            </a:r>
            <a:r>
              <a:rPr lang="de-DE" dirty="0"/>
              <a:t> as </a:t>
            </a:r>
            <a:r>
              <a:rPr lang="de-DE" dirty="0" err="1"/>
              <a:t>noise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FCCDD5-F15C-E9F8-D663-ACE7AD9FC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85068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912FB-D6B7-7E36-C0CC-DBBE7D8E7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FC67301-78A3-FB03-E0EF-8EC685956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F146DA3-105B-7132-CD55-4DCA1070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/>
              <a:t>Processing -&gt; </a:t>
            </a:r>
            <a:r>
              <a:rPr lang="de-DE" dirty="0" err="1"/>
              <a:t>calibration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,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fine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in </a:t>
            </a:r>
            <a:r>
              <a:rPr lang="de-DE" dirty="0" err="1"/>
              <a:t>perceptual</a:t>
            </a:r>
            <a:r>
              <a:rPr lang="de-DE" dirty="0"/>
              <a:t> </a:t>
            </a:r>
            <a:r>
              <a:rPr lang="de-DE" dirty="0" err="1"/>
              <a:t>adaptation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B4D718-FEDE-E739-B9DB-2FC936E7A5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39611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48B8F-2329-5DAF-C0FE-412297EC5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E68CCF7-49F1-2A08-8C7B-E7A685EBA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E3EBDC6-0A53-AE93-458A-C80897898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/>
              <a:t>Fine </a:t>
            </a:r>
            <a:r>
              <a:rPr lang="de-DE" dirty="0" err="1"/>
              <a:t>tuning</a:t>
            </a:r>
            <a:r>
              <a:rPr lang="de-DE" dirty="0"/>
              <a:t>-&gt; </a:t>
            </a:r>
            <a:r>
              <a:rPr lang="de-DE" dirty="0" err="1"/>
              <a:t>makes</a:t>
            </a:r>
            <a:r>
              <a:rPr lang="de-DE" dirty="0"/>
              <a:t> the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effective</a:t>
            </a:r>
            <a:r>
              <a:rPr lang="de-DE" dirty="0"/>
              <a:t>, </a:t>
            </a:r>
            <a:r>
              <a:rPr lang="de-DE" dirty="0" err="1"/>
              <a:t>tracking</a:t>
            </a:r>
            <a:r>
              <a:rPr lang="de-DE" dirty="0"/>
              <a:t> of </a:t>
            </a:r>
            <a:r>
              <a:rPr lang="de-DE" dirty="0" err="1"/>
              <a:t>emotions</a:t>
            </a:r>
            <a:endParaRPr lang="de-DE" dirty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04FC4AA-AF0E-CCFD-08D6-09468201E5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2018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9AD79-77F4-A9E9-8E55-81D946AFD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F8E23E0-A37F-D261-A324-BD26744D0A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90D08C2-6B96-6219-1AA9-969B27614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BD2574-C246-5635-1AFE-0180BC1B95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7642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46142-EF9E-47EF-6F17-F0D195DF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C781DF7-F65D-3D3C-B80A-5047FB5804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056329D-97AE-4B2E-8A3E-2781AB362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FC3235-2780-12C8-E796-D2AA110E90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73029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11C16-7044-BB69-5463-0B3211829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66AA8C0-54BA-22D7-BC47-6E913CAAF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2F10C88-43CA-4863-A35C-0B3B2A8650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02070F-7D7D-F32D-97A5-2E7829D6B5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9273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32C95-A00B-5157-859F-14168B8E7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FFD5C02-7DA3-4E1A-8647-9D3E7BBB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3A4C157-CFD8-F54E-8568-2FEFA8662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D7EA78-14A3-2BC4-29AA-7358AF47E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9487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7690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585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14572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79B06-6935-D939-DA12-701AE7591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246D431-2C7A-7A22-ECCB-985931C96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C995B35-5BF3-7950-A080-3387A7C89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DE2EEF-265A-2D27-A8BC-7222ACB1B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08692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F2963-D021-BEFD-BB45-BE7BD9166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71E63EC-5353-A3D9-BF61-9B77FBC32A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ABD2592-A5EC-9616-857A-9EF3AA797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DC0C551-CB1D-E161-C5F9-0CA9F6F10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31134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3CD1E-DD25-7C77-D7D8-0314854BB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10ABCEA-B842-170B-D68E-0103E94A9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872968-FFA8-5F2E-2F85-2B91B2E56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A981C-9B50-E3AD-945A-B0B37989C2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49329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234D1-9763-0362-FD3A-10E92C57E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D9BBE62-FD2F-0A69-267C-F31EEB959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C4ADDED-2F03-3674-0021-D38E45226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5FE765-FFC6-9887-BFAC-AB0670332C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26429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5A094-D081-4653-FF63-BF0F9130F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67D3B18-16BA-F2E4-ED95-795532619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6B682C-1778-E944-4197-890BF9025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C82D1B-6C70-42F0-103E-009972C04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323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4114F-ADEC-F2B3-305D-4136C7996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C2E3B16-42F4-E78D-714C-443E48FA5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7D227F0-99B2-8E9A-4ED9-D10A02C8C9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E3B037-0279-DB20-8FB4-64B0EDCB3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7675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14063-DF6F-2656-DFFB-D319D5B3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78B5363-77A8-A0EC-BDFB-2742251A3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EC28EEF-7302-C6D6-6489-CA7FA829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799F36-6700-E3A3-35F8-9DCCCEC07B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90290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4E0F-8F69-5F86-C917-4087AAA4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7E69BD9-E9D6-8431-0C18-568D9F4C6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641ED41-FB00-152D-57FA-4D320790C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BB75E4-153F-5040-B69B-3E12F38548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32145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5B274-6F6A-373F-387F-C438F78D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0042D47-DCAF-F4E6-4B42-EFF0436E1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39EA9C7-CEA2-CCBA-19BA-423CBBE30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991E7-F158-61C1-B254-DA8BE55CC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4370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B9852-18C2-5D3A-96D0-2AFB0CB0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57D75C1-5A5A-0A53-9F4A-326DB5234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0A597FA-DDA2-1F1E-BCD7-50F3FE7F1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65B02DF-AF23-3B30-6457-4F37F2F09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34477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65D54-9F3B-F8CB-BF8C-9540159BF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AC7FFC4-3874-7CD6-B088-F95F96B05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C4221C8-9D00-269C-2E59-B0F4303EE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7EBDC7-9B32-A91E-1B41-7B793756F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1393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defTabSz="340136">
              <a:lnSpc>
                <a:spcPct val="150000"/>
              </a:lnSpc>
              <a:buClr>
                <a:schemeClr val="accent1"/>
              </a:buClr>
              <a:buFontTx/>
              <a:buNone/>
              <a:defRPr/>
            </a:pPr>
            <a:r>
              <a:rPr lang="de-DE" sz="1200" dirty="0">
                <a:solidFill>
                  <a:srgbClr val="002350"/>
                </a:solidFill>
              </a:rPr>
              <a:t>- http://www.scielo.org.co/img/revistas/ruc/v31n3//2027-0119-ruc-31-03-130-gt1.jpg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40208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D3046-007E-7A70-3569-E100BF7D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A5740FB-0856-997E-B8E6-AA4EC9FBF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F9C147-94DF-24D1-945F-BE492BCC1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F07ED3-D9BC-4D51-16C5-4FDDE215E7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6650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defTabSz="340136">
              <a:lnSpc>
                <a:spcPct val="150000"/>
              </a:lnSpc>
              <a:buClr>
                <a:schemeClr val="accent1"/>
              </a:buClr>
              <a:buFontTx/>
              <a:buNone/>
              <a:defRPr/>
            </a:pPr>
            <a:r>
              <a:rPr lang="de-DE" sz="1200" dirty="0">
                <a:solidFill>
                  <a:srgbClr val="002350"/>
                </a:solidFill>
              </a:rPr>
              <a:t>- http://www.scielo.org.co/img/revistas/ruc/v31n3//2027-0119-ruc-31-03-130-gt1.jpg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0846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57054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359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60950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/>
              <a:t>Some </a:t>
            </a:r>
            <a:r>
              <a:rPr lang="de-DE" dirty="0" err="1"/>
              <a:t>sounds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much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efficient</a:t>
            </a:r>
            <a:r>
              <a:rPr lang="de-DE" dirty="0"/>
              <a:t> and </a:t>
            </a:r>
            <a:r>
              <a:rPr lang="de-DE" dirty="0" err="1"/>
              <a:t>satisfying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expressing</a:t>
            </a:r>
            <a:r>
              <a:rPr lang="de-DE" dirty="0"/>
              <a:t> </a:t>
            </a:r>
            <a:r>
              <a:rPr lang="de-DE" dirty="0" err="1"/>
              <a:t>anger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Plosives</a:t>
            </a:r>
          </a:p>
          <a:p>
            <a:pPr marL="171450" indent="-171450">
              <a:buFontTx/>
              <a:buChar char="-"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653104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A3DD8-0233-D57C-A5A1-F8CD4DE7C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215C21C-F0D2-FF7D-D3E8-ACF4387DB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065F56D-317D-2003-798A-158F47639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457587-3A98-1D77-E4A9-6B86AFFD6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10110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32C95-A00B-5157-859F-14168B8E7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FFD5C02-7DA3-4E1A-8647-9D3E7BBB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3A4C157-CFD8-F54E-8568-2FEFA8662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D7EA78-14A3-2BC4-29AA-7358AF47E0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38189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67FA3-9AE0-4A34-9F97-4776BEC43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CFB5005-87C6-D8B7-06D3-756272A4D4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8FC60F0-D566-90C1-4055-8781AF165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D5A4D4-A5D6-E5FB-29E2-217C54049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8205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endParaRPr lang="de-DE" sz="1200" dirty="0">
              <a:solidFill>
                <a:srgbClr val="002350"/>
              </a:solidFill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16571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17109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032059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96452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AD29-90BB-6D4F-EADC-50F944FC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C63AA90-DD77-BA20-3213-37E0CBD2B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65B0297-3A27-A3C0-4BF5-14EF8FBC8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defTabSz="340136">
              <a:lnSpc>
                <a:spcPct val="150000"/>
              </a:lnSpc>
              <a:buClr>
                <a:schemeClr val="accent1"/>
              </a:buClr>
              <a:buFontTx/>
              <a:buChar char="-"/>
              <a:defRPr/>
            </a:pPr>
            <a:r>
              <a:rPr lang="de-DE" sz="1200" dirty="0">
                <a:solidFill>
                  <a:srgbClr val="002350"/>
                </a:solidFill>
              </a:rPr>
              <a:t>https://www.frontiersin.org/journals/psychology/articles/10.3389/fpsyg.2026.1856582/full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968332-F19B-39B5-110D-B5B3C1D8F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DADD7A-5464-40FD-B5CC-4CA36D7CC1F5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82398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rgbClr val="002F5D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rgbClr val="002F5D"/>
                </a:solidFill>
                <a:latin typeface="Roboto Condensed" pitchFamily="2" charset="0"/>
                <a:ea typeface="Roboto Condensed" pitchFamily="2" charset="0"/>
              </a:rPr>
              <a:t> / 42</a:t>
            </a:r>
          </a:p>
        </p:txBody>
      </p:sp>
    </p:spTree>
    <p:extLst>
      <p:ext uri="{BB962C8B-B14F-4D97-AF65-F5344CB8AC3E}">
        <p14:creationId xmlns:p14="http://schemas.microsoft.com/office/powerpoint/2010/main" val="34664415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nderseite für große Grafi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>
            <a:off x="0" y="4312920"/>
            <a:ext cx="6858000" cy="8915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2867" y="4644000"/>
            <a:ext cx="784428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2726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9" name="Textplatzhalter 24"/>
          <p:cNvSpPr>
            <a:spLocks noGrp="1"/>
          </p:cNvSpPr>
          <p:nvPr>
            <p:ph type="body" sz="quarter" idx="11" hasCustomPrompt="1"/>
          </p:nvPr>
        </p:nvSpPr>
        <p:spPr>
          <a:xfrm>
            <a:off x="2249685" y="4719770"/>
            <a:ext cx="4266010" cy="144000"/>
          </a:xfrm>
        </p:spPr>
        <p:txBody>
          <a:bodyPr>
            <a:noAutofit/>
          </a:bodyPr>
          <a:lstStyle>
            <a:lvl1pPr marL="0" indent="0" algn="r">
              <a:buFontTx/>
              <a:buNone/>
              <a:defRPr lang="de-DE" sz="75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r>
              <a:rPr lang="de-DE" dirty="0"/>
              <a:t>Christine Nussbaum</a:t>
            </a:r>
          </a:p>
        </p:txBody>
      </p:sp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t> / 31</a:t>
            </a:r>
          </a:p>
        </p:txBody>
      </p:sp>
    </p:spTree>
    <p:extLst>
      <p:ext uri="{BB962C8B-B14F-4D97-AF65-F5344CB8AC3E}">
        <p14:creationId xmlns:p14="http://schemas.microsoft.com/office/powerpoint/2010/main" val="1181197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se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/>
          <p:cNvSpPr/>
          <p:nvPr userDrawn="1"/>
        </p:nvSpPr>
        <p:spPr>
          <a:xfrm flipV="1">
            <a:off x="-1" y="4500000"/>
            <a:ext cx="3442500" cy="3960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7" name="Grafik 6"/>
          <p:cNvPicPr preferRelativeResize="0"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0787" y="4500000"/>
            <a:ext cx="3429000" cy="39600"/>
          </a:xfrm>
          <a:prstGeom prst="rect">
            <a:avLst/>
          </a:prstGeom>
        </p:spPr>
      </p:pic>
      <p:sp>
        <p:nvSpPr>
          <p:cNvPr id="6" name="Textplatzhalter 24"/>
          <p:cNvSpPr txBox="1">
            <a:spLocks/>
          </p:cNvSpPr>
          <p:nvPr userDrawn="1"/>
        </p:nvSpPr>
        <p:spPr>
          <a:xfrm>
            <a:off x="2641231" y="4884575"/>
            <a:ext cx="3874464" cy="15420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de-DE" sz="1000" kern="1200" baseline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822FCD78-D96D-4F80-9AD7-6954839C45E1}" type="slidenum">
              <a:rPr lang="de-DE" sz="750" smtClean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pPr>
                <a:defRPr/>
              </a:pPr>
              <a:t>‹Nr.›</a:t>
            </a:fld>
            <a:r>
              <a:rPr lang="de-DE" sz="750" dirty="0">
                <a:solidFill>
                  <a:schemeClr val="bg1"/>
                </a:solidFill>
                <a:latin typeface="Roboto Condensed" pitchFamily="2" charset="0"/>
                <a:ea typeface="Roboto Condensed" pitchFamily="2" charset="0"/>
              </a:rPr>
              <a:t> / 42</a:t>
            </a:r>
          </a:p>
        </p:txBody>
      </p:sp>
    </p:spTree>
    <p:extLst>
      <p:ext uri="{BB962C8B-B14F-4D97-AF65-F5344CB8AC3E}">
        <p14:creationId xmlns:p14="http://schemas.microsoft.com/office/powerpoint/2010/main" val="631931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0" y="1200152"/>
            <a:ext cx="6172200" cy="187565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»Fünfte Ebene mit Anführungszeichen«</a:t>
            </a:r>
          </a:p>
        </p:txBody>
      </p:sp>
      <p:sp>
        <p:nvSpPr>
          <p:cNvPr id="11" name="Rechteck 10"/>
          <p:cNvSpPr/>
          <p:nvPr userDrawn="1"/>
        </p:nvSpPr>
        <p:spPr>
          <a:xfrm>
            <a:off x="-1" y="4500000"/>
            <a:ext cx="6858000" cy="64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/>
          </a:p>
        </p:txBody>
      </p:sp>
      <p:pic>
        <p:nvPicPr>
          <p:cNvPr id="1026" name="Picture 2"/>
          <p:cNvPicPr>
            <a:picLocks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2867" y="4644000"/>
            <a:ext cx="1047454" cy="3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52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7" r:id="rId3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defRPr sz="1500" kern="1200" spc="15" baseline="0">
          <a:solidFill>
            <a:schemeClr val="tx1"/>
          </a:solidFill>
          <a:latin typeface="Palatino Linotype" panose="02040502050505030304" pitchFamily="18" charset="0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spcBef>
          <a:spcPct val="20000"/>
        </a:spcBef>
        <a:buFontTx/>
        <a:buNone/>
        <a:defRPr sz="16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Clr>
          <a:schemeClr val="accent3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3pPr>
      <a:lvl4pPr marL="1028700" indent="0" algn="l" defTabSz="685800" rtl="0" eaLnBrk="1" latinLnBrk="0" hangingPunct="1">
        <a:spcBef>
          <a:spcPct val="20000"/>
        </a:spcBef>
        <a:buFontTx/>
        <a:buNone/>
        <a:defRPr sz="82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4pPr>
      <a:lvl5pPr marL="13716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67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42900" y="1200152"/>
            <a:ext cx="6172200" cy="187565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»Fünfte Ebene mit Anführungszeichen«</a:t>
            </a:r>
          </a:p>
        </p:txBody>
      </p:sp>
      <p:sp>
        <p:nvSpPr>
          <p:cNvPr id="11" name="Rechteck 10"/>
          <p:cNvSpPr/>
          <p:nvPr userDrawn="1"/>
        </p:nvSpPr>
        <p:spPr>
          <a:xfrm>
            <a:off x="-1" y="4500000"/>
            <a:ext cx="6858000" cy="64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de-DE" sz="135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4619" y="4607704"/>
            <a:ext cx="785700" cy="432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151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ftr="0" dt="0"/>
  <p:txStyles>
    <p:titleStyle>
      <a:lvl1pPr algn="l" defTabSz="685800" rtl="0" eaLnBrk="1" latinLnBrk="0" hangingPunct="1">
        <a:spcBef>
          <a:spcPct val="0"/>
        </a:spcBef>
        <a:buNone/>
        <a:defRPr sz="1500" kern="1200" spc="15" baseline="0">
          <a:solidFill>
            <a:schemeClr val="tx1"/>
          </a:solidFill>
          <a:latin typeface="Palatino Linotype" panose="02040502050505030304" pitchFamily="18" charset="0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spcBef>
          <a:spcPct val="20000"/>
        </a:spcBef>
        <a:buFontTx/>
        <a:buNone/>
        <a:defRPr sz="16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1pPr>
      <a:lvl2pPr marL="557213" indent="-214313" algn="l" defTabSz="685800" rtl="0" eaLnBrk="1" latinLnBrk="0" hangingPunct="1">
        <a:spcBef>
          <a:spcPct val="20000"/>
        </a:spcBef>
        <a:buClr>
          <a:schemeClr val="accent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2pPr>
      <a:lvl3pPr marL="857250" indent="-171450" algn="l" defTabSz="685800" rtl="0" eaLnBrk="1" latinLnBrk="0" hangingPunct="1">
        <a:spcBef>
          <a:spcPct val="20000"/>
        </a:spcBef>
        <a:buClr>
          <a:schemeClr val="accent3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3pPr>
      <a:lvl4pPr marL="1028700" indent="0" algn="l" defTabSz="685800" rtl="0" eaLnBrk="1" latinLnBrk="0" hangingPunct="1">
        <a:spcBef>
          <a:spcPct val="20000"/>
        </a:spcBef>
        <a:buFontTx/>
        <a:buNone/>
        <a:defRPr sz="82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4pPr>
      <a:lvl5pPr marL="13716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675" kern="1200">
          <a:solidFill>
            <a:schemeClr val="tx1"/>
          </a:solidFill>
          <a:latin typeface="Roboto Condensed" pitchFamily="2" charset="0"/>
          <a:ea typeface="Roboto Condensed" pitchFamily="2" charset="0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160" userDrawn="1">
          <p15:clr>
            <a:srgbClr val="F26B43"/>
          </p15:clr>
        </p15:guide>
        <p15:guide id="3" pos="2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Relationship Id="rId9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2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11" Type="http://schemas.openxmlformats.org/officeDocument/2006/relationships/image" Target="../media/image29.svg"/><Relationship Id="rId5" Type="http://schemas.openxmlformats.org/officeDocument/2006/relationships/image" Target="../media/image25.svg"/><Relationship Id="rId10" Type="http://schemas.openxmlformats.org/officeDocument/2006/relationships/image" Target="../media/image28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svg"/><Relationship Id="rId5" Type="http://schemas.openxmlformats.org/officeDocument/2006/relationships/image" Target="../media/image32.svg"/><Relationship Id="rId4" Type="http://schemas.openxmlformats.org/officeDocument/2006/relationships/image" Target="../media/image31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2.sv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svg"/><Relationship Id="rId11" Type="http://schemas.openxmlformats.org/officeDocument/2006/relationships/image" Target="../media/image36.svg"/><Relationship Id="rId5" Type="http://schemas.openxmlformats.org/officeDocument/2006/relationships/image" Target="../media/image25.svg"/><Relationship Id="rId10" Type="http://schemas.openxmlformats.org/officeDocument/2006/relationships/image" Target="../media/image35.svg"/><Relationship Id="rId4" Type="http://schemas.openxmlformats.org/officeDocument/2006/relationships/image" Target="../media/image23.svg"/><Relationship Id="rId9" Type="http://schemas.openxmlformats.org/officeDocument/2006/relationships/image" Target="../media/image2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9.png"/><Relationship Id="rId4" Type="http://schemas.openxmlformats.org/officeDocument/2006/relationships/image" Target="../media/image3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5.png"/><Relationship Id="rId4" Type="http://schemas.openxmlformats.org/officeDocument/2006/relationships/image" Target="../media/image34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sv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sv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7" name="Rechteck 6"/>
          <p:cNvSpPr/>
          <p:nvPr/>
        </p:nvSpPr>
        <p:spPr>
          <a:xfrm>
            <a:off x="351235" y="2876193"/>
            <a:ext cx="5120765" cy="1288971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9" name="Gerade Verbindung 8"/>
          <p:cNvCxnSpPr/>
          <p:nvPr/>
        </p:nvCxnSpPr>
        <p:spPr>
          <a:xfrm>
            <a:off x="526051" y="3061053"/>
            <a:ext cx="341709" cy="0"/>
          </a:xfrm>
          <a:prstGeom prst="line">
            <a:avLst/>
          </a:prstGeom>
          <a:ln w="44450">
            <a:solidFill>
              <a:srgbClr val="002F5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2CC8C7CA-D7CD-4809-AE52-7B41CE177FFC}"/>
              </a:ext>
            </a:extLst>
          </p:cNvPr>
          <p:cNvSpPr txBox="1"/>
          <p:nvPr/>
        </p:nvSpPr>
        <p:spPr>
          <a:xfrm>
            <a:off x="526051" y="3113830"/>
            <a:ext cx="4806731" cy="91371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dirty="0"/>
              <a:t>Is vocal emotional processing fine-tuned to speaker gender, identity and phonetic content? – </a:t>
            </a:r>
            <a:br>
              <a:rPr lang="en-US" sz="1400" b="1" dirty="0"/>
            </a:br>
            <a:r>
              <a:rPr lang="en-US" sz="1400" dirty="0"/>
              <a:t>Evidence from simultaneous opposite adaptation</a:t>
            </a:r>
            <a:endParaRPr lang="en-US" sz="1050" dirty="0"/>
          </a:p>
          <a:p>
            <a:r>
              <a:rPr lang="en-US" sz="1050" dirty="0"/>
              <a:t>Christine Nussbaum, 27 November 2026</a:t>
            </a:r>
          </a:p>
          <a:p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1504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31E87-0BF0-E295-B5A7-FB23E32C9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1F8776AF-DF32-0C1E-517B-6FCCC6B1CF29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ABC60E03-03BC-6BD1-97E9-FBC9E9D48349}"/>
              </a:ext>
            </a:extLst>
          </p:cNvPr>
          <p:cNvSpPr txBox="1"/>
          <p:nvPr/>
        </p:nvSpPr>
        <p:spPr>
          <a:xfrm>
            <a:off x="338269" y="440204"/>
            <a:ext cx="4986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We infer a lot of information from a voice…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014B188-68F4-2E66-F609-CC3B47693BAA}"/>
              </a:ext>
            </a:extLst>
          </p:cNvPr>
          <p:cNvSpPr txBox="1"/>
          <p:nvPr/>
        </p:nvSpPr>
        <p:spPr>
          <a:xfrm>
            <a:off x="449294" y="1739604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de-DE" dirty="0" err="1"/>
              <a:t>Linguistic</a:t>
            </a:r>
            <a:endParaRPr lang="de-DE" dirty="0"/>
          </a:p>
          <a:p>
            <a:pPr algn="ctr"/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537ADA6-EE80-E58B-41EF-E4A6D80347D3}"/>
              </a:ext>
            </a:extLst>
          </p:cNvPr>
          <p:cNvSpPr txBox="1"/>
          <p:nvPr/>
        </p:nvSpPr>
        <p:spPr>
          <a:xfrm>
            <a:off x="2606085" y="1739605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Paralinguistic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75B5ABB-BC97-B093-C8FE-06D36E54DCBA}"/>
              </a:ext>
            </a:extLst>
          </p:cNvPr>
          <p:cNvSpPr txBox="1"/>
          <p:nvPr/>
        </p:nvSpPr>
        <p:spPr>
          <a:xfrm>
            <a:off x="4762876" y="1750435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Extralinguistic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5415F36-8F21-6A81-758D-7A04DBB110FF}"/>
              </a:ext>
            </a:extLst>
          </p:cNvPr>
          <p:cNvSpPr txBox="1"/>
          <p:nvPr/>
        </p:nvSpPr>
        <p:spPr>
          <a:xfrm>
            <a:off x="449293" y="3043555"/>
            <a:ext cx="1469127" cy="52322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phonetic</a:t>
            </a:r>
            <a:r>
              <a:rPr lang="de-DE" sz="1400" i="1" dirty="0"/>
              <a:t> </a:t>
            </a:r>
            <a:r>
              <a:rPr lang="de-DE" sz="1400" i="1" dirty="0" err="1"/>
              <a:t>or</a:t>
            </a:r>
            <a:endParaRPr lang="de-DE" sz="1400" i="1" dirty="0"/>
          </a:p>
          <a:p>
            <a:pPr algn="ctr"/>
            <a:r>
              <a:rPr lang="de-DE" sz="1400" i="1" dirty="0" err="1"/>
              <a:t>semantic</a:t>
            </a:r>
            <a:r>
              <a:rPr lang="de-DE" sz="1400" i="1" dirty="0"/>
              <a:t> </a:t>
            </a:r>
            <a:r>
              <a:rPr lang="de-DE" sz="1400" i="1" dirty="0" err="1"/>
              <a:t>content</a:t>
            </a:r>
            <a:endParaRPr lang="en-US" sz="1400" i="1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FE39AD9-6E32-E224-C8C8-B5CE08A2D574}"/>
              </a:ext>
            </a:extLst>
          </p:cNvPr>
          <p:cNvSpPr txBox="1"/>
          <p:nvPr/>
        </p:nvSpPr>
        <p:spPr>
          <a:xfrm>
            <a:off x="2606085" y="3043555"/>
            <a:ext cx="1469127" cy="954107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prosody</a:t>
            </a:r>
            <a:r>
              <a:rPr lang="de-DE" sz="1400" i="1" dirty="0"/>
              <a:t> and </a:t>
            </a:r>
            <a:r>
              <a:rPr lang="de-DE" sz="1400" i="1" dirty="0" err="1"/>
              <a:t>intonation</a:t>
            </a:r>
            <a:r>
              <a:rPr lang="de-DE" sz="1400" i="1" dirty="0"/>
              <a:t> </a:t>
            </a:r>
          </a:p>
          <a:p>
            <a:pPr algn="ctr"/>
            <a:endParaRPr lang="de-DE" sz="1400" i="1" dirty="0">
              <a:solidFill>
                <a:srgbClr val="C00000"/>
              </a:solidFill>
            </a:endParaRPr>
          </a:p>
          <a:p>
            <a:pPr algn="ctr"/>
            <a:r>
              <a:rPr lang="en-US" sz="1400" i="1" dirty="0">
                <a:solidFill>
                  <a:srgbClr val="C00000"/>
                </a:solidFill>
              </a:rPr>
              <a:t>EMOTIONS</a:t>
            </a:r>
            <a:endParaRPr lang="de-DE" sz="1400" i="1" dirty="0">
              <a:solidFill>
                <a:srgbClr val="C00000"/>
              </a:solidFill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3E630C56-CB84-01FE-5E74-9C2E52D30501}"/>
              </a:ext>
            </a:extLst>
          </p:cNvPr>
          <p:cNvSpPr txBox="1"/>
          <p:nvPr/>
        </p:nvSpPr>
        <p:spPr>
          <a:xfrm>
            <a:off x="4762876" y="3043555"/>
            <a:ext cx="1469127" cy="52322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sz="1400" i="1" dirty="0"/>
              <a:t>e.g. </a:t>
            </a:r>
            <a:r>
              <a:rPr lang="de-DE" sz="1400" i="1" dirty="0" err="1"/>
              <a:t>identity</a:t>
            </a:r>
            <a:r>
              <a:rPr lang="de-DE" sz="1400" i="1" dirty="0"/>
              <a:t>, </a:t>
            </a:r>
            <a:r>
              <a:rPr lang="de-DE" sz="1400" i="1" dirty="0" err="1"/>
              <a:t>gender</a:t>
            </a:r>
            <a:r>
              <a:rPr lang="de-DE" sz="1400" i="1" dirty="0"/>
              <a:t>, </a:t>
            </a:r>
            <a:r>
              <a:rPr lang="de-DE" sz="1400" i="1" dirty="0" err="1"/>
              <a:t>age</a:t>
            </a:r>
            <a:endParaRPr lang="de-DE" sz="1400" i="1" dirty="0">
              <a:solidFill>
                <a:srgbClr val="C00000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BB24276-723F-4B28-A768-EECE83CB71C2}"/>
              </a:ext>
            </a:extLst>
          </p:cNvPr>
          <p:cNvSpPr txBox="1"/>
          <p:nvPr/>
        </p:nvSpPr>
        <p:spPr>
          <a:xfrm>
            <a:off x="5190767" y="4233736"/>
            <a:ext cx="17210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[Schweinberger et al., 2014]</a:t>
            </a:r>
          </a:p>
        </p:txBody>
      </p:sp>
    </p:spTree>
    <p:extLst>
      <p:ext uri="{BB962C8B-B14F-4D97-AF65-F5344CB8AC3E}">
        <p14:creationId xmlns:p14="http://schemas.microsoft.com/office/powerpoint/2010/main" val="3190733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A4CBE88-6C5D-4FB8-9316-1A0A18DD7B01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C301636-9F29-41E8-9934-6DAA81A65624}"/>
              </a:ext>
            </a:extLst>
          </p:cNvPr>
          <p:cNvSpPr txBox="1"/>
          <p:nvPr/>
        </p:nvSpPr>
        <p:spPr>
          <a:xfrm>
            <a:off x="338269" y="440204"/>
            <a:ext cx="3363047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The processing of vocal emotions….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6D5DE84-A984-4E00-8F73-6E0FBD7287A1}"/>
              </a:ext>
            </a:extLst>
          </p:cNvPr>
          <p:cNvSpPr txBox="1"/>
          <p:nvPr/>
        </p:nvSpPr>
        <p:spPr>
          <a:xfrm>
            <a:off x="599313" y="1075002"/>
            <a:ext cx="5782679" cy="341520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en-US" sz="1200" dirty="0">
              <a:solidFill>
                <a:schemeClr val="tx2"/>
              </a:solidFill>
            </a:endParaRPr>
          </a:p>
          <a:p>
            <a:endParaRPr lang="en-US" sz="1200" dirty="0">
              <a:solidFill>
                <a:schemeClr val="tx2"/>
              </a:solidFill>
            </a:endParaRPr>
          </a:p>
          <a:p>
            <a:endParaRPr lang="en-US" sz="1200" dirty="0">
              <a:solidFill>
                <a:schemeClr val="tx2"/>
              </a:solidFill>
            </a:endParaRPr>
          </a:p>
          <a:p>
            <a:pPr algn="ctr"/>
            <a:r>
              <a:rPr lang="en-US" dirty="0"/>
              <a:t>... is a complex task for our perceptual system 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It requires real-time monitoring and efficient processing of the auditory input.   </a:t>
            </a:r>
          </a:p>
          <a:p>
            <a:pPr algn="ctr"/>
            <a:endParaRPr lang="en-US" sz="11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DF3ABDC-E28E-40A1-B519-8B63B992ACFE}"/>
              </a:ext>
            </a:extLst>
          </p:cNvPr>
          <p:cNvSpPr txBox="1"/>
          <p:nvPr/>
        </p:nvSpPr>
        <p:spPr>
          <a:xfrm>
            <a:off x="4057677" y="4243989"/>
            <a:ext cx="28542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[Schirmer and Kotz, 2006; Paulmann and Kotz, 2018]</a:t>
            </a:r>
          </a:p>
        </p:txBody>
      </p:sp>
      <p:pic>
        <p:nvPicPr>
          <p:cNvPr id="7" name="Grafik 6" descr="Sprache Silhouette">
            <a:extLst>
              <a:ext uri="{FF2B5EF4-FFF2-40B4-BE49-F238E27FC236}">
                <a16:creationId xmlns:a16="http://schemas.microsoft.com/office/drawing/2014/main" id="{43967806-EF63-4658-A0DB-A9762414C3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7548" y="1129063"/>
            <a:ext cx="590640" cy="590640"/>
          </a:xfrm>
          <a:prstGeom prst="rect">
            <a:avLst/>
          </a:prstGeom>
        </p:spPr>
      </p:pic>
      <p:pic>
        <p:nvPicPr>
          <p:cNvPr id="8" name="Grafik 7" descr="Ein sprechendes Gesicht">
            <a:extLst>
              <a:ext uri="{FF2B5EF4-FFF2-40B4-BE49-F238E27FC236}">
                <a16:creationId xmlns:a16="http://schemas.microsoft.com/office/drawing/2014/main" id="{83823C9D-2344-43BA-B685-A98E0A083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002" y="1016378"/>
            <a:ext cx="422428" cy="501632"/>
          </a:xfrm>
          <a:prstGeom prst="rect">
            <a:avLst/>
          </a:prstGeom>
        </p:spPr>
      </p:pic>
      <p:pic>
        <p:nvPicPr>
          <p:cNvPr id="9" name="Grafik 8" descr="Ein gelangweiltes Gesicht">
            <a:extLst>
              <a:ext uri="{FF2B5EF4-FFF2-40B4-BE49-F238E27FC236}">
                <a16:creationId xmlns:a16="http://schemas.microsoft.com/office/drawing/2014/main" id="{42DF9304-1AC9-4BB7-93B5-2D5866BB09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5839642" y="3284208"/>
            <a:ext cx="494164" cy="540492"/>
          </a:xfrm>
          <a:prstGeom prst="rect">
            <a:avLst/>
          </a:prstGeom>
        </p:spPr>
      </p:pic>
      <p:pic>
        <p:nvPicPr>
          <p:cNvPr id="10" name="Grafik 9" descr="Gesicht mit Herzaugen">
            <a:extLst>
              <a:ext uri="{FF2B5EF4-FFF2-40B4-BE49-F238E27FC236}">
                <a16:creationId xmlns:a16="http://schemas.microsoft.com/office/drawing/2014/main" id="{E2F7A85A-9781-4A1A-A926-6B657B3794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9313" y="3314467"/>
            <a:ext cx="513046" cy="542360"/>
          </a:xfrm>
          <a:prstGeom prst="rect">
            <a:avLst/>
          </a:prstGeom>
        </p:spPr>
      </p:pic>
      <p:pic>
        <p:nvPicPr>
          <p:cNvPr id="11" name="Grafik 10" descr="Ein überraschtes Gesicht">
            <a:extLst>
              <a:ext uri="{FF2B5EF4-FFF2-40B4-BE49-F238E27FC236}">
                <a16:creationId xmlns:a16="http://schemas.microsoft.com/office/drawing/2014/main" id="{FA391454-4147-436A-B2FF-C9F2664B06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5734919" y="304338"/>
            <a:ext cx="687690" cy="816632"/>
          </a:xfrm>
          <a:prstGeom prst="rect">
            <a:avLst/>
          </a:prstGeom>
        </p:spPr>
      </p:pic>
      <p:pic>
        <p:nvPicPr>
          <p:cNvPr id="15" name="Grafik 14" descr="Sprache Silhouette">
            <a:extLst>
              <a:ext uri="{FF2B5EF4-FFF2-40B4-BE49-F238E27FC236}">
                <a16:creationId xmlns:a16="http://schemas.microsoft.com/office/drawing/2014/main" id="{EE6B9A6F-01C3-4F20-8F60-6905D02DDC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57997" y="3514499"/>
            <a:ext cx="592740" cy="473396"/>
          </a:xfrm>
          <a:prstGeom prst="rect">
            <a:avLst/>
          </a:prstGeom>
        </p:spPr>
      </p:pic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03AC1DCC-12C3-4261-8620-6B02BA44FEF0}"/>
              </a:ext>
            </a:extLst>
          </p:cNvPr>
          <p:cNvGrpSpPr/>
          <p:nvPr/>
        </p:nvGrpSpPr>
        <p:grpSpPr>
          <a:xfrm>
            <a:off x="1136364" y="3389657"/>
            <a:ext cx="643648" cy="566470"/>
            <a:chOff x="2169557" y="4445943"/>
            <a:chExt cx="2744266" cy="1662066"/>
          </a:xfrm>
        </p:grpSpPr>
        <p:pic>
          <p:nvPicPr>
            <p:cNvPr id="17" name="Grafik 16" descr="Sprache mit einfarbiger Füllung">
              <a:extLst>
                <a:ext uri="{FF2B5EF4-FFF2-40B4-BE49-F238E27FC236}">
                  <a16:creationId xmlns:a16="http://schemas.microsoft.com/office/drawing/2014/main" id="{971ADCEB-0596-4F65-B312-8C76C42C8E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169557" y="4445943"/>
              <a:ext cx="1662066" cy="1662066"/>
            </a:xfrm>
            <a:prstGeom prst="rect">
              <a:avLst/>
            </a:prstGeom>
          </p:spPr>
        </p:pic>
        <p:pic>
          <p:nvPicPr>
            <p:cNvPr id="18" name="Grafik 17" descr="Sprache mit einfarbiger Füllung">
              <a:extLst>
                <a:ext uri="{FF2B5EF4-FFF2-40B4-BE49-F238E27FC236}">
                  <a16:creationId xmlns:a16="http://schemas.microsoft.com/office/drawing/2014/main" id="{D6CB5999-9B30-4A53-8EC4-14F43A5CA2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51757" y="4445943"/>
              <a:ext cx="1662066" cy="1662066"/>
            </a:xfrm>
            <a:prstGeom prst="rect">
              <a:avLst/>
            </a:prstGeom>
          </p:spPr>
        </p:pic>
      </p:grpSp>
      <p:pic>
        <p:nvPicPr>
          <p:cNvPr id="19" name="Grafik 18" descr="Sprache mit einfarbiger Füllung">
            <a:extLst>
              <a:ext uri="{FF2B5EF4-FFF2-40B4-BE49-F238E27FC236}">
                <a16:creationId xmlns:a16="http://schemas.microsoft.com/office/drawing/2014/main" id="{1E50058C-09A8-4382-A216-4E0D584EF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57576" y="891781"/>
            <a:ext cx="382066" cy="237282"/>
          </a:xfrm>
          <a:prstGeom prst="rect">
            <a:avLst/>
          </a:prstGeom>
        </p:spPr>
      </p:pic>
      <p:pic>
        <p:nvPicPr>
          <p:cNvPr id="20" name="Grafik 19" descr="Sprache Silhouette">
            <a:extLst>
              <a:ext uri="{FF2B5EF4-FFF2-40B4-BE49-F238E27FC236}">
                <a16:creationId xmlns:a16="http://schemas.microsoft.com/office/drawing/2014/main" id="{ED584FD2-27C4-40D0-878C-B46F849AF5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9710" y="3514499"/>
            <a:ext cx="592740" cy="47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226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886FC-FFA6-1435-2840-634AD2889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7BE9C2F5-C227-C257-0AC3-D02360D3217C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32AE7B6-5EF7-33BE-8FA5-471FD85EB7BB}"/>
              </a:ext>
            </a:extLst>
          </p:cNvPr>
          <p:cNvSpPr txBox="1"/>
          <p:nvPr/>
        </p:nvSpPr>
        <p:spPr>
          <a:xfrm>
            <a:off x="338269" y="440204"/>
            <a:ext cx="6069905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How is this degree of efficiency achieved? 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983A929-188C-C860-CE8E-BB8BD4EDC4DA}"/>
              </a:ext>
            </a:extLst>
          </p:cNvPr>
          <p:cNvSpPr txBox="1"/>
          <p:nvPr/>
        </p:nvSpPr>
        <p:spPr>
          <a:xfrm>
            <a:off x="338269" y="1704360"/>
            <a:ext cx="5767563" cy="12370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endParaRPr lang="en-US" sz="1200" dirty="0">
              <a:solidFill>
                <a:schemeClr val="tx2"/>
              </a:solidFill>
            </a:endParaRPr>
          </a:p>
          <a:p>
            <a:pPr algn="ctr"/>
            <a:endParaRPr lang="en-US" sz="1100" dirty="0">
              <a:solidFill>
                <a:schemeClr val="tx2"/>
              </a:solidFill>
            </a:endParaRPr>
          </a:p>
          <a:p>
            <a:pPr algn="ctr"/>
            <a:endParaRPr lang="en-US" sz="1100" dirty="0">
              <a:solidFill>
                <a:schemeClr val="tx2"/>
              </a:solidFill>
            </a:endParaRPr>
          </a:p>
          <a:p>
            <a:pPr algn="ctr"/>
            <a:r>
              <a:rPr lang="en-US" sz="2000" dirty="0">
                <a:solidFill>
                  <a:schemeClr val="tx2"/>
                </a:solidFill>
              </a:rPr>
              <a:t>Flexibility</a:t>
            </a:r>
          </a:p>
        </p:txBody>
      </p:sp>
    </p:spTree>
    <p:extLst>
      <p:ext uri="{BB962C8B-B14F-4D97-AF65-F5344CB8AC3E}">
        <p14:creationId xmlns:p14="http://schemas.microsoft.com/office/powerpoint/2010/main" val="730345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8F57-6ED6-1F05-00E3-9543E6D54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E9BAEFD1-9F66-371B-CE3A-9555386F4697}"/>
              </a:ext>
            </a:extLst>
          </p:cNvPr>
          <p:cNvSpPr/>
          <p:nvPr/>
        </p:nvSpPr>
        <p:spPr>
          <a:xfrm>
            <a:off x="2837854" y="3385428"/>
            <a:ext cx="1420755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108FF61-5891-8A6D-EBAB-E116812F18D9}"/>
              </a:ext>
            </a:extLst>
          </p:cNvPr>
          <p:cNvSpPr/>
          <p:nvPr/>
        </p:nvSpPr>
        <p:spPr>
          <a:xfrm>
            <a:off x="2841529" y="2488706"/>
            <a:ext cx="1420755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0C4D676F-DCB6-94B0-CE71-DE61FE3136AE}"/>
              </a:ext>
            </a:extLst>
          </p:cNvPr>
          <p:cNvSpPr/>
          <p:nvPr/>
        </p:nvSpPr>
        <p:spPr>
          <a:xfrm>
            <a:off x="403421" y="3352549"/>
            <a:ext cx="2094271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8CE5217-2267-4042-EBB3-BB267271505B}"/>
              </a:ext>
            </a:extLst>
          </p:cNvPr>
          <p:cNvSpPr/>
          <p:nvPr/>
        </p:nvSpPr>
        <p:spPr>
          <a:xfrm>
            <a:off x="403422" y="2492478"/>
            <a:ext cx="2094271" cy="76768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E2776DA2-013E-4802-B908-9CE09FBDDDBE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D5378E54-5665-6C37-5C70-BB262ECE3BD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Perceptual Adaptation -  a hallmark of perceptual flexibility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6C3FF96-2D85-4236-C81B-37BBB1BD4770}"/>
              </a:ext>
            </a:extLst>
          </p:cNvPr>
          <p:cNvSpPr txBox="1"/>
          <p:nvPr/>
        </p:nvSpPr>
        <p:spPr>
          <a:xfrm>
            <a:off x="5140447" y="299769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contrastive aftereffect</a:t>
            </a:r>
            <a:endParaRPr lang="en-US" sz="900" i="1" dirty="0">
              <a:solidFill>
                <a:schemeClr val="tx2"/>
              </a:solidFill>
            </a:endParaRPr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0B661EE4-C856-DC8B-1AA7-C4312B1F4E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23053" y="930659"/>
            <a:ext cx="4649398" cy="89749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21B9C92-649F-05FE-AA9A-57639E2925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403" y="2788520"/>
            <a:ext cx="419100" cy="3333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6285328-E2AC-271B-9C3C-37D2E61F7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59213" y="3686737"/>
            <a:ext cx="419100" cy="333375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646FD183-4763-5BFD-2509-E393B4AE81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70179" y="3686736"/>
            <a:ext cx="419100" cy="333375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707B293A-B8D0-BD1F-0220-EA8AF76A58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21347" y="2737117"/>
            <a:ext cx="419100" cy="333375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386F7F22-0FDD-F428-92D8-89918EEB56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21347" y="3675170"/>
            <a:ext cx="419100" cy="333375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0CED12CC-562C-5562-7C9C-2ED3F13008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9675" y="2788519"/>
            <a:ext cx="419100" cy="333375"/>
          </a:xfrm>
          <a:prstGeom prst="rect">
            <a:avLst/>
          </a:prstGeom>
        </p:spPr>
      </p:pic>
      <p:pic>
        <p:nvPicPr>
          <p:cNvPr id="32" name="Grafik 31">
            <a:extLst>
              <a:ext uri="{FF2B5EF4-FFF2-40B4-BE49-F238E27FC236}">
                <a16:creationId xmlns:a16="http://schemas.microsoft.com/office/drawing/2014/main" id="{BC778963-D547-04F9-AA84-9B64D51D01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59213" y="2791649"/>
            <a:ext cx="419100" cy="333375"/>
          </a:xfrm>
          <a:prstGeom prst="rect">
            <a:avLst/>
          </a:prstGeom>
        </p:spPr>
      </p:pic>
      <p:pic>
        <p:nvPicPr>
          <p:cNvPr id="37" name="Grafik 36">
            <a:extLst>
              <a:ext uri="{FF2B5EF4-FFF2-40B4-BE49-F238E27FC236}">
                <a16:creationId xmlns:a16="http://schemas.microsoft.com/office/drawing/2014/main" id="{0B74C5DB-C3A8-FA79-8D6F-DD8B2B2A9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97999" y="3679643"/>
            <a:ext cx="419100" cy="333375"/>
          </a:xfrm>
          <a:prstGeom prst="rect">
            <a:avLst/>
          </a:prstGeom>
        </p:spPr>
      </p:pic>
      <p:pic>
        <p:nvPicPr>
          <p:cNvPr id="39" name="Grafik 38">
            <a:extLst>
              <a:ext uri="{FF2B5EF4-FFF2-40B4-BE49-F238E27FC236}">
                <a16:creationId xmlns:a16="http://schemas.microsoft.com/office/drawing/2014/main" id="{69E39A8A-F3DC-5E42-1685-B915FFE1F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8444" y="3665894"/>
            <a:ext cx="419100" cy="333375"/>
          </a:xfrm>
          <a:prstGeom prst="rect">
            <a:avLst/>
          </a:prstGeom>
        </p:spPr>
      </p:pic>
      <p:pic>
        <p:nvPicPr>
          <p:cNvPr id="45" name="Grafik 44">
            <a:extLst>
              <a:ext uri="{FF2B5EF4-FFF2-40B4-BE49-F238E27FC236}">
                <a16:creationId xmlns:a16="http://schemas.microsoft.com/office/drawing/2014/main" id="{3132AAC8-5DA9-0E60-C84F-199912DA67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38681" y="2781218"/>
            <a:ext cx="419100" cy="333375"/>
          </a:xfrm>
          <a:prstGeom prst="rect">
            <a:avLst/>
          </a:prstGeom>
        </p:spPr>
      </p:pic>
      <p:sp>
        <p:nvSpPr>
          <p:cNvPr id="46" name="Pfeil: nach rechts 45">
            <a:extLst>
              <a:ext uri="{FF2B5EF4-FFF2-40B4-BE49-F238E27FC236}">
                <a16:creationId xmlns:a16="http://schemas.microsoft.com/office/drawing/2014/main" id="{6FD3B49C-B904-C57B-5ABE-AE7BF79E2B63}"/>
              </a:ext>
            </a:extLst>
          </p:cNvPr>
          <p:cNvSpPr/>
          <p:nvPr/>
        </p:nvSpPr>
        <p:spPr>
          <a:xfrm>
            <a:off x="4370146" y="2822635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feil: nach rechts 47">
            <a:extLst>
              <a:ext uri="{FF2B5EF4-FFF2-40B4-BE49-F238E27FC236}">
                <a16:creationId xmlns:a16="http://schemas.microsoft.com/office/drawing/2014/main" id="{6CF16E06-35A7-E783-A461-94317BA629A8}"/>
              </a:ext>
            </a:extLst>
          </p:cNvPr>
          <p:cNvSpPr/>
          <p:nvPr/>
        </p:nvSpPr>
        <p:spPr>
          <a:xfrm>
            <a:off x="4370146" y="379078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0CB33A48-DFDD-4E59-B769-D5F0DEC5CC34}"/>
              </a:ext>
            </a:extLst>
          </p:cNvPr>
          <p:cNvSpPr txBox="1"/>
          <p:nvPr/>
        </p:nvSpPr>
        <p:spPr>
          <a:xfrm>
            <a:off x="3789279" y="4240040"/>
            <a:ext cx="308889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a-DK" sz="1000" dirty="0"/>
              <a:t>Bestelmeyer, Rouger, et al. 2010; </a:t>
            </a:r>
            <a:r>
              <a:rPr lang="de-DE" sz="1000" dirty="0"/>
              <a:t>Nussbaum, et al., 2022</a:t>
            </a:r>
            <a:r>
              <a:rPr lang="da-DK" sz="1000" dirty="0"/>
              <a:t> </a:t>
            </a:r>
            <a:r>
              <a:rPr lang="de-DE" sz="10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596748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00F55-6CBC-A53D-2575-C22057FF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DDD69CC-54BC-5725-0161-100C4AD2395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8F8C76BD-C3FE-3603-8CC9-46FB22A08B76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Perceptual Adaptation -  a hallmark of perceptual flexibility</a:t>
            </a:r>
            <a:endParaRPr lang="en-US" sz="1000" dirty="0">
              <a:solidFill>
                <a:schemeClr val="tx2"/>
              </a:solidFill>
            </a:endParaRPr>
          </a:p>
        </p:txBody>
      </p:sp>
      <p:pic>
        <p:nvPicPr>
          <p:cNvPr id="50" name="Grafik 49">
            <a:extLst>
              <a:ext uri="{FF2B5EF4-FFF2-40B4-BE49-F238E27FC236}">
                <a16:creationId xmlns:a16="http://schemas.microsoft.com/office/drawing/2014/main" id="{B29ABF44-D864-75C2-8898-A74B380E8A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959" y="966773"/>
            <a:ext cx="3124636" cy="2581635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DDE0AA08-BD26-276A-BA95-8E1DB64319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078" y="2575725"/>
            <a:ext cx="581106" cy="714475"/>
          </a:xfrm>
          <a:prstGeom prst="rect">
            <a:avLst/>
          </a:prstGeom>
        </p:spPr>
      </p:pic>
      <p:pic>
        <p:nvPicPr>
          <p:cNvPr id="54" name="Grafik 53">
            <a:extLst>
              <a:ext uri="{FF2B5EF4-FFF2-40B4-BE49-F238E27FC236}">
                <a16:creationId xmlns:a16="http://schemas.microsoft.com/office/drawing/2014/main" id="{A77E6EB3-ABD1-CA8C-D982-71077DB84A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19" y="3564074"/>
            <a:ext cx="3185654" cy="190448"/>
          </a:xfrm>
          <a:prstGeom prst="rect">
            <a:avLst/>
          </a:prstGeom>
        </p:spPr>
      </p:pic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82788213-0E99-DB60-1124-1ADE6FE1D29F}"/>
              </a:ext>
            </a:extLst>
          </p:cNvPr>
          <p:cNvCxnSpPr/>
          <p:nvPr/>
        </p:nvCxnSpPr>
        <p:spPr>
          <a:xfrm>
            <a:off x="2305346" y="2079522"/>
            <a:ext cx="216628" cy="178068"/>
          </a:xfrm>
          <a:prstGeom prst="straightConnector1">
            <a:avLst/>
          </a:prstGeom>
          <a:ln>
            <a:solidFill>
              <a:srgbClr val="000000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F3EB3C32-97DD-22A8-0242-11E465BF632A}"/>
              </a:ext>
            </a:extLst>
          </p:cNvPr>
          <p:cNvSpPr txBox="1"/>
          <p:nvPr/>
        </p:nvSpPr>
        <p:spPr>
          <a:xfrm>
            <a:off x="4135287" y="1548176"/>
            <a:ext cx="2249754" cy="5313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Perceptual recalibration of the system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5043E3D5-E1D8-7EDA-7805-26DC800B37E4}"/>
              </a:ext>
            </a:extLst>
          </p:cNvPr>
          <p:cNvSpPr txBox="1"/>
          <p:nvPr/>
        </p:nvSpPr>
        <p:spPr>
          <a:xfrm>
            <a:off x="4135287" y="2487715"/>
            <a:ext cx="2249754" cy="5313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/>
              <a:t>Efficient tracking of emotions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6A788436-1C4A-4145-9780-C6C64C6D3932}"/>
              </a:ext>
            </a:extLst>
          </p:cNvPr>
          <p:cNvSpPr txBox="1"/>
          <p:nvPr/>
        </p:nvSpPr>
        <p:spPr>
          <a:xfrm>
            <a:off x="3774478" y="4240040"/>
            <a:ext cx="31036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</a:t>
            </a:r>
            <a:r>
              <a:rPr lang="da-DK" sz="1000" dirty="0"/>
              <a:t>Bestelmeyer, Rouger, et al. 2010; </a:t>
            </a:r>
            <a:r>
              <a:rPr lang="de-DE" sz="1000" dirty="0"/>
              <a:t>Nussbaum, et al., 2022</a:t>
            </a:r>
            <a:r>
              <a:rPr lang="da-DK" sz="1000" dirty="0"/>
              <a:t> </a:t>
            </a:r>
            <a:r>
              <a:rPr lang="de-DE" sz="10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8899526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79940-6DF1-740A-E290-C4CD465D0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F7F70B68-F381-018C-CF39-44CE1BF64C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D982E5A4-2274-8843-C505-652F150101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27" y="648697"/>
            <a:ext cx="6420746" cy="331516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64F0DF10-8A44-4045-9ABD-32A42C80C561}"/>
              </a:ext>
            </a:extLst>
          </p:cNvPr>
          <p:cNvSpPr txBox="1"/>
          <p:nvPr/>
        </p:nvSpPr>
        <p:spPr>
          <a:xfrm>
            <a:off x="5816409" y="4240040"/>
            <a:ext cx="10415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[Pinheiro, 2025]</a:t>
            </a:r>
          </a:p>
        </p:txBody>
      </p:sp>
    </p:spTree>
    <p:extLst>
      <p:ext uri="{BB962C8B-B14F-4D97-AF65-F5344CB8AC3E}">
        <p14:creationId xmlns:p14="http://schemas.microsoft.com/office/powerpoint/2010/main" val="3632180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01A9-553E-6D03-187E-8A52C31D5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FD7855A-74B9-1E35-8950-928A7CA9E13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5BE82A40-EB01-92AD-FD96-248DA4D6B03D}"/>
              </a:ext>
            </a:extLst>
          </p:cNvPr>
          <p:cNvSpPr txBox="1"/>
          <p:nvPr/>
        </p:nvSpPr>
        <p:spPr>
          <a:xfrm>
            <a:off x="910861" y="1996513"/>
            <a:ext cx="5036278" cy="8647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>
                <a:solidFill>
                  <a:schemeClr val="tx2"/>
                </a:solidFill>
              </a:rPr>
              <a:t>fine-tuned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9031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2791D-6DB2-BF59-3171-EBD33C765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9F03519-F01D-7751-EBD6-D5B6F8373C3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C29C57A-99DD-391D-F291-FBA025EC88A2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Interaction of different voice processing pathways…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153A721-E2C4-39DF-8B92-C5FF2AD787D9}"/>
              </a:ext>
            </a:extLst>
          </p:cNvPr>
          <p:cNvSpPr txBox="1"/>
          <p:nvPr/>
        </p:nvSpPr>
        <p:spPr>
          <a:xfrm>
            <a:off x="2163473" y="3707084"/>
            <a:ext cx="2599403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But </a:t>
            </a:r>
            <a:r>
              <a:rPr lang="de-DE" dirty="0" err="1">
                <a:solidFill>
                  <a:schemeClr val="tx2"/>
                </a:solidFill>
              </a:rPr>
              <a:t>what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about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fine</a:t>
            </a:r>
            <a:r>
              <a:rPr lang="de-DE" dirty="0">
                <a:solidFill>
                  <a:schemeClr val="tx2"/>
                </a:solidFill>
              </a:rPr>
              <a:t>-tuning?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6F2379A-4F4A-266F-9A03-7D86C6D6E115}"/>
              </a:ext>
            </a:extLst>
          </p:cNvPr>
          <p:cNvSpPr txBox="1"/>
          <p:nvPr/>
        </p:nvSpPr>
        <p:spPr>
          <a:xfrm>
            <a:off x="513543" y="1428829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7E2F5A7-778F-1FDF-9FA0-B3F71478AAB0}"/>
              </a:ext>
            </a:extLst>
          </p:cNvPr>
          <p:cNvSpPr txBox="1"/>
          <p:nvPr/>
        </p:nvSpPr>
        <p:spPr>
          <a:xfrm>
            <a:off x="2606085" y="2345097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Paralinguistic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 err="1"/>
              <a:t>cues</a:t>
            </a:r>
            <a:endParaRPr lang="en-US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0926340-C31F-4CA6-CBA3-987831512A71}"/>
              </a:ext>
            </a:extLst>
          </p:cNvPr>
          <p:cNvSpPr txBox="1"/>
          <p:nvPr/>
        </p:nvSpPr>
        <p:spPr>
          <a:xfrm>
            <a:off x="4762876" y="1428829"/>
            <a:ext cx="1469127" cy="64633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de-DE" dirty="0" err="1"/>
              <a:t>Extralinguistic</a:t>
            </a:r>
            <a:r>
              <a:rPr lang="de-DE" dirty="0"/>
              <a:t> </a:t>
            </a:r>
            <a:r>
              <a:rPr lang="de-DE" dirty="0" err="1"/>
              <a:t>cues</a:t>
            </a:r>
            <a:endParaRPr lang="en-US" dirty="0"/>
          </a:p>
        </p:txBody>
      </p:sp>
      <p:cxnSp>
        <p:nvCxnSpPr>
          <p:cNvPr id="21" name="Verbinder: gekrümmt 20">
            <a:extLst>
              <a:ext uri="{FF2B5EF4-FFF2-40B4-BE49-F238E27FC236}">
                <a16:creationId xmlns:a16="http://schemas.microsoft.com/office/drawing/2014/main" id="{19B47ACF-D3E0-FB78-E8EE-486671EDE3ED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1982670" y="1751995"/>
            <a:ext cx="1357979" cy="593102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Verbinder: gekrümmt 26">
            <a:extLst>
              <a:ext uri="{FF2B5EF4-FFF2-40B4-BE49-F238E27FC236}">
                <a16:creationId xmlns:a16="http://schemas.microsoft.com/office/drawing/2014/main" id="{E58F6579-61B1-53B3-2AB9-E8951EBA4D14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755211" y="1337433"/>
            <a:ext cx="593102" cy="1422227"/>
          </a:xfrm>
          <a:prstGeom prst="curved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F7BCB6B-226F-453A-8021-3CC3388FE043}"/>
              </a:ext>
            </a:extLst>
          </p:cNvPr>
          <p:cNvSpPr txBox="1"/>
          <p:nvPr/>
        </p:nvSpPr>
        <p:spPr>
          <a:xfrm>
            <a:off x="4620127" y="4240040"/>
            <a:ext cx="22378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[Pinheiro, 2025, </a:t>
            </a:r>
            <a:r>
              <a:rPr lang="de-DE" sz="1000" dirty="0" err="1"/>
              <a:t>Liebenthal</a:t>
            </a:r>
            <a:r>
              <a:rPr lang="de-DE" sz="1000" dirty="0"/>
              <a:t> et al., 2016]</a:t>
            </a:r>
          </a:p>
        </p:txBody>
      </p:sp>
    </p:spTree>
    <p:extLst>
      <p:ext uri="{BB962C8B-B14F-4D97-AF65-F5344CB8AC3E}">
        <p14:creationId xmlns:p14="http://schemas.microsoft.com/office/powerpoint/2010/main" val="1254040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33A3D-8109-FDA5-03A9-3419F631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CCC3FD46-0787-45AC-CE2B-3C36F1F5A47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D353847-E6EE-D7A0-E9E7-ACC889310DC2}"/>
              </a:ext>
            </a:extLst>
          </p:cNvPr>
          <p:cNvSpPr txBox="1"/>
          <p:nvPr/>
        </p:nvSpPr>
        <p:spPr>
          <a:xfrm>
            <a:off x="910861" y="1996513"/>
            <a:ext cx="5036278" cy="864721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>
                <a:solidFill>
                  <a:srgbClr val="C00000"/>
                </a:solidFill>
              </a:rPr>
              <a:t>fine-tuned</a:t>
            </a:r>
            <a:r>
              <a:rPr lang="en-US" sz="1600" i="1" dirty="0">
                <a:solidFill>
                  <a:schemeClr val="tx2"/>
                </a:solidFill>
              </a:rPr>
              <a:t>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60075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7CDDA-349B-61F0-8262-C89DDC997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9E57B3F-CF68-7402-0C3A-D9B8ABF2B875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83DA01B0-C2D8-81BF-A8BD-DEC1F35358E0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dirty="0"/>
              <a:t>Simultaneous opposite adaptation – </a:t>
            </a:r>
            <a:r>
              <a:rPr lang="en-US" dirty="0" err="1"/>
              <a:t>Bestelmeyer</a:t>
            </a:r>
            <a:r>
              <a:rPr lang="en-US" dirty="0"/>
              <a:t> et al 2010</a:t>
            </a:r>
            <a:endParaRPr lang="en-US" sz="1000" dirty="0">
              <a:solidFill>
                <a:schemeClr val="tx2"/>
              </a:solidFill>
            </a:endParaRP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BEFD1DD-F99F-25CD-C118-0FBED822715E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8413923-384C-C0CD-7450-A8002C78C964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891CE459-D9E1-94D0-C603-02B2050EB2A9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0A567C0-C0A4-CE77-8116-0A12EA9A8074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1605E9AB-C3C2-FBA9-3BF1-71ED44BBB7E3}"/>
              </a:ext>
            </a:extLst>
          </p:cNvPr>
          <p:cNvSpPr txBox="1"/>
          <p:nvPr/>
        </p:nvSpPr>
        <p:spPr>
          <a:xfrm>
            <a:off x="5167290" y="279593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B7E490D6-004C-2D13-11A0-95EF6C762DFD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950C0A12-DD1B-AB2B-4C2F-3A1E2EA984AB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1EC9E106-410C-E2A8-F99A-13D61113A7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F6F03FA0-F273-2E5C-2129-935EE9B37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7DDE61DA-2791-F2F5-F1EB-52C4D0E059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D7578A08-CD2A-7DD6-709A-ACF28E2B6C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4DCBA166-132F-6220-44CF-1CD8C86528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15DBC0A1-ACD9-DAA7-1C8D-8EB937B434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A792DB75-213F-2875-DC26-B7A1944FA6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4D44BE6C-1E9D-4B66-7FFC-C93FA4DC83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FD02CD56-0F9B-B0FA-9B34-DFF7F61B3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C438F6EA-BB06-68E0-EC86-BFA4245E7A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649F259C-3CA0-A959-C8D8-CDDA74C19D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9B414929-1E1A-9BA7-89AA-C26179B187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41CFA615-739F-70C5-4966-06D164A0C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0710D546-9B56-25CF-FC25-A1A9328576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7D7B5BF9-1180-FB40-B3CA-F18B7F5926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8D51EE59-BFAA-6C7F-E746-292B9B0502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7B6CE426-AB01-DA24-ED67-C6E81B954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6F0CDBE7-4E8C-2C32-9015-28E9303DD3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C4B5C75E-3284-4F8C-70CD-478A7AE3CB7A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B2B36D03-F922-8192-080C-C3C6ECA8FB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06E97CF4-3CF3-4D41-A0F2-7346B80AD2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05F94A79-2C4B-9E64-A79E-3394CB41C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4CC0441A-3599-67FA-5F78-12E51F7A57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32730BFE-7579-8F5E-B648-3320A0EA9E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F037804F-660A-95D4-AE5E-24150207DD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14301FBA-0BDD-5033-2625-3422AE86E37F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Grafik 116" descr="Frau mit einfarbiger Füllung">
            <a:extLst>
              <a:ext uri="{FF2B5EF4-FFF2-40B4-BE49-F238E27FC236}">
                <a16:creationId xmlns:a16="http://schemas.microsoft.com/office/drawing/2014/main" id="{A4A5CD77-82EC-F557-6980-9F9586CDAF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43139" y="2817697"/>
            <a:ext cx="360000" cy="360000"/>
          </a:xfrm>
          <a:prstGeom prst="rect">
            <a:avLst/>
          </a:prstGeom>
        </p:spPr>
      </p:pic>
      <p:pic>
        <p:nvPicPr>
          <p:cNvPr id="119" name="Grafik 118" descr="Mann mit einfarbiger Füllung">
            <a:extLst>
              <a:ext uri="{FF2B5EF4-FFF2-40B4-BE49-F238E27FC236}">
                <a16:creationId xmlns:a16="http://schemas.microsoft.com/office/drawing/2014/main" id="{56D020E6-A580-B294-EBF3-9B3D5FF7C9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3139" y="2330024"/>
            <a:ext cx="360000" cy="360000"/>
          </a:xfrm>
          <a:prstGeom prst="rect">
            <a:avLst/>
          </a:prstGeom>
        </p:spPr>
      </p:pic>
      <p:pic>
        <p:nvPicPr>
          <p:cNvPr id="121" name="Grafik 120" descr="Mann mit einfarbiger Füllung">
            <a:extLst>
              <a:ext uri="{FF2B5EF4-FFF2-40B4-BE49-F238E27FC236}">
                <a16:creationId xmlns:a16="http://schemas.microsoft.com/office/drawing/2014/main" id="{8ABE7964-42B4-009C-44DB-B9E2F8590C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34426" y="3569571"/>
            <a:ext cx="360000" cy="360000"/>
          </a:xfrm>
          <a:prstGeom prst="rect">
            <a:avLst/>
          </a:prstGeom>
        </p:spPr>
      </p:pic>
      <p:pic>
        <p:nvPicPr>
          <p:cNvPr id="123" name="Grafik 122" descr="Frau mit einfarbiger Füllung">
            <a:extLst>
              <a:ext uri="{FF2B5EF4-FFF2-40B4-BE49-F238E27FC236}">
                <a16:creationId xmlns:a16="http://schemas.microsoft.com/office/drawing/2014/main" id="{E9C91396-CADD-FBFB-9709-8149220D93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2902" y="3986066"/>
            <a:ext cx="360000" cy="360000"/>
          </a:xfrm>
          <a:prstGeom prst="rect">
            <a:avLst/>
          </a:prstGeom>
        </p:spPr>
      </p:pic>
      <p:pic>
        <p:nvPicPr>
          <p:cNvPr id="48" name="Grafik 47" descr="Mann mit einfarbiger Füllung">
            <a:extLst>
              <a:ext uri="{FF2B5EF4-FFF2-40B4-BE49-F238E27FC236}">
                <a16:creationId xmlns:a16="http://schemas.microsoft.com/office/drawing/2014/main" id="{F64BA17E-D65C-4751-99F6-35A3CCA3CE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686" y="828357"/>
            <a:ext cx="396000" cy="396000"/>
          </a:xfrm>
          <a:prstGeom prst="rect">
            <a:avLst/>
          </a:prstGeom>
        </p:spPr>
      </p:pic>
      <p:pic>
        <p:nvPicPr>
          <p:cNvPr id="49" name="Grafik 48" descr="Frau mit einfarbiger Füllung">
            <a:extLst>
              <a:ext uri="{FF2B5EF4-FFF2-40B4-BE49-F238E27FC236}">
                <a16:creationId xmlns:a16="http://schemas.microsoft.com/office/drawing/2014/main" id="{26EB6725-E535-4D59-902A-C6A8F3CB57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027" y="867040"/>
            <a:ext cx="396000" cy="396000"/>
          </a:xfrm>
          <a:prstGeom prst="rect">
            <a:avLst/>
          </a:prstGeom>
        </p:spPr>
      </p:pic>
      <p:pic>
        <p:nvPicPr>
          <p:cNvPr id="50" name="Grafik 49" descr="Mann mit einfarbiger Füllung">
            <a:extLst>
              <a:ext uri="{FF2B5EF4-FFF2-40B4-BE49-F238E27FC236}">
                <a16:creationId xmlns:a16="http://schemas.microsoft.com/office/drawing/2014/main" id="{E55D09ED-DCF5-4CCC-8CA1-56FB88E688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2857" y="867040"/>
            <a:ext cx="396000" cy="396000"/>
          </a:xfrm>
          <a:prstGeom prst="rect">
            <a:avLst/>
          </a:prstGeom>
        </p:spPr>
      </p:pic>
      <p:pic>
        <p:nvPicPr>
          <p:cNvPr id="51" name="Grafik 50" descr="Frau mit einfarbiger Füllung">
            <a:extLst>
              <a:ext uri="{FF2B5EF4-FFF2-40B4-BE49-F238E27FC236}">
                <a16:creationId xmlns:a16="http://schemas.microsoft.com/office/drawing/2014/main" id="{5BC5ACAB-702C-436B-AAB7-9B03A43C2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2077" y="837544"/>
            <a:ext cx="396000" cy="396000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D7E0FD1F-4A29-4CB1-A439-72FDBF90A8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51595" r="19646"/>
          <a:stretch>
            <a:fillRect/>
          </a:stretch>
        </p:blipFill>
        <p:spPr>
          <a:xfrm>
            <a:off x="930499" y="1322574"/>
            <a:ext cx="4415951" cy="513499"/>
          </a:xfrm>
          <a:prstGeom prst="rect">
            <a:avLst/>
          </a:prstGeom>
        </p:spPr>
      </p:pic>
      <p:pic>
        <p:nvPicPr>
          <p:cNvPr id="53" name="Grafik 52" descr="Mann mit einfarbiger Füllung">
            <a:extLst>
              <a:ext uri="{FF2B5EF4-FFF2-40B4-BE49-F238E27FC236}">
                <a16:creationId xmlns:a16="http://schemas.microsoft.com/office/drawing/2014/main" id="{7B4BEE5A-D962-48E1-9BC0-91259CF633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55681" y="860132"/>
            <a:ext cx="396000" cy="396000"/>
          </a:xfrm>
          <a:prstGeom prst="rect">
            <a:avLst/>
          </a:prstGeom>
        </p:spPr>
      </p:pic>
      <p:pic>
        <p:nvPicPr>
          <p:cNvPr id="54" name="Grafik 53" descr="Frau mit einfarbiger Füllung">
            <a:extLst>
              <a:ext uri="{FF2B5EF4-FFF2-40B4-BE49-F238E27FC236}">
                <a16:creationId xmlns:a16="http://schemas.microsoft.com/office/drawing/2014/main" id="{05895CC8-982A-434C-AE2A-321DD12AD2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50511" y="865030"/>
            <a:ext cx="396000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25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60233-BE62-8D7C-8D2A-41D7E974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E1077600-5D9A-367A-24A5-624D446FFA9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918435F-10DA-0397-B6F8-5A1C45DDECBB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 err="1">
                <a:solidFill>
                  <a:schemeClr val="tx2"/>
                </a:solidFill>
              </a:rPr>
              <a:t>What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would</a:t>
            </a:r>
            <a:r>
              <a:rPr lang="de-DE" dirty="0">
                <a:solidFill>
                  <a:schemeClr val="tx2"/>
                </a:solidFill>
              </a:rPr>
              <a:t> happen WITHOUT gender-</a:t>
            </a:r>
            <a:r>
              <a:rPr lang="de-DE" dirty="0" err="1">
                <a:solidFill>
                  <a:schemeClr val="tx2"/>
                </a:solidFill>
              </a:rPr>
              <a:t>specific</a:t>
            </a:r>
            <a:r>
              <a:rPr lang="de-DE" dirty="0">
                <a:solidFill>
                  <a:schemeClr val="tx2"/>
                </a:solidFill>
              </a:rPr>
              <a:t> </a:t>
            </a:r>
            <a:r>
              <a:rPr lang="de-DE" dirty="0" err="1">
                <a:solidFill>
                  <a:schemeClr val="tx2"/>
                </a:solidFill>
              </a:rPr>
              <a:t>adaptation</a:t>
            </a:r>
            <a:r>
              <a:rPr lang="de-DE" dirty="0">
                <a:solidFill>
                  <a:schemeClr val="tx2"/>
                </a:solidFill>
              </a:rPr>
              <a:t>?</a:t>
            </a:r>
            <a:endParaRPr lang="en-US" dirty="0">
              <a:solidFill>
                <a:schemeClr val="tx2"/>
              </a:solidFill>
            </a:endParaRPr>
          </a:p>
        </p:txBody>
      </p:sp>
      <p:pic>
        <p:nvPicPr>
          <p:cNvPr id="5" name="Grafik 4" descr="Mann mit einfarbiger Füllung">
            <a:extLst>
              <a:ext uri="{FF2B5EF4-FFF2-40B4-BE49-F238E27FC236}">
                <a16:creationId xmlns:a16="http://schemas.microsoft.com/office/drawing/2014/main" id="{FF47B4AF-FD49-FAB6-F279-DDBBB7ECA8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686" y="828357"/>
            <a:ext cx="396000" cy="396000"/>
          </a:xfrm>
          <a:prstGeom prst="rect">
            <a:avLst/>
          </a:prstGeom>
        </p:spPr>
      </p:pic>
      <p:pic>
        <p:nvPicPr>
          <p:cNvPr id="7" name="Grafik 6" descr="Frau mit einfarbiger Füllung">
            <a:extLst>
              <a:ext uri="{FF2B5EF4-FFF2-40B4-BE49-F238E27FC236}">
                <a16:creationId xmlns:a16="http://schemas.microsoft.com/office/drawing/2014/main" id="{BBF469EF-C404-5D4C-2FF7-96A00E7EF1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027" y="867040"/>
            <a:ext cx="396000" cy="396000"/>
          </a:xfrm>
          <a:prstGeom prst="rect">
            <a:avLst/>
          </a:prstGeom>
        </p:spPr>
      </p:pic>
      <p:pic>
        <p:nvPicPr>
          <p:cNvPr id="21" name="Grafik 20" descr="Mann mit einfarbiger Füllung">
            <a:extLst>
              <a:ext uri="{FF2B5EF4-FFF2-40B4-BE49-F238E27FC236}">
                <a16:creationId xmlns:a16="http://schemas.microsoft.com/office/drawing/2014/main" id="{4C88FED6-9E15-0F55-8555-3CCB52B235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02857" y="867040"/>
            <a:ext cx="396000" cy="396000"/>
          </a:xfrm>
          <a:prstGeom prst="rect">
            <a:avLst/>
          </a:prstGeom>
        </p:spPr>
      </p:pic>
      <p:pic>
        <p:nvPicPr>
          <p:cNvPr id="23" name="Grafik 22" descr="Frau mit einfarbiger Füllung">
            <a:extLst>
              <a:ext uri="{FF2B5EF4-FFF2-40B4-BE49-F238E27FC236}">
                <a16:creationId xmlns:a16="http://schemas.microsoft.com/office/drawing/2014/main" id="{629BD940-9DED-1F5F-C4FF-868370DCAC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2077" y="837544"/>
            <a:ext cx="396000" cy="3960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1054626B-F74A-AF8E-5793-C0FE4AFB86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1595" r="19646"/>
          <a:stretch>
            <a:fillRect/>
          </a:stretch>
        </p:blipFill>
        <p:spPr>
          <a:xfrm>
            <a:off x="930499" y="1322574"/>
            <a:ext cx="4415951" cy="513499"/>
          </a:xfrm>
          <a:prstGeom prst="rect">
            <a:avLst/>
          </a:prstGeom>
        </p:spPr>
      </p:pic>
      <p:pic>
        <p:nvPicPr>
          <p:cNvPr id="27" name="Grafik 26" descr="Mann mit einfarbiger Füllung">
            <a:extLst>
              <a:ext uri="{FF2B5EF4-FFF2-40B4-BE49-F238E27FC236}">
                <a16:creationId xmlns:a16="http://schemas.microsoft.com/office/drawing/2014/main" id="{22D3BE9E-94C5-CA3E-1CF6-906CC4B2E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855681" y="860132"/>
            <a:ext cx="396000" cy="396000"/>
          </a:xfrm>
          <a:prstGeom prst="rect">
            <a:avLst/>
          </a:prstGeom>
        </p:spPr>
      </p:pic>
      <p:pic>
        <p:nvPicPr>
          <p:cNvPr id="29" name="Grafik 28" descr="Frau mit einfarbiger Füllung">
            <a:extLst>
              <a:ext uri="{FF2B5EF4-FFF2-40B4-BE49-F238E27FC236}">
                <a16:creationId xmlns:a16="http://schemas.microsoft.com/office/drawing/2014/main" id="{424C5B80-B117-A53F-75A1-1692DAD4EB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50511" y="865030"/>
            <a:ext cx="396000" cy="396000"/>
          </a:xfrm>
          <a:prstGeom prst="rect">
            <a:avLst/>
          </a:prstGeom>
        </p:spPr>
      </p:pic>
      <p:sp>
        <p:nvSpPr>
          <p:cNvPr id="31" name="Rechteck 30">
            <a:extLst>
              <a:ext uri="{FF2B5EF4-FFF2-40B4-BE49-F238E27FC236}">
                <a16:creationId xmlns:a16="http://schemas.microsoft.com/office/drawing/2014/main" id="{34546F76-8967-2174-F433-405437DAA71D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11EAA4A-9EAB-F161-C493-61380366049E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D894853C-7B91-71EA-4717-7915FAA2F0BA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7393C879-DCFF-4ADB-7D1C-64F8039EE8D6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F0EBF879-5EFC-0E0F-7C1B-2154ED9BF9C4}"/>
              </a:ext>
            </a:extLst>
          </p:cNvPr>
          <p:cNvSpPr txBox="1"/>
          <p:nvPr/>
        </p:nvSpPr>
        <p:spPr>
          <a:xfrm>
            <a:off x="5167290" y="2795937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 would cancel each other out</a:t>
            </a: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06AABFD2-170D-5C3E-354E-AF13DFBC1F9B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F7061B5E-9473-6855-CC2F-5E5403A54F18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B185618C-1040-3041-426A-3FB804DB7A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BB90A3E8-3F8E-A4CE-5ED9-D0B52E3E20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E57FE4B1-78FA-936D-212B-A464A82B7D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9429AFE8-166D-62C0-2532-E6449EA8AD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7E06A566-31F5-F236-C73C-789312A5B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F9438402-0702-74B4-B24F-57E8CF673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FC3C8319-84D4-FE46-F03A-9DB09D9D41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E497946C-F564-AD41-E7DE-88949C0A8E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E4984835-3BF9-2508-53F3-9024DF980D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033542CC-0AE8-4321-13AC-1504916B7C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E506B851-A138-2230-0E4F-AC8A56D189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A0EFE5B6-2BC0-B892-A9B3-B47F60559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0FC21C8E-350C-0A34-60AD-8B017570D4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A431498A-51D3-D158-29B2-98297BF7F8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A0B73704-4AF9-2E54-BCBB-E20181FA20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E10A37E6-C5CD-0E40-54FC-B6ACCCEB9D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A3EB8141-C88D-AA7E-D4F5-26EBBFAFCC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73C5452C-7605-0B26-9744-3195603F88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F30EF3A8-FED9-E9E0-2AA7-17B9F925B79B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4C31F7EA-FBAB-3E64-DCC9-ECE4A34EE7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B15A5620-7BF2-1B2B-532E-7D3D20528F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38DAF6C2-616A-E997-6A5F-AB3565B92F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9EE02E54-5130-139B-16AF-64C1366CF4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C73A001D-46B7-95F8-38FF-AF027D62F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DE9DE8A4-738D-28B9-6C6E-1A0595F4B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588F9F83-3C6E-6DC7-F061-55A03F38718E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7" name="Grafik 116" descr="Frau mit einfarbiger Füllung">
            <a:extLst>
              <a:ext uri="{FF2B5EF4-FFF2-40B4-BE49-F238E27FC236}">
                <a16:creationId xmlns:a16="http://schemas.microsoft.com/office/drawing/2014/main" id="{2C908C0D-4242-37B1-25D0-3BFF1E0DA5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43139" y="2817697"/>
            <a:ext cx="360000" cy="360000"/>
          </a:xfrm>
          <a:prstGeom prst="rect">
            <a:avLst/>
          </a:prstGeom>
        </p:spPr>
      </p:pic>
      <p:pic>
        <p:nvPicPr>
          <p:cNvPr id="119" name="Grafik 118" descr="Mann mit einfarbiger Füllung">
            <a:extLst>
              <a:ext uri="{FF2B5EF4-FFF2-40B4-BE49-F238E27FC236}">
                <a16:creationId xmlns:a16="http://schemas.microsoft.com/office/drawing/2014/main" id="{D7A9DD0F-7B1D-0FFD-F404-94BE367F4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3139" y="2330024"/>
            <a:ext cx="360000" cy="360000"/>
          </a:xfrm>
          <a:prstGeom prst="rect">
            <a:avLst/>
          </a:prstGeom>
        </p:spPr>
      </p:pic>
      <p:pic>
        <p:nvPicPr>
          <p:cNvPr id="121" name="Grafik 120" descr="Mann mit einfarbiger Füllung">
            <a:extLst>
              <a:ext uri="{FF2B5EF4-FFF2-40B4-BE49-F238E27FC236}">
                <a16:creationId xmlns:a16="http://schemas.microsoft.com/office/drawing/2014/main" id="{E1361938-D32B-0304-4CEA-4FE6D76724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34426" y="3569571"/>
            <a:ext cx="360000" cy="360000"/>
          </a:xfrm>
          <a:prstGeom prst="rect">
            <a:avLst/>
          </a:prstGeom>
        </p:spPr>
      </p:pic>
      <p:pic>
        <p:nvPicPr>
          <p:cNvPr id="123" name="Grafik 122" descr="Frau mit einfarbiger Füllung">
            <a:extLst>
              <a:ext uri="{FF2B5EF4-FFF2-40B4-BE49-F238E27FC236}">
                <a16:creationId xmlns:a16="http://schemas.microsoft.com/office/drawing/2014/main" id="{2768CBA3-9ACF-F9AC-C25D-7794581B6F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22902" y="3986066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96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C7480-F8C4-C05A-DCB8-865648C4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F666974-6FD9-CE24-1C62-4A4FD60C73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A51DEF-1EC1-7FC5-1F5F-ADDCDD7A5F6C}"/>
              </a:ext>
            </a:extLst>
          </p:cNvPr>
          <p:cNvSpPr txBox="1"/>
          <p:nvPr/>
        </p:nvSpPr>
        <p:spPr>
          <a:xfrm>
            <a:off x="910861" y="1026269"/>
            <a:ext cx="5036278" cy="21651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</a:t>
            </a:r>
            <a:r>
              <a:rPr lang="en-US" sz="1600" i="1" dirty="0"/>
              <a:t>fine-tuned</a:t>
            </a:r>
            <a:r>
              <a:rPr lang="en-US" sz="1600" i="1" dirty="0">
                <a:solidFill>
                  <a:schemeClr val="tx2"/>
                </a:solidFill>
              </a:rPr>
              <a:t> </a:t>
            </a:r>
            <a:r>
              <a:rPr lang="en-US" sz="1600" dirty="0">
                <a:solidFill>
                  <a:schemeClr val="tx2"/>
                </a:solidFill>
              </a:rPr>
              <a:t>to characteristics of </a:t>
            </a:r>
            <a:br>
              <a:rPr lang="en-US" sz="1600" dirty="0">
                <a:solidFill>
                  <a:schemeClr val="tx2"/>
                </a:solidFill>
              </a:rPr>
            </a:br>
            <a:r>
              <a:rPr lang="en-US" sz="1600" dirty="0">
                <a:solidFill>
                  <a:schemeClr val="tx2"/>
                </a:solidFill>
              </a:rPr>
              <a:t>the </a:t>
            </a:r>
            <a:r>
              <a:rPr lang="en-US" sz="1600" b="1" dirty="0">
                <a:solidFill>
                  <a:schemeClr val="tx2"/>
                </a:solidFill>
              </a:rPr>
              <a:t>speaker </a:t>
            </a:r>
            <a:r>
              <a:rPr lang="en-US" sz="1600" dirty="0">
                <a:solidFill>
                  <a:schemeClr val="tx2"/>
                </a:solidFill>
              </a:rPr>
              <a:t>and the </a:t>
            </a:r>
            <a:r>
              <a:rPr lang="en-US" sz="1600" b="1" dirty="0">
                <a:solidFill>
                  <a:schemeClr val="tx2"/>
                </a:solidFill>
              </a:rPr>
              <a:t>speech</a:t>
            </a:r>
            <a:r>
              <a:rPr lang="en-US" sz="1600" dirty="0">
                <a:solidFill>
                  <a:schemeClr val="tx2"/>
                </a:solidFill>
              </a:rPr>
              <a:t>?</a:t>
            </a:r>
          </a:p>
          <a:p>
            <a:pPr algn="ctr"/>
            <a:r>
              <a:rPr lang="en-US" sz="2800" dirty="0"/>
              <a:t>=</a:t>
            </a:r>
          </a:p>
          <a:p>
            <a:pPr algn="ctr"/>
            <a:r>
              <a:rPr lang="en-US" dirty="0"/>
              <a:t> </a:t>
            </a:r>
            <a:r>
              <a:rPr lang="en-US" sz="1600" dirty="0"/>
              <a:t>Is vocal emotional processing </a:t>
            </a:r>
            <a:r>
              <a:rPr lang="en-US" sz="1600" i="1" dirty="0"/>
              <a:t>fine-tuned</a:t>
            </a:r>
            <a:r>
              <a:rPr lang="en-US" sz="1600" dirty="0"/>
              <a:t> to </a:t>
            </a:r>
            <a:r>
              <a:rPr lang="en-US" sz="1600" b="1" dirty="0">
                <a:solidFill>
                  <a:srgbClr val="C00000"/>
                </a:solidFill>
              </a:rPr>
              <a:t>speaker gender</a:t>
            </a:r>
            <a:r>
              <a:rPr lang="en-US" sz="1600" dirty="0">
                <a:solidFill>
                  <a:srgbClr val="C00000"/>
                </a:solidFill>
              </a:rPr>
              <a:t>, </a:t>
            </a:r>
            <a:r>
              <a:rPr lang="en-US" sz="1600" b="1" dirty="0">
                <a:solidFill>
                  <a:srgbClr val="C00000"/>
                </a:solidFill>
              </a:rPr>
              <a:t>identity</a:t>
            </a:r>
            <a:r>
              <a:rPr lang="en-US" sz="1600" dirty="0"/>
              <a:t> and </a:t>
            </a:r>
            <a:r>
              <a:rPr lang="en-US" sz="1600" b="1" dirty="0">
                <a:solidFill>
                  <a:srgbClr val="C00000"/>
                </a:solidFill>
              </a:rPr>
              <a:t>phonetic content</a:t>
            </a:r>
            <a:r>
              <a:rPr lang="en-US" sz="1600" dirty="0"/>
              <a:t>? </a:t>
            </a:r>
          </a:p>
          <a:p>
            <a:pPr algn="ctr"/>
            <a:r>
              <a:rPr lang="en-US" sz="2800" dirty="0"/>
              <a:t>=</a:t>
            </a:r>
            <a:endParaRPr lang="en-US" dirty="0"/>
          </a:p>
          <a:p>
            <a:pPr algn="ctr"/>
            <a:r>
              <a:rPr lang="en-US" dirty="0"/>
              <a:t> </a:t>
            </a:r>
            <a:r>
              <a:rPr lang="en-US" sz="1600" dirty="0"/>
              <a:t>Do we see evidence for </a:t>
            </a:r>
            <a:r>
              <a:rPr lang="en-US" sz="1600" b="1" dirty="0"/>
              <a:t>simultaneous opposite adaptation</a:t>
            </a:r>
            <a:r>
              <a:rPr lang="en-US" sz="1600" dirty="0"/>
              <a:t>?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542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A4CBE88-6C5D-4FB8-9316-1A0A18DD7B01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70E09D2C-C786-4D3D-AE1C-60DC3C27C6C6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20E3E13-13C9-495D-96B2-A3F572E3E987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A0E1A2DF-780F-40D4-A737-271F6301F70F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A31A2EC2-51BE-4D9E-87A2-4CBA48732A40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en-US" sz="1200" b="1" noProof="0" dirty="0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55D0FB8-6A60-4747-85F3-E73A2842ED05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F6C7DD90-91A1-4011-9A7A-51E6903EE53B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557CBFF-5293-4247-AD94-81F51117B17C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D7097F5-B189-80F7-ED68-D01176539E6D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6AA42C-EDAC-7243-2750-6ED4437FBD44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0A100C42-C8CB-128B-6EB2-E608FE4F3BD6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E663DEBB-6C47-40EC-E6A1-90EBE5629E98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4DCCBABE-EBA4-301D-0536-FEC3D420EF7D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</p:spTree>
    <p:extLst>
      <p:ext uri="{BB962C8B-B14F-4D97-AF65-F5344CB8AC3E}">
        <p14:creationId xmlns:p14="http://schemas.microsoft.com/office/powerpoint/2010/main" val="20140462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D3D9EC9-4FA3-43F8-8E13-AA007EB8A74F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7E2A05C0-8925-4517-918F-A77612754D04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9F15947-D0F7-4D11-A2DA-21A11CD07B4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1: Speaker Gender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4795719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6D11335-F57A-4960-9D91-22D011F9DFB3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2BBF6CAB-08B8-4314-A619-0377B3868FF0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1: Design</a:t>
            </a:r>
            <a:endParaRPr lang="de-DE" sz="1500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1D5E485-21B8-0C62-48E9-C6B56B4F6A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34415" y="307554"/>
            <a:ext cx="3166398" cy="727356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0C902F8-F9D0-C041-F92F-8D58BD312C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568" y="1334901"/>
            <a:ext cx="4036960" cy="940548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576CC9A9-5870-9010-C134-EFB361AC97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12916" y="1350964"/>
            <a:ext cx="2159120" cy="184897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458BA3B0-EF60-8DEB-D780-64B6D31CCB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0568" y="2496261"/>
            <a:ext cx="2154520" cy="181243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AE47E0E0-D16A-5109-0CB7-8FF89F3F2F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552860" y="3141790"/>
            <a:ext cx="4019176" cy="11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7866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B1ED1-3668-896C-8659-AC6631A3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54949A95-6AAA-5264-7C1A-79F022EAB83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F9DCBC8-EB8D-2570-8381-0892518B083E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1: Design</a:t>
            </a:r>
            <a:endParaRPr lang="de-DE" dirty="0"/>
          </a:p>
        </p:txBody>
      </p:sp>
      <p:pic>
        <p:nvPicPr>
          <p:cNvPr id="5" name="Grafik 4" descr="Mann mit einfarbiger Füllung">
            <a:extLst>
              <a:ext uri="{FF2B5EF4-FFF2-40B4-BE49-F238E27FC236}">
                <a16:creationId xmlns:a16="http://schemas.microsoft.com/office/drawing/2014/main" id="{33E590BE-4BA5-866F-A81F-C03645BB71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1797" y="842153"/>
            <a:ext cx="495915" cy="495915"/>
          </a:xfrm>
          <a:prstGeom prst="rect">
            <a:avLst/>
          </a:prstGeom>
        </p:spPr>
      </p:pic>
      <p:pic>
        <p:nvPicPr>
          <p:cNvPr id="7" name="Grafik 6" descr="Frau mit einfarbiger Füllung">
            <a:extLst>
              <a:ext uri="{FF2B5EF4-FFF2-40B4-BE49-F238E27FC236}">
                <a16:creationId xmlns:a16="http://schemas.microsoft.com/office/drawing/2014/main" id="{BFA20C03-7919-9802-0C7D-2276B1BB7B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027" y="867040"/>
            <a:ext cx="495915" cy="495915"/>
          </a:xfrm>
          <a:prstGeom prst="rect">
            <a:avLst/>
          </a:prstGeom>
        </p:spPr>
      </p:pic>
      <p:pic>
        <p:nvPicPr>
          <p:cNvPr id="21" name="Grafik 20" descr="Mann mit einfarbiger Füllung">
            <a:extLst>
              <a:ext uri="{FF2B5EF4-FFF2-40B4-BE49-F238E27FC236}">
                <a16:creationId xmlns:a16="http://schemas.microsoft.com/office/drawing/2014/main" id="{9C83DA4F-6FE9-5EFC-559A-E1F050B193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13747" y="849527"/>
            <a:ext cx="495915" cy="495915"/>
          </a:xfrm>
          <a:prstGeom prst="rect">
            <a:avLst/>
          </a:prstGeom>
        </p:spPr>
      </p:pic>
      <p:pic>
        <p:nvPicPr>
          <p:cNvPr id="23" name="Grafik 22" descr="Frau mit einfarbiger Füllung">
            <a:extLst>
              <a:ext uri="{FF2B5EF4-FFF2-40B4-BE49-F238E27FC236}">
                <a16:creationId xmlns:a16="http://schemas.microsoft.com/office/drawing/2014/main" id="{58B05ADF-7E12-2775-2149-DCFE0A1BE1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2077" y="837544"/>
            <a:ext cx="495915" cy="495915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4B78B739-EE4D-F0C7-E3B2-FC2F6CE2B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1595" r="19646"/>
          <a:stretch>
            <a:fillRect/>
          </a:stretch>
        </p:blipFill>
        <p:spPr>
          <a:xfrm>
            <a:off x="967531" y="1424192"/>
            <a:ext cx="4415951" cy="513499"/>
          </a:xfrm>
          <a:prstGeom prst="rect">
            <a:avLst/>
          </a:prstGeom>
        </p:spPr>
      </p:pic>
      <p:pic>
        <p:nvPicPr>
          <p:cNvPr id="27" name="Grafik 26" descr="Mann mit einfarbiger Füllung">
            <a:extLst>
              <a:ext uri="{FF2B5EF4-FFF2-40B4-BE49-F238E27FC236}">
                <a16:creationId xmlns:a16="http://schemas.microsoft.com/office/drawing/2014/main" id="{A4310794-F0F9-92C4-5CC2-D44BC01E84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89683" y="923668"/>
            <a:ext cx="495915" cy="495915"/>
          </a:xfrm>
          <a:prstGeom prst="rect">
            <a:avLst/>
          </a:prstGeom>
        </p:spPr>
      </p:pic>
      <p:pic>
        <p:nvPicPr>
          <p:cNvPr id="29" name="Grafik 28" descr="Frau mit einfarbiger Füllung">
            <a:extLst>
              <a:ext uri="{FF2B5EF4-FFF2-40B4-BE49-F238E27FC236}">
                <a16:creationId xmlns:a16="http://schemas.microsoft.com/office/drawing/2014/main" id="{DB84EA88-629D-DA42-E02A-0F23F7FD01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79963" y="919059"/>
            <a:ext cx="495915" cy="495915"/>
          </a:xfrm>
          <a:prstGeom prst="rect">
            <a:avLst/>
          </a:prstGeom>
        </p:spPr>
      </p:pic>
      <p:sp>
        <p:nvSpPr>
          <p:cNvPr id="31" name="Rechteck 30">
            <a:extLst>
              <a:ext uri="{FF2B5EF4-FFF2-40B4-BE49-F238E27FC236}">
                <a16:creationId xmlns:a16="http://schemas.microsoft.com/office/drawing/2014/main" id="{0A64685D-1606-8C27-FC03-614B22D48E8D}"/>
              </a:ext>
            </a:extLst>
          </p:cNvPr>
          <p:cNvSpPr/>
          <p:nvPr/>
        </p:nvSpPr>
        <p:spPr>
          <a:xfrm>
            <a:off x="2855681" y="3309312"/>
            <a:ext cx="1420755" cy="1088219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5405B7D9-1103-2953-A5E2-8ADFF10A71A2}"/>
              </a:ext>
            </a:extLst>
          </p:cNvPr>
          <p:cNvSpPr/>
          <p:nvPr/>
        </p:nvSpPr>
        <p:spPr>
          <a:xfrm>
            <a:off x="2841529" y="2115818"/>
            <a:ext cx="1420755" cy="1089992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Response Phase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287AAA9-32CC-9E7F-03B7-90F1A7B7430C}"/>
              </a:ext>
            </a:extLst>
          </p:cNvPr>
          <p:cNvSpPr/>
          <p:nvPr/>
        </p:nvSpPr>
        <p:spPr>
          <a:xfrm>
            <a:off x="403420" y="3309313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2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985EB018-82DF-3B0E-9AAA-CC2AF9FBE4B8}"/>
              </a:ext>
            </a:extLst>
          </p:cNvPr>
          <p:cNvSpPr/>
          <p:nvPr/>
        </p:nvSpPr>
        <p:spPr>
          <a:xfrm>
            <a:off x="403420" y="2117590"/>
            <a:ext cx="2094271" cy="1088220"/>
          </a:xfrm>
          <a:prstGeom prst="rect">
            <a:avLst/>
          </a:prstGeom>
          <a:solidFill>
            <a:schemeClr val="accent6">
              <a:lumMod val="9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de-DE" sz="1400" dirty="0">
                <a:solidFill>
                  <a:schemeClr val="bg1">
                    <a:lumMod val="50000"/>
                  </a:schemeClr>
                </a:solidFill>
              </a:rPr>
              <a:t>Adaptation Block 1</a:t>
            </a:r>
            <a:endParaRPr 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1" name="Pfeil: nach rechts 60">
            <a:extLst>
              <a:ext uri="{FF2B5EF4-FFF2-40B4-BE49-F238E27FC236}">
                <a16:creationId xmlns:a16="http://schemas.microsoft.com/office/drawing/2014/main" id="{9B0A8021-D671-24FA-58D0-10F3CA98D0B3}"/>
              </a:ext>
            </a:extLst>
          </p:cNvPr>
          <p:cNvSpPr/>
          <p:nvPr/>
        </p:nvSpPr>
        <p:spPr>
          <a:xfrm>
            <a:off x="4377977" y="2923029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feil: nach rechts 62">
            <a:extLst>
              <a:ext uri="{FF2B5EF4-FFF2-40B4-BE49-F238E27FC236}">
                <a16:creationId xmlns:a16="http://schemas.microsoft.com/office/drawing/2014/main" id="{7CC68526-3578-A8C6-4B99-1383140D0D4F}"/>
              </a:ext>
            </a:extLst>
          </p:cNvPr>
          <p:cNvSpPr/>
          <p:nvPr/>
        </p:nvSpPr>
        <p:spPr>
          <a:xfrm>
            <a:off x="4354480" y="3688206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5" name="Grafik 64" descr="Mann mit einfarbiger Füllung">
            <a:extLst>
              <a:ext uri="{FF2B5EF4-FFF2-40B4-BE49-F238E27FC236}">
                <a16:creationId xmlns:a16="http://schemas.microsoft.com/office/drawing/2014/main" id="{C45B02BE-A828-2AEB-3105-DE9CABE7D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839" y="2362804"/>
            <a:ext cx="360000" cy="360000"/>
          </a:xfrm>
          <a:prstGeom prst="rect">
            <a:avLst/>
          </a:prstGeom>
        </p:spPr>
      </p:pic>
      <p:pic>
        <p:nvPicPr>
          <p:cNvPr id="67" name="Grafik 66" descr="Mann mit einfarbiger Füllung">
            <a:extLst>
              <a:ext uri="{FF2B5EF4-FFF2-40B4-BE49-F238E27FC236}">
                <a16:creationId xmlns:a16="http://schemas.microsoft.com/office/drawing/2014/main" id="{7D502FD2-06E7-745A-7C3E-C9DF08C509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5665" y="2403049"/>
            <a:ext cx="360000" cy="360000"/>
          </a:xfrm>
          <a:prstGeom prst="rect">
            <a:avLst/>
          </a:prstGeom>
        </p:spPr>
      </p:pic>
      <p:pic>
        <p:nvPicPr>
          <p:cNvPr id="69" name="Grafik 68" descr="Mann mit einfarbiger Füllung">
            <a:extLst>
              <a:ext uri="{FF2B5EF4-FFF2-40B4-BE49-F238E27FC236}">
                <a16:creationId xmlns:a16="http://schemas.microsoft.com/office/drawing/2014/main" id="{18850D72-F951-E13F-78CD-A4382C7E37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8482" y="2368335"/>
            <a:ext cx="360000" cy="360000"/>
          </a:xfrm>
          <a:prstGeom prst="rect">
            <a:avLst/>
          </a:prstGeom>
        </p:spPr>
      </p:pic>
      <p:pic>
        <p:nvPicPr>
          <p:cNvPr id="71" name="Grafik 70" descr="Frau mit einfarbiger Füllung">
            <a:extLst>
              <a:ext uri="{FF2B5EF4-FFF2-40B4-BE49-F238E27FC236}">
                <a16:creationId xmlns:a16="http://schemas.microsoft.com/office/drawing/2014/main" id="{2CE2D5C9-D9C2-1864-89A7-B513A6AA64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1797" y="2710219"/>
            <a:ext cx="360000" cy="360000"/>
          </a:xfrm>
          <a:prstGeom prst="rect">
            <a:avLst/>
          </a:prstGeom>
        </p:spPr>
      </p:pic>
      <p:pic>
        <p:nvPicPr>
          <p:cNvPr id="73" name="Grafik 72" descr="Frau mit einfarbiger Füllung">
            <a:extLst>
              <a:ext uri="{FF2B5EF4-FFF2-40B4-BE49-F238E27FC236}">
                <a16:creationId xmlns:a16="http://schemas.microsoft.com/office/drawing/2014/main" id="{DA5C0B28-020A-C760-F121-EF8D47CA72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9996" y="2624997"/>
            <a:ext cx="360000" cy="360000"/>
          </a:xfrm>
          <a:prstGeom prst="rect">
            <a:avLst/>
          </a:prstGeom>
        </p:spPr>
      </p:pic>
      <p:pic>
        <p:nvPicPr>
          <p:cNvPr id="75" name="Grafik 74" descr="Frau mit einfarbiger Füllung">
            <a:extLst>
              <a:ext uri="{FF2B5EF4-FFF2-40B4-BE49-F238E27FC236}">
                <a16:creationId xmlns:a16="http://schemas.microsoft.com/office/drawing/2014/main" id="{83935ECD-6558-97E4-5031-1147651A77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6494" y="2671590"/>
            <a:ext cx="360000" cy="360000"/>
          </a:xfrm>
          <a:prstGeom prst="rect">
            <a:avLst/>
          </a:prstGeom>
        </p:spPr>
      </p:pic>
      <p:pic>
        <p:nvPicPr>
          <p:cNvPr id="77" name="Grafik 76" descr="Frau mit einfarbiger Füllung">
            <a:extLst>
              <a:ext uri="{FF2B5EF4-FFF2-40B4-BE49-F238E27FC236}">
                <a16:creationId xmlns:a16="http://schemas.microsoft.com/office/drawing/2014/main" id="{5FBBFEEE-34C5-F8C9-65F8-55A69DA0B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420" y="3813476"/>
            <a:ext cx="360000" cy="360000"/>
          </a:xfrm>
          <a:prstGeom prst="rect">
            <a:avLst/>
          </a:prstGeom>
        </p:spPr>
      </p:pic>
      <p:pic>
        <p:nvPicPr>
          <p:cNvPr id="79" name="Grafik 78" descr="Frau mit einfarbiger Füllung">
            <a:extLst>
              <a:ext uri="{FF2B5EF4-FFF2-40B4-BE49-F238E27FC236}">
                <a16:creationId xmlns:a16="http://schemas.microsoft.com/office/drawing/2014/main" id="{0CB58F0B-AED0-CE3F-A5AD-F2F84F5067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976274" y="3468669"/>
            <a:ext cx="360000" cy="360000"/>
          </a:xfrm>
          <a:prstGeom prst="rect">
            <a:avLst/>
          </a:prstGeom>
        </p:spPr>
      </p:pic>
      <p:pic>
        <p:nvPicPr>
          <p:cNvPr id="81" name="Grafik 80" descr="Frau mit einfarbiger Füllung">
            <a:extLst>
              <a:ext uri="{FF2B5EF4-FFF2-40B4-BE49-F238E27FC236}">
                <a16:creationId xmlns:a16="http://schemas.microsoft.com/office/drawing/2014/main" id="{205F967F-7293-FCA1-D31E-379059A208F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5964" y="3902008"/>
            <a:ext cx="360000" cy="360000"/>
          </a:xfrm>
          <a:prstGeom prst="rect">
            <a:avLst/>
          </a:prstGeom>
        </p:spPr>
      </p:pic>
      <p:pic>
        <p:nvPicPr>
          <p:cNvPr id="83" name="Grafik 82" descr="Mann mit einfarbiger Füllung">
            <a:extLst>
              <a:ext uri="{FF2B5EF4-FFF2-40B4-BE49-F238E27FC236}">
                <a16:creationId xmlns:a16="http://schemas.microsoft.com/office/drawing/2014/main" id="{16A56CC0-202E-3164-9945-A47BABAA3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410" y="3662914"/>
            <a:ext cx="360000" cy="360000"/>
          </a:xfrm>
          <a:prstGeom prst="rect">
            <a:avLst/>
          </a:prstGeom>
        </p:spPr>
      </p:pic>
      <p:pic>
        <p:nvPicPr>
          <p:cNvPr id="85" name="Grafik 84" descr="Mann mit einfarbiger Füllung">
            <a:extLst>
              <a:ext uri="{FF2B5EF4-FFF2-40B4-BE49-F238E27FC236}">
                <a16:creationId xmlns:a16="http://schemas.microsoft.com/office/drawing/2014/main" id="{F3960435-B98D-D3ED-22DC-4E1442E2B0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48991" y="3853420"/>
            <a:ext cx="374777" cy="374777"/>
          </a:xfrm>
          <a:prstGeom prst="rect">
            <a:avLst/>
          </a:prstGeom>
        </p:spPr>
      </p:pic>
      <p:pic>
        <p:nvPicPr>
          <p:cNvPr id="87" name="Grafik 86" descr="Mann mit einfarbiger Füllung">
            <a:extLst>
              <a:ext uri="{FF2B5EF4-FFF2-40B4-BE49-F238E27FC236}">
                <a16:creationId xmlns:a16="http://schemas.microsoft.com/office/drawing/2014/main" id="{6EEFFCCC-F47E-BCED-2146-33B9E63D1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66579" y="3572172"/>
            <a:ext cx="360000" cy="360000"/>
          </a:xfrm>
          <a:prstGeom prst="rect">
            <a:avLst/>
          </a:prstGeom>
        </p:spPr>
      </p:pic>
      <p:pic>
        <p:nvPicPr>
          <p:cNvPr id="89" name="Grafik 88" descr="Mann mit einfarbiger Füllung">
            <a:extLst>
              <a:ext uri="{FF2B5EF4-FFF2-40B4-BE49-F238E27FC236}">
                <a16:creationId xmlns:a16="http://schemas.microsoft.com/office/drawing/2014/main" id="{FDEFBF43-C68A-DDD1-15B6-7F8E94973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95878" y="2391750"/>
            <a:ext cx="360000" cy="360000"/>
          </a:xfrm>
          <a:prstGeom prst="rect">
            <a:avLst/>
          </a:prstGeom>
        </p:spPr>
      </p:pic>
      <p:pic>
        <p:nvPicPr>
          <p:cNvPr id="91" name="Grafik 90" descr="Frau mit einfarbiger Füllung">
            <a:extLst>
              <a:ext uri="{FF2B5EF4-FFF2-40B4-BE49-F238E27FC236}">
                <a16:creationId xmlns:a16="http://schemas.microsoft.com/office/drawing/2014/main" id="{0371E464-0E00-1E5E-818C-048044C838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1065" y="2800513"/>
            <a:ext cx="360000" cy="360000"/>
          </a:xfrm>
          <a:prstGeom prst="rect">
            <a:avLst/>
          </a:prstGeom>
        </p:spPr>
      </p:pic>
      <p:pic>
        <p:nvPicPr>
          <p:cNvPr id="93" name="Grafik 92" descr="Mann mit einfarbiger Füllung">
            <a:extLst>
              <a:ext uri="{FF2B5EF4-FFF2-40B4-BE49-F238E27FC236}">
                <a16:creationId xmlns:a16="http://schemas.microsoft.com/office/drawing/2014/main" id="{E6E39752-2CC3-61CE-98F9-C92EC9DAB6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86511" y="2391750"/>
            <a:ext cx="360000" cy="360000"/>
          </a:xfrm>
          <a:prstGeom prst="rect">
            <a:avLst/>
          </a:prstGeom>
        </p:spPr>
      </p:pic>
      <p:pic>
        <p:nvPicPr>
          <p:cNvPr id="95" name="Grafik 94" descr="Mann mit einfarbiger Füllung">
            <a:extLst>
              <a:ext uri="{FF2B5EF4-FFF2-40B4-BE49-F238E27FC236}">
                <a16:creationId xmlns:a16="http://schemas.microsoft.com/office/drawing/2014/main" id="{8F88D102-7CE2-0248-8448-BC573AFB7E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32383" y="2397439"/>
            <a:ext cx="360000" cy="360000"/>
          </a:xfrm>
          <a:prstGeom prst="rect">
            <a:avLst/>
          </a:prstGeom>
        </p:spPr>
      </p:pic>
      <p:pic>
        <p:nvPicPr>
          <p:cNvPr id="97" name="Grafik 96" descr="Frau mit einfarbiger Füllung">
            <a:extLst>
              <a:ext uri="{FF2B5EF4-FFF2-40B4-BE49-F238E27FC236}">
                <a16:creationId xmlns:a16="http://schemas.microsoft.com/office/drawing/2014/main" id="{4FF5ABFC-31E3-AB6F-C21C-0F9930F35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86511" y="2794824"/>
            <a:ext cx="360000" cy="360000"/>
          </a:xfrm>
          <a:prstGeom prst="rect">
            <a:avLst/>
          </a:prstGeom>
        </p:spPr>
      </p:pic>
      <p:pic>
        <p:nvPicPr>
          <p:cNvPr id="99" name="Grafik 98" descr="Frau mit einfarbiger Füllung">
            <a:extLst>
              <a:ext uri="{FF2B5EF4-FFF2-40B4-BE49-F238E27FC236}">
                <a16:creationId xmlns:a16="http://schemas.microsoft.com/office/drawing/2014/main" id="{CD18270F-42E6-F381-5929-C0D7E5E8C5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32383" y="2806975"/>
            <a:ext cx="360000" cy="360000"/>
          </a:xfrm>
          <a:prstGeom prst="rect">
            <a:avLst/>
          </a:prstGeom>
        </p:spPr>
      </p:pic>
      <p:sp>
        <p:nvSpPr>
          <p:cNvPr id="101" name="Pfeil: nach rechts 100">
            <a:extLst>
              <a:ext uri="{FF2B5EF4-FFF2-40B4-BE49-F238E27FC236}">
                <a16:creationId xmlns:a16="http://schemas.microsoft.com/office/drawing/2014/main" id="{A382DCF2-3420-C194-1198-C09EB0D37FCA}"/>
              </a:ext>
            </a:extLst>
          </p:cNvPr>
          <p:cNvSpPr/>
          <p:nvPr/>
        </p:nvSpPr>
        <p:spPr>
          <a:xfrm>
            <a:off x="4347404" y="2479864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" name="Grafik 102" descr="Mann mit einfarbiger Füllung">
            <a:extLst>
              <a:ext uri="{FF2B5EF4-FFF2-40B4-BE49-F238E27FC236}">
                <a16:creationId xmlns:a16="http://schemas.microsoft.com/office/drawing/2014/main" id="{33F3FB75-B0D4-AA9C-21F1-8801467685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86960" y="3570841"/>
            <a:ext cx="360000" cy="360000"/>
          </a:xfrm>
          <a:prstGeom prst="rect">
            <a:avLst/>
          </a:prstGeom>
        </p:spPr>
      </p:pic>
      <p:pic>
        <p:nvPicPr>
          <p:cNvPr id="105" name="Grafik 104" descr="Frau mit einfarbiger Füllung">
            <a:extLst>
              <a:ext uri="{FF2B5EF4-FFF2-40B4-BE49-F238E27FC236}">
                <a16:creationId xmlns:a16="http://schemas.microsoft.com/office/drawing/2014/main" id="{4AB9D87A-14FF-273C-CE80-7F36476A7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82147" y="3979604"/>
            <a:ext cx="360000" cy="360000"/>
          </a:xfrm>
          <a:prstGeom prst="rect">
            <a:avLst/>
          </a:prstGeom>
        </p:spPr>
      </p:pic>
      <p:pic>
        <p:nvPicPr>
          <p:cNvPr id="107" name="Grafik 106" descr="Mann mit einfarbiger Füllung">
            <a:extLst>
              <a:ext uri="{FF2B5EF4-FFF2-40B4-BE49-F238E27FC236}">
                <a16:creationId xmlns:a16="http://schemas.microsoft.com/office/drawing/2014/main" id="{398E0DB2-D399-A8FF-B7CE-4F79EC43A3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77593" y="3570841"/>
            <a:ext cx="360000" cy="360000"/>
          </a:xfrm>
          <a:prstGeom prst="rect">
            <a:avLst/>
          </a:prstGeom>
        </p:spPr>
      </p:pic>
      <p:pic>
        <p:nvPicPr>
          <p:cNvPr id="109" name="Grafik 108" descr="Mann mit einfarbiger Füllung">
            <a:extLst>
              <a:ext uri="{FF2B5EF4-FFF2-40B4-BE49-F238E27FC236}">
                <a16:creationId xmlns:a16="http://schemas.microsoft.com/office/drawing/2014/main" id="{C644A6FF-0BEC-28CC-2AF2-A7D291EFB6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23465" y="3576530"/>
            <a:ext cx="360000" cy="360000"/>
          </a:xfrm>
          <a:prstGeom prst="rect">
            <a:avLst/>
          </a:prstGeom>
        </p:spPr>
      </p:pic>
      <p:pic>
        <p:nvPicPr>
          <p:cNvPr id="111" name="Grafik 110" descr="Frau mit einfarbiger Füllung">
            <a:extLst>
              <a:ext uri="{FF2B5EF4-FFF2-40B4-BE49-F238E27FC236}">
                <a16:creationId xmlns:a16="http://schemas.microsoft.com/office/drawing/2014/main" id="{9B5F68CF-BFB8-9EDA-B483-80375BF354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77593" y="3973915"/>
            <a:ext cx="360000" cy="360000"/>
          </a:xfrm>
          <a:prstGeom prst="rect">
            <a:avLst/>
          </a:prstGeom>
        </p:spPr>
      </p:pic>
      <p:pic>
        <p:nvPicPr>
          <p:cNvPr id="113" name="Grafik 112" descr="Frau mit einfarbiger Füllung">
            <a:extLst>
              <a:ext uri="{FF2B5EF4-FFF2-40B4-BE49-F238E27FC236}">
                <a16:creationId xmlns:a16="http://schemas.microsoft.com/office/drawing/2014/main" id="{1A826562-C672-5F86-3FCE-DD28EDE292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723465" y="3986066"/>
            <a:ext cx="360000" cy="360000"/>
          </a:xfrm>
          <a:prstGeom prst="rect">
            <a:avLst/>
          </a:prstGeom>
        </p:spPr>
      </p:pic>
      <p:sp>
        <p:nvSpPr>
          <p:cNvPr id="115" name="Pfeil: nach rechts 114">
            <a:extLst>
              <a:ext uri="{FF2B5EF4-FFF2-40B4-BE49-F238E27FC236}">
                <a16:creationId xmlns:a16="http://schemas.microsoft.com/office/drawing/2014/main" id="{60CA4278-E8BE-DCFE-629C-4EDE54369D9A}"/>
              </a:ext>
            </a:extLst>
          </p:cNvPr>
          <p:cNvSpPr/>
          <p:nvPr/>
        </p:nvSpPr>
        <p:spPr>
          <a:xfrm>
            <a:off x="4354480" y="4082008"/>
            <a:ext cx="235974" cy="125270"/>
          </a:xfrm>
          <a:prstGeom prst="rightArrow">
            <a:avLst/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fik 3" descr="Fragezeichen mit einfarbiger Füllung">
            <a:extLst>
              <a:ext uri="{FF2B5EF4-FFF2-40B4-BE49-F238E27FC236}">
                <a16:creationId xmlns:a16="http://schemas.microsoft.com/office/drawing/2014/main" id="{0ECDE46A-0275-091F-06F3-6F0FB89E64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22902" y="2344534"/>
            <a:ext cx="360000" cy="360000"/>
          </a:xfrm>
          <a:prstGeom prst="rect">
            <a:avLst/>
          </a:prstGeom>
        </p:spPr>
      </p:pic>
      <p:pic>
        <p:nvPicPr>
          <p:cNvPr id="8" name="Grafik 7" descr="Fragezeichen mit einfarbiger Füllung">
            <a:extLst>
              <a:ext uri="{FF2B5EF4-FFF2-40B4-BE49-F238E27FC236}">
                <a16:creationId xmlns:a16="http://schemas.microsoft.com/office/drawing/2014/main" id="{DF0FD8E9-96CA-FE52-B31B-A2E0F3B5EE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22902" y="2800513"/>
            <a:ext cx="360000" cy="360000"/>
          </a:xfrm>
          <a:prstGeom prst="rect">
            <a:avLst/>
          </a:prstGeom>
        </p:spPr>
      </p:pic>
      <p:pic>
        <p:nvPicPr>
          <p:cNvPr id="10" name="Grafik 9" descr="Fragezeichen mit einfarbiger Füllung">
            <a:extLst>
              <a:ext uri="{FF2B5EF4-FFF2-40B4-BE49-F238E27FC236}">
                <a16:creationId xmlns:a16="http://schemas.microsoft.com/office/drawing/2014/main" id="{161C6A8F-438F-2183-2197-833437EBB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13951" y="3542008"/>
            <a:ext cx="360000" cy="360000"/>
          </a:xfrm>
          <a:prstGeom prst="rect">
            <a:avLst/>
          </a:prstGeom>
        </p:spPr>
      </p:pic>
      <p:pic>
        <p:nvPicPr>
          <p:cNvPr id="13" name="Grafik 12" descr="Fragezeichen mit einfarbiger Füllung">
            <a:extLst>
              <a:ext uri="{FF2B5EF4-FFF2-40B4-BE49-F238E27FC236}">
                <a16:creationId xmlns:a16="http://schemas.microsoft.com/office/drawing/2014/main" id="{9A8848CE-803B-C375-90A5-B91E01465F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21428" y="3964643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4609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2B2FE-2E2B-4180-3E52-4E31A0A60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3720B024-9EBA-2AC5-E12B-23F94080AF8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56C6E10-95CF-ACC8-D696-337F853FC6BF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1: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 err="1">
                <a:solidFill>
                  <a:srgbClr val="002350"/>
                </a:solidFill>
              </a:rPr>
              <a:t>Results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0CF61B7-EC4F-21E9-C33C-121CD841D2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64869" y="119902"/>
            <a:ext cx="4318002" cy="4318002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B2FA00B8-B3DA-9FDF-E6DD-083E73285BAE}"/>
              </a:ext>
            </a:extLst>
          </p:cNvPr>
          <p:cNvSpPr txBox="1"/>
          <p:nvPr/>
        </p:nvSpPr>
        <p:spPr>
          <a:xfrm>
            <a:off x="338269" y="2140599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759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24AF9-5A25-D34E-DA6E-B8F3D57EA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0D675711-3FC5-2F48-6A8A-E3084B1E33B7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4EA7C1C0-DFEC-FCE2-B640-F726C7E89B88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67B3930-8736-BC0A-615E-D8DF101BDDE5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2DC5FF5B-1383-ADD7-EC9B-46D98540B2DE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B3E8CD05-D05D-8CA3-E7E5-8160EC7DD8E5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de-DE" sz="1200" b="1" dirty="0" err="1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797218D6-D13C-6B13-05AD-0629E62CD7EF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0C2202E2-EB82-C5F5-311B-CC0419EC56E3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02037DA8-A601-D125-A161-6167AECF90D5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9A9DE637-E84D-0E56-FCF4-ED2115045D80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ABA9294-05A2-16DB-6C7B-499A76FB6E4E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ADCB93B8-46F0-FA67-2E65-4DEB95190598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D40004B7-FA89-1A8B-9A60-28EFE0435D2E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73A4D91-F3F6-F2EC-32D9-461702798F1B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710A2379-BBA9-68BE-F21D-D08ADB81EE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606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647B1-C741-6511-46EC-2272BC3E5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017EDE7B-D571-7DF7-01B4-EBD91D146E3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A431E9B4-9C46-751E-061D-069D3A0EEFCA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C2A7B9B4-CB1D-F491-AE47-5750AACEABCB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FEDB312-369A-BFF8-E8AE-F050CDD6C03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2: Speaker Identity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31176432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55DFA-E4BE-C8FB-88B9-1FF92592A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7EE510EF-0400-65F0-D906-1B6C4CE9E7A8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75DEF071-FDD7-E8E9-2B86-2C54C2C202F9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2: Design</a:t>
            </a:r>
            <a:endParaRPr lang="de-DE" sz="15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E498F40B-8AC0-2D8F-972F-14AE66A56A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244" y="2886292"/>
            <a:ext cx="1767168" cy="148658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FFAE2E09-D892-7D1D-8CE1-1BF04959F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1140" y="3178178"/>
            <a:ext cx="3762616" cy="1067304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E87A6224-24E6-8FE4-7D92-F1462D5530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166" y="898018"/>
            <a:ext cx="5033348" cy="19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42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D5234-4020-7F68-E283-99F68EEAA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62DB9D0E-03FC-CBC9-6BD8-B0F16BE8E3F9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605BEFD1-D9A1-CCD7-574E-658E1EE474C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2: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>
                <a:solidFill>
                  <a:srgbClr val="002350"/>
                </a:solidFill>
              </a:rPr>
              <a:t>Female Identities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2BD5D00-B3CF-65A4-D083-5C6792CAC309}"/>
              </a:ext>
            </a:extLst>
          </p:cNvPr>
          <p:cNvSpPr txBox="1"/>
          <p:nvPr/>
        </p:nvSpPr>
        <p:spPr>
          <a:xfrm>
            <a:off x="338269" y="2140599"/>
            <a:ext cx="1540323" cy="66521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Partly evidence, 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but overall inconclusive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640B5A7-1CAF-BAE4-B137-42F59F6233E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5342" y="2473207"/>
            <a:ext cx="4652682" cy="1861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C090B8C-6DCD-0E94-4EEC-ACE88B8713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5342" y="505721"/>
            <a:ext cx="4748194" cy="189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3218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91B20-1074-03F9-1269-9826EB7A7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F81E22A7-9AA3-7554-F92C-95903F1EB9DA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306A3AA-CAF3-FAC6-9E6D-FFCEAE8240B5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2: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>
                <a:solidFill>
                  <a:srgbClr val="002350"/>
                </a:solidFill>
              </a:rPr>
              <a:t>Male Identities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03DF11-6E0B-FCB5-FC20-9672CF0100FA}"/>
              </a:ext>
            </a:extLst>
          </p:cNvPr>
          <p:cNvSpPr txBox="1"/>
          <p:nvPr/>
        </p:nvSpPr>
        <p:spPr>
          <a:xfrm>
            <a:off x="338269" y="2140599"/>
            <a:ext cx="1540323" cy="103573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NO evidence for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22556B-789C-B8BF-4E5F-4EFEF7DD35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5343" y="2473207"/>
            <a:ext cx="4652680" cy="186107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A8948-120B-881B-6228-3513CCE6A8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45342" y="505721"/>
            <a:ext cx="4748194" cy="1899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8917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7131E-4A73-FFA6-D965-843B08E0A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E3FE61B-41A3-5D11-4B07-28B61D08562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F10F315B-81FC-A12D-FF10-A316A7D5AD1D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0F2068AC-3AE9-67D1-8E85-C7DDCF8C33E2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9F7CCA1D-891A-C2F0-9C7A-45DBBCA6D47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1BB1D5E-CC80-EBE4-4748-474FB89A3DCE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en-US" sz="1200" b="1" noProof="0" dirty="0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5A4B4E15-6320-EDC1-E9DD-AFCD9E939BAD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98CD9FB2-675C-5147-B457-E4C8F625F554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1112859-0F06-C5BA-C3BA-01B791672058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61EE7EE3-3BC6-E42B-8120-DDFD6EFD3D1A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EC577BB0-DD8A-B702-6B60-84CB2A149E40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E0210DCD-486C-A29A-52E8-8211A243A038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E3701A88-A90C-22A2-0F20-DAA1596195FE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885ACA8-9260-55F7-0DB5-956DFDC49085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23FBB53-CEBA-BC36-F6D8-0ECA739CF2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B0A24C0D-16E6-6186-3420-F73FC3EBF3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4522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F32A9-3ED6-621F-F95C-6BB4C305A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3E564670-0CE8-6556-1C44-B00FF76D20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5A50E26-554D-9327-874E-CE4B308A6B99}"/>
              </a:ext>
            </a:extLst>
          </p:cNvPr>
          <p:cNvSpPr/>
          <p:nvPr/>
        </p:nvSpPr>
        <p:spPr>
          <a:xfrm>
            <a:off x="343697" y="3242457"/>
            <a:ext cx="5413047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13F4A185-2FC0-E365-41A5-77ECB6A28033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C050B45-1EF3-6B1E-4048-554D4C521D82}"/>
              </a:ext>
            </a:extLst>
          </p:cNvPr>
          <p:cNvSpPr txBox="1"/>
          <p:nvPr/>
        </p:nvSpPr>
        <p:spPr>
          <a:xfrm>
            <a:off x="536683" y="3483202"/>
            <a:ext cx="4989474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200" dirty="0"/>
              <a:t>Experiment 3: Spoken Pseudoword</a:t>
            </a:r>
            <a:endParaRPr lang="de-DE" sz="1200" b="1" dirty="0"/>
          </a:p>
        </p:txBody>
      </p:sp>
    </p:spTree>
    <p:extLst>
      <p:ext uri="{BB962C8B-B14F-4D97-AF65-F5344CB8AC3E}">
        <p14:creationId xmlns:p14="http://schemas.microsoft.com/office/powerpoint/2010/main" val="177533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558B1-D5A5-EA17-1DB2-054EB3599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5E486727-F686-9B04-DD5F-4B2921B77BA3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BC348E60-263A-8432-A30B-6161EAC5AB1C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3: Design</a:t>
            </a:r>
            <a:endParaRPr lang="de-DE" sz="1500" dirty="0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7366F362-752F-5381-BD2B-CCB029F999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4244" y="2886292"/>
            <a:ext cx="1767168" cy="1486586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C3AD3DE-7C3A-C569-5103-27521EA188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1140" y="3178178"/>
            <a:ext cx="3762616" cy="106730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C785D107-BD93-3391-0519-C9282790E1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44" y="898018"/>
            <a:ext cx="4353858" cy="1738818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5535B24F-EEDA-3F75-DC90-04E343A5E766}"/>
              </a:ext>
            </a:extLst>
          </p:cNvPr>
          <p:cNvSpPr txBox="1"/>
          <p:nvPr/>
        </p:nvSpPr>
        <p:spPr>
          <a:xfrm>
            <a:off x="5177016" y="1460678"/>
            <a:ext cx="1100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Word 1: /</a:t>
            </a:r>
            <a:r>
              <a:rPr lang="de-DE" sz="1000" dirty="0" err="1"/>
              <a:t>belam</a:t>
            </a:r>
            <a:r>
              <a:rPr lang="de-DE" sz="1000" dirty="0"/>
              <a:t>/</a:t>
            </a:r>
          </a:p>
          <a:p>
            <a:r>
              <a:rPr lang="de-DE" sz="1000" dirty="0"/>
              <a:t>Word 2: /</a:t>
            </a:r>
            <a:r>
              <a:rPr lang="de-DE" sz="1000" dirty="0" err="1"/>
              <a:t>molen</a:t>
            </a:r>
            <a:r>
              <a:rPr lang="de-DE" sz="1000" dirty="0"/>
              <a:t>/</a:t>
            </a:r>
          </a:p>
          <a:p>
            <a:r>
              <a:rPr lang="de-DE" sz="1000" dirty="0"/>
              <a:t>Word 3: /</a:t>
            </a:r>
            <a:r>
              <a:rPr lang="de-DE" sz="1000" dirty="0" err="1"/>
              <a:t>namil</a:t>
            </a:r>
            <a:r>
              <a:rPr lang="de-DE" sz="1000" dirty="0"/>
              <a:t>/</a:t>
            </a:r>
          </a:p>
          <a:p>
            <a:r>
              <a:rPr lang="de-DE" sz="1000" dirty="0"/>
              <a:t>Word 4: /</a:t>
            </a:r>
            <a:r>
              <a:rPr lang="de-DE" sz="1000" dirty="0" err="1"/>
              <a:t>loman</a:t>
            </a:r>
            <a:r>
              <a:rPr lang="de-DE" sz="1000" dirty="0"/>
              <a:t>/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01788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4CDF-7F40-F3D7-3EEC-1885C807F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B122C823-3047-F8FB-11B4-2D32803523C5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98F35124-D37F-18E4-5BA3-CF2F58F8DBAE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Experiment 3: Hypothesis</a:t>
            </a:r>
            <a:endParaRPr lang="de-DE" sz="1500" dirty="0"/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A68CBD1C-EB9C-4438-AD6D-516E68308A25}"/>
              </a:ext>
            </a:extLst>
          </p:cNvPr>
          <p:cNvSpPr/>
          <p:nvPr/>
        </p:nvSpPr>
        <p:spPr>
          <a:xfrm>
            <a:off x="1464259" y="1851776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BBF2A2A8-21ED-4A2F-8E38-F20199D19B61}"/>
              </a:ext>
            </a:extLst>
          </p:cNvPr>
          <p:cNvSpPr/>
          <p:nvPr/>
        </p:nvSpPr>
        <p:spPr>
          <a:xfrm>
            <a:off x="3795083" y="1851776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Bayesian Inference</a:t>
            </a:r>
            <a:endParaRPr lang="en-US" sz="1000" b="1" dirty="0"/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973C5DEA-FE85-482D-B0F3-D9C8DC60E6F3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202994" y="2375453"/>
            <a:ext cx="59208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0507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Interpretation </a:t>
            </a:r>
            <a:r>
              <a:rPr lang="de-DE" sz="1600" dirty="0" err="1">
                <a:solidFill>
                  <a:srgbClr val="002350"/>
                </a:solidFill>
              </a:rPr>
              <a:t>of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the</a:t>
            </a:r>
            <a:r>
              <a:rPr lang="de-DE" sz="1600" dirty="0">
                <a:solidFill>
                  <a:srgbClr val="002350"/>
                </a:solidFill>
              </a:rPr>
              <a:t> Bayes </a:t>
            </a:r>
            <a:r>
              <a:rPr lang="de-DE" sz="1600" dirty="0" err="1">
                <a:solidFill>
                  <a:srgbClr val="002350"/>
                </a:solidFill>
              </a:rPr>
              <a:t>factor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223165" y="4217362"/>
            <a:ext cx="1634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[Jarosz and Wiley, 2014]</a:t>
            </a:r>
          </a:p>
        </p:txBody>
      </p:sp>
      <p:pic>
        <p:nvPicPr>
          <p:cNvPr id="1028" name="Picture 4" descr="http://www.scielo.org.co/img/revistas/ruc/v31n3//2027-0119-ruc-31-03-130-gt1.jpg">
            <a:extLst>
              <a:ext uri="{FF2B5EF4-FFF2-40B4-BE49-F238E27FC236}">
                <a16:creationId xmlns:a16="http://schemas.microsoft.com/office/drawing/2014/main" id="{26881466-C9CF-4DFB-8C80-E383487BE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407" y="897217"/>
            <a:ext cx="4397188" cy="334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8DAD843-A78E-4421-A440-781D124A0AD4}"/>
              </a:ext>
            </a:extLst>
          </p:cNvPr>
          <p:cNvCxnSpPr/>
          <p:nvPr/>
        </p:nvCxnSpPr>
        <p:spPr>
          <a:xfrm>
            <a:off x="806819" y="2272553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50ACE509-CE57-4A2F-8D24-814421764F1F}"/>
              </a:ext>
            </a:extLst>
          </p:cNvPr>
          <p:cNvCxnSpPr/>
          <p:nvPr/>
        </p:nvCxnSpPr>
        <p:spPr>
          <a:xfrm>
            <a:off x="806819" y="3090579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74788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A309D-6806-ED04-098A-9B287B7A5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921EA995-A9D9-CA9F-8485-C1B4B84E4E6E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E093E8CC-C8F5-B502-4095-6BF668F48C47}"/>
              </a:ext>
            </a:extLst>
          </p:cNvPr>
          <p:cNvSpPr txBox="1"/>
          <p:nvPr/>
        </p:nvSpPr>
        <p:spPr>
          <a:xfrm>
            <a:off x="338269" y="440204"/>
            <a:ext cx="5748206" cy="2724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dirty="0">
                <a:solidFill>
                  <a:srgbClr val="002350"/>
                </a:solidFill>
              </a:rPr>
              <a:t>Experiment 3:</a:t>
            </a:r>
            <a:br>
              <a:rPr lang="de-DE" dirty="0">
                <a:solidFill>
                  <a:srgbClr val="002350"/>
                </a:solidFill>
              </a:rPr>
            </a:br>
            <a:r>
              <a:rPr lang="de-DE" dirty="0" err="1">
                <a:solidFill>
                  <a:srgbClr val="002350"/>
                </a:solidFill>
              </a:rPr>
              <a:t>Results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0DD5E0E-2DBC-3018-FBF9-EF2C3CB3E288}"/>
              </a:ext>
            </a:extLst>
          </p:cNvPr>
          <p:cNvSpPr txBox="1"/>
          <p:nvPr/>
        </p:nvSpPr>
        <p:spPr>
          <a:xfrm>
            <a:off x="338269" y="2140599"/>
            <a:ext cx="1540323" cy="15102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i="1" dirty="0">
                <a:solidFill>
                  <a:schemeClr val="tx2"/>
                </a:solidFill>
              </a:rPr>
              <a:t>Evidence for NO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Simultaneous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opposite</a:t>
            </a:r>
          </a:p>
          <a:p>
            <a:pPr algn="ctr"/>
            <a:r>
              <a:rPr lang="en-US" sz="1600" i="1" dirty="0">
                <a:solidFill>
                  <a:schemeClr val="tx2"/>
                </a:solidFill>
              </a:rPr>
              <a:t>Adaptation</a:t>
            </a: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r>
              <a:rPr lang="de-DE" sz="1400" i="1" dirty="0"/>
              <a:t>BF</a:t>
            </a:r>
            <a:r>
              <a:rPr lang="de-DE" sz="1400" i="1" baseline="-25000" dirty="0"/>
              <a:t>10</a:t>
            </a:r>
            <a:r>
              <a:rPr lang="de-DE" sz="1400" i="1" dirty="0"/>
              <a:t> = 0.07</a:t>
            </a:r>
            <a:endParaRPr lang="en-US" sz="12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  <a:p>
            <a:pPr algn="ctr"/>
            <a:endParaRPr lang="en-US" sz="1600" i="1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C17467A-B6DA-FD27-D19C-9DE44A043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2436" y="201146"/>
            <a:ext cx="4150658" cy="415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5413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Interpretation </a:t>
            </a:r>
            <a:r>
              <a:rPr lang="de-DE" sz="1600" dirty="0" err="1">
                <a:solidFill>
                  <a:srgbClr val="002350"/>
                </a:solidFill>
              </a:rPr>
              <a:t>of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the</a:t>
            </a:r>
            <a:r>
              <a:rPr lang="de-DE" sz="1600" dirty="0">
                <a:solidFill>
                  <a:srgbClr val="002350"/>
                </a:solidFill>
              </a:rPr>
              <a:t> Bayes </a:t>
            </a:r>
            <a:r>
              <a:rPr lang="de-DE" sz="1600" dirty="0" err="1">
                <a:solidFill>
                  <a:srgbClr val="002350"/>
                </a:solidFill>
              </a:rPr>
              <a:t>factor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232019" y="4217362"/>
            <a:ext cx="162598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[Jarosz and Wiley, 2014]</a:t>
            </a:r>
          </a:p>
        </p:txBody>
      </p:sp>
      <p:pic>
        <p:nvPicPr>
          <p:cNvPr id="1028" name="Picture 4" descr="http://www.scielo.org.co/img/revistas/ruc/v31n3//2027-0119-ruc-31-03-130-gt1.jpg">
            <a:extLst>
              <a:ext uri="{FF2B5EF4-FFF2-40B4-BE49-F238E27FC236}">
                <a16:creationId xmlns:a16="http://schemas.microsoft.com/office/drawing/2014/main" id="{26881466-C9CF-4DFB-8C80-E383487BE9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407" y="897217"/>
            <a:ext cx="4397188" cy="334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8DAD843-A78E-4421-A440-781D124A0AD4}"/>
              </a:ext>
            </a:extLst>
          </p:cNvPr>
          <p:cNvCxnSpPr/>
          <p:nvPr/>
        </p:nvCxnSpPr>
        <p:spPr>
          <a:xfrm>
            <a:off x="806819" y="2272553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50ACE509-CE57-4A2F-8D24-814421764F1F}"/>
              </a:ext>
            </a:extLst>
          </p:cNvPr>
          <p:cNvCxnSpPr/>
          <p:nvPr/>
        </p:nvCxnSpPr>
        <p:spPr>
          <a:xfrm>
            <a:off x="806819" y="3090579"/>
            <a:ext cx="5372100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AA774FA-CC02-4B44-8F60-C08EBD0E3A8F}"/>
              </a:ext>
            </a:extLst>
          </p:cNvPr>
          <p:cNvCxnSpPr>
            <a:cxnSpLocks/>
          </p:cNvCxnSpPr>
          <p:nvPr/>
        </p:nvCxnSpPr>
        <p:spPr>
          <a:xfrm>
            <a:off x="1028700" y="3489513"/>
            <a:ext cx="235322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2947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>
                <a:solidFill>
                  <a:schemeClr val="tx1"/>
                </a:solidFill>
              </a:rPr>
              <a:t>Experiments and </a:t>
            </a:r>
            <a:r>
              <a:rPr lang="en-US" sz="1200" b="1" noProof="0" dirty="0">
                <a:solidFill>
                  <a:schemeClr val="tx1"/>
                </a:solidFill>
              </a:rPr>
              <a:t>Predictions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gender</a:t>
            </a:r>
            <a:endParaRPr lang="de-DE" sz="1000" b="1" dirty="0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884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Speaker gender</a:t>
            </a:r>
            <a:endParaRPr lang="de-DE" sz="1000" b="1" dirty="0">
              <a:solidFill>
                <a:srgbClr val="C00000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/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027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gender</a:t>
            </a:r>
            <a:endParaRPr lang="de-DE" sz="1000" b="1" dirty="0">
              <a:solidFill>
                <a:schemeClr val="tx1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5" name="Grafik 4" descr="Schließen mit einfarbiger Füllung">
            <a:extLst>
              <a:ext uri="{FF2B5EF4-FFF2-40B4-BE49-F238E27FC236}">
                <a16:creationId xmlns:a16="http://schemas.microsoft.com/office/drawing/2014/main" id="{6586AAAB-63CF-7367-BA42-115615892C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0877" y="3018303"/>
            <a:ext cx="469103" cy="469103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787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17E73D7-7131-447F-889A-30F975028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688" y="589476"/>
            <a:ext cx="6064624" cy="3762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3064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91E8A-279D-E635-995B-3826B9C8E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BE7ECA1D-3008-434C-5D6A-F4038DB5BF82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8E323476-ED10-EF73-36EE-29300C334135}"/>
              </a:ext>
            </a:extLst>
          </p:cNvPr>
          <p:cNvSpPr/>
          <p:nvPr/>
        </p:nvSpPr>
        <p:spPr>
          <a:xfrm>
            <a:off x="458122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 for </a:t>
            </a:r>
            <a:r>
              <a:rPr lang="en-US" sz="1000" b="1" dirty="0"/>
              <a:t>male and female speakers </a:t>
            </a:r>
            <a:endParaRPr lang="de-DE" sz="1000" b="1" dirty="0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CA117BE0-7B4E-2D47-BBA8-C46A83AD15AF}"/>
              </a:ext>
            </a:extLst>
          </p:cNvPr>
          <p:cNvSpPr/>
          <p:nvPr/>
        </p:nvSpPr>
        <p:spPr>
          <a:xfrm>
            <a:off x="2618644" y="2311278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simultaneous opposite aftereffects</a:t>
            </a:r>
          </a:p>
          <a:p>
            <a:pPr algn="ctr">
              <a:buClr>
                <a:schemeClr val="accent1"/>
              </a:buClr>
            </a:pPr>
            <a:r>
              <a:rPr lang="en-US" sz="1000" dirty="0"/>
              <a:t>for </a:t>
            </a:r>
            <a:r>
              <a:rPr lang="en-US" sz="1000" b="1" dirty="0"/>
              <a:t>different speaker identities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5987C4E-0F83-0CAD-5CD3-2F36869B35FD}"/>
              </a:ext>
            </a:extLst>
          </p:cNvPr>
          <p:cNvSpPr/>
          <p:nvPr/>
        </p:nvSpPr>
        <p:spPr>
          <a:xfrm>
            <a:off x="4718447" y="2295529"/>
            <a:ext cx="1738735" cy="1047354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dirty="0"/>
              <a:t>I expected to find </a:t>
            </a:r>
            <a:r>
              <a:rPr lang="en-US" sz="1000" b="1" dirty="0"/>
              <a:t>NO</a:t>
            </a:r>
            <a:r>
              <a:rPr lang="en-US" sz="1000" dirty="0"/>
              <a:t> simultaneous opposite aftereffects for </a:t>
            </a:r>
            <a:r>
              <a:rPr lang="en-US" sz="1000" b="1" dirty="0"/>
              <a:t>different pseudowords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C0C6E706-1C38-8EA9-128C-EE6D3107BFE6}"/>
              </a:ext>
            </a:extLst>
          </p:cNvPr>
          <p:cNvSpPr/>
          <p:nvPr/>
        </p:nvSpPr>
        <p:spPr>
          <a:xfrm>
            <a:off x="400818" y="593772"/>
            <a:ext cx="6056364" cy="46910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650"/>
              </a:lnSpc>
              <a:buClr>
                <a:schemeClr val="accent1"/>
              </a:buClr>
            </a:pPr>
            <a:r>
              <a:rPr lang="de-DE" sz="1200" b="1" dirty="0" err="1">
                <a:solidFill>
                  <a:schemeClr val="tx1"/>
                </a:solidFill>
              </a:rPr>
              <a:t>Discussion</a:t>
            </a:r>
            <a:endParaRPr lang="de-DE" sz="1200" b="1" dirty="0">
              <a:solidFill>
                <a:schemeClr val="tx1"/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438145E0-3B53-2DCC-0569-C8BF66E3CC34}"/>
              </a:ext>
            </a:extLst>
          </p:cNvPr>
          <p:cNvSpPr/>
          <p:nvPr/>
        </p:nvSpPr>
        <p:spPr>
          <a:xfrm>
            <a:off x="461540" y="1548222"/>
            <a:ext cx="1738735" cy="654657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Speaker gender</a:t>
            </a:r>
            <a:endParaRPr lang="de-DE" sz="1000" b="1" dirty="0">
              <a:solidFill>
                <a:schemeClr val="tx1"/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2ECA611F-D2D5-4DEB-8B8E-27D4BA795C22}"/>
              </a:ext>
            </a:extLst>
          </p:cNvPr>
          <p:cNvSpPr/>
          <p:nvPr/>
        </p:nvSpPr>
        <p:spPr>
          <a:xfrm>
            <a:off x="2620354" y="1536317"/>
            <a:ext cx="1738735" cy="654658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rgbClr val="C00000"/>
                </a:solidFill>
              </a:rPr>
              <a:t>Speaker identity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53EB379D-4922-EF27-884C-D65BF0FE636A}"/>
              </a:ext>
            </a:extLst>
          </p:cNvPr>
          <p:cNvSpPr/>
          <p:nvPr/>
        </p:nvSpPr>
        <p:spPr>
          <a:xfrm>
            <a:off x="4718447" y="1548221"/>
            <a:ext cx="1738735" cy="642753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00" b="1" dirty="0">
                <a:solidFill>
                  <a:schemeClr val="tx1"/>
                </a:solidFill>
              </a:rPr>
              <a:t>Phonetic content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BD9B9CE-C580-B86E-E421-AC90B726A9CF}"/>
              </a:ext>
            </a:extLst>
          </p:cNvPr>
          <p:cNvSpPr/>
          <p:nvPr/>
        </p:nvSpPr>
        <p:spPr>
          <a:xfrm>
            <a:off x="472259" y="3616179"/>
            <a:ext cx="3899256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Extralinguistic cues</a:t>
            </a:r>
            <a:endParaRPr lang="de-DE" sz="1050" b="1" i="1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DD7287D1-AE92-4F2E-B036-D2E7598A8B12}"/>
              </a:ext>
            </a:extLst>
          </p:cNvPr>
          <p:cNvSpPr/>
          <p:nvPr/>
        </p:nvSpPr>
        <p:spPr>
          <a:xfrm>
            <a:off x="315076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7F424640-25E9-D08D-20CC-6F18E65ADE2F}"/>
              </a:ext>
            </a:extLst>
          </p:cNvPr>
          <p:cNvSpPr/>
          <p:nvPr/>
        </p:nvSpPr>
        <p:spPr>
          <a:xfrm>
            <a:off x="2421887" y="1403784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2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2E05EAA-CE02-9845-2BBC-2DFB7AD0E496}"/>
              </a:ext>
            </a:extLst>
          </p:cNvPr>
          <p:cNvSpPr/>
          <p:nvPr/>
        </p:nvSpPr>
        <p:spPr>
          <a:xfrm>
            <a:off x="4519980" y="1366776"/>
            <a:ext cx="396934" cy="353716"/>
          </a:xfrm>
          <a:prstGeom prst="ellipse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3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8CA80B4-A61E-17B5-EDFE-56F406E522C1}"/>
              </a:ext>
            </a:extLst>
          </p:cNvPr>
          <p:cNvSpPr/>
          <p:nvPr/>
        </p:nvSpPr>
        <p:spPr>
          <a:xfrm>
            <a:off x="4718447" y="3625891"/>
            <a:ext cx="1738735" cy="384321"/>
          </a:xfrm>
          <a:prstGeom prst="roundRect">
            <a:avLst>
              <a:gd name="adj" fmla="val 13837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Clr>
                <a:schemeClr val="accent1"/>
              </a:buClr>
            </a:pPr>
            <a:r>
              <a:rPr lang="en-US" sz="1050" i="1" dirty="0"/>
              <a:t>Linguistic cues</a:t>
            </a:r>
            <a:endParaRPr lang="de-DE" sz="1050" b="1" i="1" dirty="0"/>
          </a:p>
        </p:txBody>
      </p:sp>
      <p:pic>
        <p:nvPicPr>
          <p:cNvPr id="4" name="Grafik 3" descr="Häkchen mit einfarbiger Füllung">
            <a:extLst>
              <a:ext uri="{FF2B5EF4-FFF2-40B4-BE49-F238E27FC236}">
                <a16:creationId xmlns:a16="http://schemas.microsoft.com/office/drawing/2014/main" id="{07656A2A-9A2C-9A41-6D9D-37BB5A308F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4172" y="2954188"/>
            <a:ext cx="533220" cy="533218"/>
          </a:xfrm>
          <a:prstGeom prst="rect">
            <a:avLst/>
          </a:prstGeom>
        </p:spPr>
      </p:pic>
      <p:pic>
        <p:nvPicPr>
          <p:cNvPr id="16" name="Grafik 15" descr="Häkchen mit einfarbiger Füllung">
            <a:extLst>
              <a:ext uri="{FF2B5EF4-FFF2-40B4-BE49-F238E27FC236}">
                <a16:creationId xmlns:a16="http://schemas.microsoft.com/office/drawing/2014/main" id="{BEA32D41-D4AB-0512-26FA-601CA48D6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33268" y="2954188"/>
            <a:ext cx="533220" cy="533218"/>
          </a:xfrm>
          <a:prstGeom prst="rect">
            <a:avLst/>
          </a:prstGeom>
        </p:spPr>
      </p:pic>
      <p:pic>
        <p:nvPicPr>
          <p:cNvPr id="20" name="Grafik 19" descr="Fragezeichen mit einfarbiger Füllung">
            <a:extLst>
              <a:ext uri="{FF2B5EF4-FFF2-40B4-BE49-F238E27FC236}">
                <a16:creationId xmlns:a16="http://schemas.microsoft.com/office/drawing/2014/main" id="{49E4F95E-08C3-4DA0-B995-27DC8ED101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7481" y="2873781"/>
            <a:ext cx="469102" cy="46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618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C7480-F8C4-C05A-DCB8-865648C4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DF666974-6FD9-CE24-1C62-4A4FD60C73E4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02A51DEF-1EC1-7FC5-1F5F-ADDCDD7A5F6C}"/>
              </a:ext>
            </a:extLst>
          </p:cNvPr>
          <p:cNvSpPr txBox="1"/>
          <p:nvPr/>
        </p:nvSpPr>
        <p:spPr>
          <a:xfrm>
            <a:off x="686991" y="1026269"/>
            <a:ext cx="5260148" cy="27981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sz="1600" dirty="0">
                <a:solidFill>
                  <a:schemeClr val="tx2"/>
                </a:solidFill>
              </a:rPr>
              <a:t>Is vocal emotional processing fine-tuned to speaker gender, identity and phonetic content?</a:t>
            </a:r>
          </a:p>
          <a:p>
            <a:pPr algn="ctr"/>
            <a:endParaRPr lang="en-US" sz="2800" dirty="0"/>
          </a:p>
          <a:p>
            <a:pPr lvl="3"/>
            <a:r>
              <a:rPr lang="en-US" sz="1600" dirty="0"/>
              <a:t>Speaker gender: YES</a:t>
            </a:r>
          </a:p>
          <a:p>
            <a:pPr lvl="3"/>
            <a:r>
              <a:rPr lang="en-US" sz="1600" dirty="0"/>
              <a:t>Speaker identity: Maybe</a:t>
            </a:r>
          </a:p>
          <a:p>
            <a:pPr lvl="3"/>
            <a:r>
              <a:rPr lang="en-US" sz="1600" dirty="0"/>
              <a:t>Phonetic content: NO</a:t>
            </a:r>
          </a:p>
          <a:p>
            <a:pPr lvl="3"/>
            <a:endParaRPr lang="en-US" sz="1600" dirty="0"/>
          </a:p>
          <a:p>
            <a:pPr lvl="3"/>
            <a:endParaRPr lang="en-US" sz="1600" dirty="0"/>
          </a:p>
          <a:p>
            <a:pPr lvl="3"/>
            <a:endParaRPr lang="en-US" sz="1600" dirty="0"/>
          </a:p>
          <a:p>
            <a:pPr algn="ctr"/>
            <a:r>
              <a:rPr lang="en-US" sz="1600" dirty="0"/>
              <a:t>Thanks to </a:t>
            </a:r>
            <a:r>
              <a:rPr lang="de-DE" sz="1600" dirty="0"/>
              <a:t>Dorothea Berges, Laura Würfel, and Johanna Andres!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190466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2B4EE-7CE5-8512-B809-1DDDE1772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erade Verbindung 9">
            <a:extLst>
              <a:ext uri="{FF2B5EF4-FFF2-40B4-BE49-F238E27FC236}">
                <a16:creationId xmlns:a16="http://schemas.microsoft.com/office/drawing/2014/main" id="{1CAC4564-18F5-50D3-CFC3-94657C57EF60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fik 3">
            <a:extLst>
              <a:ext uri="{FF2B5EF4-FFF2-40B4-BE49-F238E27FC236}">
                <a16:creationId xmlns:a16="http://schemas.microsoft.com/office/drawing/2014/main" id="{50E10434-0B6D-F57B-EB32-6307C08F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08" y="574043"/>
            <a:ext cx="6005384" cy="364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6850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3"/>
            <a:ext cx="6162545" cy="399697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References</a:t>
            </a:r>
          </a:p>
          <a:p>
            <a:r>
              <a:rPr lang="en-US" sz="900" dirty="0" err="1">
                <a:solidFill>
                  <a:srgbClr val="002350"/>
                </a:solidFill>
              </a:rPr>
              <a:t>Bestelmeyer</a:t>
            </a:r>
            <a:r>
              <a:rPr lang="en-US" sz="900" dirty="0">
                <a:solidFill>
                  <a:srgbClr val="002350"/>
                </a:solidFill>
              </a:rPr>
              <a:t>, P.E.G., Jones, B.C., DeBruine, L.M., Little, A.C., Welling, L.L.M., 2010a. Face aftereffects suggest interdependent processing of expression and sex and of expression and race. Vis. </a:t>
            </a:r>
            <a:r>
              <a:rPr lang="en-US" sz="900" dirty="0" err="1">
                <a:solidFill>
                  <a:srgbClr val="002350"/>
                </a:solidFill>
              </a:rPr>
              <a:t>Cogn</a:t>
            </a:r>
            <a:r>
              <a:rPr lang="en-US" sz="900" dirty="0">
                <a:solidFill>
                  <a:srgbClr val="002350"/>
                </a:solidFill>
              </a:rPr>
              <a:t>. 18 (2), 255–274. https://doi.org/10.1080/ 13506280802708024.</a:t>
            </a:r>
            <a:endParaRPr lang="de-DE" sz="900" dirty="0">
              <a:solidFill>
                <a:srgbClr val="002350"/>
              </a:solidFill>
            </a:endParaRP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de-DE" sz="900" dirty="0" err="1">
                <a:solidFill>
                  <a:srgbClr val="002350"/>
                </a:solidFill>
              </a:rPr>
              <a:t>Bestelmeyer</a:t>
            </a:r>
            <a:r>
              <a:rPr lang="de-DE" sz="900" dirty="0">
                <a:solidFill>
                  <a:srgbClr val="002350"/>
                </a:solidFill>
              </a:rPr>
              <a:t>, P.E.G., </a:t>
            </a:r>
            <a:r>
              <a:rPr lang="de-DE" sz="900" dirty="0" err="1">
                <a:solidFill>
                  <a:srgbClr val="002350"/>
                </a:solidFill>
              </a:rPr>
              <a:t>Rouger</a:t>
            </a:r>
            <a:r>
              <a:rPr lang="de-DE" sz="900" dirty="0">
                <a:solidFill>
                  <a:srgbClr val="002350"/>
                </a:solidFill>
              </a:rPr>
              <a:t>, J., DeBruine, L.M., Belin, P., 2010b. </a:t>
            </a:r>
            <a:r>
              <a:rPr lang="de-DE" sz="900" dirty="0" err="1">
                <a:solidFill>
                  <a:srgbClr val="002350"/>
                </a:solidFill>
              </a:rPr>
              <a:t>Auditory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adaptation</a:t>
            </a:r>
            <a:r>
              <a:rPr lang="de-DE" sz="900" dirty="0">
                <a:solidFill>
                  <a:srgbClr val="002350"/>
                </a:solidFill>
              </a:rPr>
              <a:t> in </a:t>
            </a:r>
            <a:r>
              <a:rPr lang="de-DE" sz="900" dirty="0" err="1">
                <a:solidFill>
                  <a:srgbClr val="002350"/>
                </a:solidFill>
              </a:rPr>
              <a:t>vocal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affect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perception</a:t>
            </a:r>
            <a:r>
              <a:rPr lang="de-DE" sz="900" dirty="0">
                <a:solidFill>
                  <a:srgbClr val="002350"/>
                </a:solidFill>
              </a:rPr>
              <a:t>. </a:t>
            </a:r>
            <a:r>
              <a:rPr lang="de-DE" sz="900" dirty="0" err="1">
                <a:solidFill>
                  <a:srgbClr val="002350"/>
                </a:solidFill>
              </a:rPr>
              <a:t>Cognition</a:t>
            </a:r>
            <a:r>
              <a:rPr lang="de-DE" sz="900" dirty="0">
                <a:solidFill>
                  <a:srgbClr val="002350"/>
                </a:solidFill>
              </a:rPr>
              <a:t> 117 (2), 217–223. https://doi.org/10.1016/j. cognition.2010.08.008.</a:t>
            </a: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Jarosz, A.F., Wiley, J., 2014. What are the odds? A practical guide to computing and reporting bayes factors. J. </a:t>
            </a:r>
            <a:r>
              <a:rPr lang="en-US" sz="900" dirty="0" err="1">
                <a:solidFill>
                  <a:srgbClr val="002350"/>
                </a:solidFill>
              </a:rPr>
              <a:t>Probl</a:t>
            </a:r>
            <a:r>
              <a:rPr lang="en-US" sz="900" dirty="0">
                <a:solidFill>
                  <a:srgbClr val="002350"/>
                </a:solidFill>
              </a:rPr>
              <a:t>. Solving. 7 (1), 2–9. https://doi.org/10.7771/1932- 6246.1167.</a:t>
            </a:r>
            <a:endParaRPr lang="de-DE" sz="900" dirty="0">
              <a:solidFill>
                <a:srgbClr val="002350"/>
              </a:solidFill>
            </a:endParaRP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de-DE" sz="900" dirty="0">
                <a:solidFill>
                  <a:srgbClr val="002350"/>
                </a:solidFill>
              </a:rPr>
              <a:t>Lavan, N., McGettigan, C., 2023. A </a:t>
            </a:r>
            <a:r>
              <a:rPr lang="de-DE" sz="900" dirty="0" err="1">
                <a:solidFill>
                  <a:srgbClr val="002350"/>
                </a:solidFill>
              </a:rPr>
              <a:t>model</a:t>
            </a:r>
            <a:r>
              <a:rPr lang="de-DE" sz="900" dirty="0">
                <a:solidFill>
                  <a:srgbClr val="002350"/>
                </a:solidFill>
              </a:rPr>
              <a:t> for </a:t>
            </a:r>
            <a:r>
              <a:rPr lang="de-DE" sz="900" dirty="0" err="1">
                <a:solidFill>
                  <a:srgbClr val="002350"/>
                </a:solidFill>
              </a:rPr>
              <a:t>person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perception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from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familiar</a:t>
            </a:r>
            <a:r>
              <a:rPr lang="de-DE" sz="900" dirty="0">
                <a:solidFill>
                  <a:srgbClr val="002350"/>
                </a:solidFill>
              </a:rPr>
              <a:t> and </a:t>
            </a:r>
            <a:r>
              <a:rPr lang="de-DE" sz="900" dirty="0" err="1">
                <a:solidFill>
                  <a:srgbClr val="002350"/>
                </a:solidFill>
              </a:rPr>
              <a:t>unfamiliar</a:t>
            </a:r>
            <a:r>
              <a:rPr lang="de-DE" sz="900" dirty="0">
                <a:solidFill>
                  <a:srgbClr val="002350"/>
                </a:solidFill>
              </a:rPr>
              <a:t> </a:t>
            </a:r>
            <a:r>
              <a:rPr lang="de-DE" sz="900" dirty="0" err="1">
                <a:solidFill>
                  <a:srgbClr val="002350"/>
                </a:solidFill>
              </a:rPr>
              <a:t>voices</a:t>
            </a:r>
            <a:r>
              <a:rPr lang="de-DE" sz="900" dirty="0">
                <a:solidFill>
                  <a:srgbClr val="002350"/>
                </a:solidFill>
              </a:rPr>
              <a:t>. Commun. </a:t>
            </a:r>
            <a:r>
              <a:rPr lang="de-DE" sz="900" dirty="0" err="1">
                <a:solidFill>
                  <a:srgbClr val="002350"/>
                </a:solidFill>
              </a:rPr>
              <a:t>Psychol</a:t>
            </a:r>
            <a:r>
              <a:rPr lang="de-DE" sz="900" dirty="0">
                <a:solidFill>
                  <a:srgbClr val="002350"/>
                </a:solidFill>
              </a:rPr>
              <a:t>. 1 (1), 1–11. https://doi.org/10.1038/s44271- 023-00001-4.</a:t>
            </a:r>
          </a:p>
          <a:p>
            <a:endParaRPr lang="de-DE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Lev-Ari, S., McKay, R., 2023. The sound of swearing: are there universal patterns in profanity? </a:t>
            </a:r>
            <a:r>
              <a:rPr lang="en-US" sz="900" dirty="0" err="1">
                <a:solidFill>
                  <a:srgbClr val="002350"/>
                </a:solidFill>
              </a:rPr>
              <a:t>Psychon</a:t>
            </a:r>
            <a:r>
              <a:rPr lang="en-US" sz="900" dirty="0">
                <a:solidFill>
                  <a:srgbClr val="002350"/>
                </a:solidFill>
              </a:rPr>
              <a:t>. Bull. Rev. 30 (3), 1103–1114. https://doi.org/10.3758/s13423- 022-02202-0.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Liebenthal, E., </a:t>
            </a:r>
            <a:r>
              <a:rPr lang="en-US" sz="900" dirty="0" err="1">
                <a:solidFill>
                  <a:srgbClr val="002350"/>
                </a:solidFill>
              </a:rPr>
              <a:t>Silbersweig</a:t>
            </a:r>
            <a:r>
              <a:rPr lang="en-US" sz="900" dirty="0">
                <a:solidFill>
                  <a:srgbClr val="002350"/>
                </a:solidFill>
              </a:rPr>
              <a:t>, D.A., Stern, E., 2016. The language, tone and prosody of emotions: neural substrates and dynamics of spoken-word emotion perception. Front. </a:t>
            </a:r>
            <a:r>
              <a:rPr lang="en-US" sz="900" dirty="0" err="1">
                <a:solidFill>
                  <a:srgbClr val="002350"/>
                </a:solidFill>
              </a:rPr>
              <a:t>Neurosci</a:t>
            </a:r>
            <a:r>
              <a:rPr lang="en-US" sz="900" dirty="0">
                <a:solidFill>
                  <a:srgbClr val="002350"/>
                </a:solidFill>
              </a:rPr>
              <a:t>. 10, 506. https://doi.org/10.3389/fnins.2016.00506.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Nussbaum, C., von </a:t>
            </a:r>
            <a:r>
              <a:rPr lang="en-US" sz="900" dirty="0" err="1">
                <a:solidFill>
                  <a:srgbClr val="002350"/>
                </a:solidFill>
              </a:rPr>
              <a:t>Eiff</a:t>
            </a:r>
            <a:r>
              <a:rPr lang="en-US" sz="900" dirty="0">
                <a:solidFill>
                  <a:srgbClr val="002350"/>
                </a:solidFill>
              </a:rPr>
              <a:t>, C.I., </a:t>
            </a:r>
            <a:r>
              <a:rPr lang="en-US" sz="900" dirty="0" err="1">
                <a:solidFill>
                  <a:srgbClr val="002350"/>
                </a:solidFill>
              </a:rPr>
              <a:t>Skuk</a:t>
            </a:r>
            <a:r>
              <a:rPr lang="en-US" sz="900" dirty="0">
                <a:solidFill>
                  <a:srgbClr val="002350"/>
                </a:solidFill>
              </a:rPr>
              <a:t>, V.G., Schweinberger, S.R., 2022b. Vocal emotion adaptation aftereffects within and across speaker genders: roles of timbre and fundamental frequency. Cognition 219, 104967. https://doi.org/10.1016/j. cognition.2021.104967.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en-US" sz="900" dirty="0">
                <a:solidFill>
                  <a:srgbClr val="002350"/>
                </a:solidFill>
              </a:rPr>
              <a:t>Pinheiro, A.P., 2025. Behind a voice there is a speaker: why vocal emotion research needs to become 'Personal. Affect. Sci. 6 (3), 562–574. https://doi.org/10.1007/ s42761-025-00317-w.</a:t>
            </a:r>
          </a:p>
          <a:p>
            <a:endParaRPr lang="en-US" sz="900" dirty="0">
              <a:solidFill>
                <a:srgbClr val="002350"/>
              </a:solidFill>
            </a:endParaRPr>
          </a:p>
          <a:p>
            <a:r>
              <a:rPr lang="de-DE" sz="900" dirty="0">
                <a:solidFill>
                  <a:srgbClr val="002350"/>
                </a:solidFill>
              </a:rPr>
              <a:t>Schweinberger, S.R., Kawahara, H., Simpson, A.P., </a:t>
            </a:r>
            <a:r>
              <a:rPr lang="de-DE" sz="900" dirty="0" err="1">
                <a:solidFill>
                  <a:srgbClr val="002350"/>
                </a:solidFill>
              </a:rPr>
              <a:t>Skuk</a:t>
            </a:r>
            <a:r>
              <a:rPr lang="de-DE" sz="900" dirty="0">
                <a:solidFill>
                  <a:srgbClr val="002350"/>
                </a:solidFill>
              </a:rPr>
              <a:t>, V.G., </a:t>
            </a:r>
            <a:r>
              <a:rPr lang="de-DE" sz="900" dirty="0" err="1">
                <a:solidFill>
                  <a:srgbClr val="002350"/>
                </a:solidFill>
              </a:rPr>
              <a:t>Z¨aske</a:t>
            </a:r>
            <a:r>
              <a:rPr lang="de-DE" sz="900" dirty="0">
                <a:solidFill>
                  <a:srgbClr val="002350"/>
                </a:solidFill>
              </a:rPr>
              <a:t>, R., 2014. Speaker </a:t>
            </a:r>
            <a:r>
              <a:rPr lang="de-DE" sz="900" dirty="0" err="1">
                <a:solidFill>
                  <a:srgbClr val="002350"/>
                </a:solidFill>
              </a:rPr>
              <a:t>perception</a:t>
            </a:r>
            <a:r>
              <a:rPr lang="de-DE" sz="900" dirty="0">
                <a:solidFill>
                  <a:srgbClr val="002350"/>
                </a:solidFill>
              </a:rPr>
              <a:t>. Wiley. </a:t>
            </a:r>
            <a:r>
              <a:rPr lang="de-DE" sz="900" dirty="0" err="1">
                <a:solidFill>
                  <a:srgbClr val="002350"/>
                </a:solidFill>
              </a:rPr>
              <a:t>Interdiscip</a:t>
            </a:r>
            <a:r>
              <a:rPr lang="de-DE" sz="900" dirty="0">
                <a:solidFill>
                  <a:srgbClr val="002350"/>
                </a:solidFill>
              </a:rPr>
              <a:t>. Rev. </a:t>
            </a:r>
            <a:r>
              <a:rPr lang="de-DE" sz="900" dirty="0" err="1">
                <a:solidFill>
                  <a:srgbClr val="002350"/>
                </a:solidFill>
              </a:rPr>
              <a:t>Cogn</a:t>
            </a:r>
            <a:r>
              <a:rPr lang="de-DE" sz="900" dirty="0">
                <a:solidFill>
                  <a:srgbClr val="002350"/>
                </a:solidFill>
              </a:rPr>
              <a:t>. </a:t>
            </a:r>
            <a:r>
              <a:rPr lang="de-DE" sz="900" dirty="0" err="1">
                <a:solidFill>
                  <a:srgbClr val="002350"/>
                </a:solidFill>
              </a:rPr>
              <a:t>Sci</a:t>
            </a:r>
            <a:r>
              <a:rPr lang="de-DE" sz="900" dirty="0">
                <a:solidFill>
                  <a:srgbClr val="002350"/>
                </a:solidFill>
              </a:rPr>
              <a:t>. 5 (1), 15–25. https://doi.org/ 10.1002/wcs.1261</a:t>
            </a:r>
          </a:p>
          <a:p>
            <a:endParaRPr lang="de-DE" sz="900" dirty="0">
              <a:solidFill>
                <a:srgbClr val="002350"/>
              </a:solidFill>
            </a:endParaRPr>
          </a:p>
          <a:p>
            <a:endParaRPr lang="de-DE" sz="900" dirty="0">
              <a:solidFill>
                <a:srgbClr val="002350"/>
              </a:solidFill>
            </a:endParaRPr>
          </a:p>
          <a:p>
            <a:endParaRPr lang="de-DE" sz="1600" dirty="0">
              <a:solidFill>
                <a:srgbClr val="002350"/>
              </a:solidFill>
            </a:endParaRPr>
          </a:p>
          <a:p>
            <a:endParaRPr lang="de-DE" sz="1600" dirty="0">
              <a:solidFill>
                <a:srgbClr val="002350"/>
              </a:solidFill>
            </a:endParaRPr>
          </a:p>
          <a:p>
            <a:endParaRPr lang="de-DE" sz="1500" dirty="0"/>
          </a:p>
        </p:txBody>
      </p:sp>
    </p:spTree>
    <p:extLst>
      <p:ext uri="{BB962C8B-B14F-4D97-AF65-F5344CB8AC3E}">
        <p14:creationId xmlns:p14="http://schemas.microsoft.com/office/powerpoint/2010/main" val="19264187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unkel, Vorhang, groß, Uhr enthält.&#10;&#10;Automatisch generierte Beschreibung">
            <a:extLst>
              <a:ext uri="{FF2B5EF4-FFF2-40B4-BE49-F238E27FC236}">
                <a16:creationId xmlns:a16="http://schemas.microsoft.com/office/drawing/2014/main" id="{E35DBA12-3FC0-4D4B-B842-1224C3B5CD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4500000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6D3D9EC9-4FA3-43F8-8E13-AA007EB8A74F}"/>
              </a:ext>
            </a:extLst>
          </p:cNvPr>
          <p:cNvSpPr/>
          <p:nvPr/>
        </p:nvSpPr>
        <p:spPr>
          <a:xfrm>
            <a:off x="343697" y="3242457"/>
            <a:ext cx="2587282" cy="595313"/>
          </a:xfrm>
          <a:prstGeom prst="rect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350" dirty="0"/>
          </a:p>
        </p:txBody>
      </p:sp>
      <p:cxnSp>
        <p:nvCxnSpPr>
          <p:cNvPr id="8" name="Gerade Verbindung 11">
            <a:extLst>
              <a:ext uri="{FF2B5EF4-FFF2-40B4-BE49-F238E27FC236}">
                <a16:creationId xmlns:a16="http://schemas.microsoft.com/office/drawing/2014/main" id="{7E2A05C0-8925-4517-918F-A77612754D04}"/>
              </a:ext>
            </a:extLst>
          </p:cNvPr>
          <p:cNvCxnSpPr/>
          <p:nvPr/>
        </p:nvCxnSpPr>
        <p:spPr>
          <a:xfrm>
            <a:off x="536683" y="3419900"/>
            <a:ext cx="270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C9F15947-D0F7-4D11-A2DA-21A11CD07B42}"/>
              </a:ext>
            </a:extLst>
          </p:cNvPr>
          <p:cNvSpPr txBox="1"/>
          <p:nvPr/>
        </p:nvSpPr>
        <p:spPr>
          <a:xfrm>
            <a:off x="536683" y="3483202"/>
            <a:ext cx="2463692" cy="26545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500" dirty="0" err="1"/>
              <a:t>Thank</a:t>
            </a:r>
            <a:r>
              <a:rPr lang="de-DE" sz="1500" dirty="0"/>
              <a:t> </a:t>
            </a:r>
            <a:r>
              <a:rPr lang="de-DE" sz="1500" dirty="0" err="1"/>
              <a:t>you</a:t>
            </a:r>
            <a:r>
              <a:rPr lang="de-DE" sz="1500" dirty="0"/>
              <a:t> </a:t>
            </a:r>
            <a:r>
              <a:rPr lang="de-DE" sz="1500" dirty="0" err="1"/>
              <a:t>for</a:t>
            </a:r>
            <a:r>
              <a:rPr lang="de-DE" sz="1500" dirty="0"/>
              <a:t> </a:t>
            </a:r>
            <a:r>
              <a:rPr lang="de-DE" sz="1500" dirty="0" err="1"/>
              <a:t>your</a:t>
            </a:r>
            <a:r>
              <a:rPr lang="de-DE" sz="1500" dirty="0"/>
              <a:t> </a:t>
            </a:r>
            <a:r>
              <a:rPr lang="de-DE" sz="1500" dirty="0" err="1"/>
              <a:t>attention</a:t>
            </a:r>
            <a:r>
              <a:rPr lang="de-DE" sz="1500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6940746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E04D2B4-A6B1-4EAC-9006-9B4BC1696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699" y="1089211"/>
            <a:ext cx="2172790" cy="2830606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575B2D0-EA6B-4E6E-9798-D0ED28886C7D}"/>
              </a:ext>
            </a:extLst>
          </p:cNvPr>
          <p:cNvSpPr txBox="1"/>
          <p:nvPr/>
        </p:nvSpPr>
        <p:spPr>
          <a:xfrm>
            <a:off x="840441" y="1324535"/>
            <a:ext cx="19284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Belief/Hypothesis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88148C-CFD8-4BF1-A379-F0006AAFC92C}"/>
              </a:ext>
            </a:extLst>
          </p:cNvPr>
          <p:cNvSpPr txBox="1"/>
          <p:nvPr/>
        </p:nvSpPr>
        <p:spPr>
          <a:xfrm>
            <a:off x="840441" y="2275452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Data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C6DA041-9FC1-4F91-A971-B14FF91774BC}"/>
              </a:ext>
            </a:extLst>
          </p:cNvPr>
          <p:cNvSpPr txBox="1"/>
          <p:nvPr/>
        </p:nvSpPr>
        <p:spPr>
          <a:xfrm>
            <a:off x="840441" y="3226369"/>
            <a:ext cx="1775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Updated Belief</a:t>
            </a:r>
          </a:p>
        </p:txBody>
      </p:sp>
      <p:sp>
        <p:nvSpPr>
          <p:cNvPr id="8" name="Pfeil: nach unten 7">
            <a:extLst>
              <a:ext uri="{FF2B5EF4-FFF2-40B4-BE49-F238E27FC236}">
                <a16:creationId xmlns:a16="http://schemas.microsoft.com/office/drawing/2014/main" id="{45A741A5-7258-407A-BAF1-5BDEB71CF673}"/>
              </a:ext>
            </a:extLst>
          </p:cNvPr>
          <p:cNvSpPr/>
          <p:nvPr/>
        </p:nvSpPr>
        <p:spPr>
          <a:xfrm>
            <a:off x="1583391" y="1840103"/>
            <a:ext cx="289111" cy="289112"/>
          </a:xfrm>
          <a:prstGeom prst="down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3341BF50-79D8-4336-9F06-C41572291514}"/>
              </a:ext>
            </a:extLst>
          </p:cNvPr>
          <p:cNvSpPr/>
          <p:nvPr/>
        </p:nvSpPr>
        <p:spPr>
          <a:xfrm>
            <a:off x="1583390" y="2791020"/>
            <a:ext cx="289111" cy="289112"/>
          </a:xfrm>
          <a:prstGeom prst="downArrow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548277" y="4217362"/>
            <a:ext cx="1309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</p:spTree>
    <p:extLst>
      <p:ext uri="{BB962C8B-B14F-4D97-AF65-F5344CB8AC3E}">
        <p14:creationId xmlns:p14="http://schemas.microsoft.com/office/powerpoint/2010/main" val="8077663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529649" y="4217362"/>
            <a:ext cx="13283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5DBD2DE-A76A-4578-9B7A-FFBC6E416B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980"/>
          <a:stretch/>
        </p:blipFill>
        <p:spPr>
          <a:xfrm>
            <a:off x="1163661" y="1058955"/>
            <a:ext cx="4205778" cy="280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42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D6206-6FC6-6D92-5EBE-EBE2554F1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9">
            <a:extLst>
              <a:ext uri="{FF2B5EF4-FFF2-40B4-BE49-F238E27FC236}">
                <a16:creationId xmlns:a16="http://schemas.microsoft.com/office/drawing/2014/main" id="{8B2427AE-65A6-2FB0-990F-CA341E3274EF}"/>
              </a:ext>
            </a:extLst>
          </p:cNvPr>
          <p:cNvCxnSpPr/>
          <p:nvPr/>
        </p:nvCxnSpPr>
        <p:spPr>
          <a:xfrm>
            <a:off x="340096" y="359248"/>
            <a:ext cx="346895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981AB97-397D-BBAC-320F-B83C82E10EB8}"/>
              </a:ext>
            </a:extLst>
          </p:cNvPr>
          <p:cNvSpPr txBox="1"/>
          <p:nvPr/>
        </p:nvSpPr>
        <p:spPr>
          <a:xfrm>
            <a:off x="338268" y="440204"/>
            <a:ext cx="6162545" cy="30274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de-DE" sz="1600" dirty="0">
                <a:solidFill>
                  <a:srgbClr val="002350"/>
                </a:solidFill>
              </a:rPr>
              <a:t>Little </a:t>
            </a:r>
            <a:r>
              <a:rPr lang="de-DE" sz="1600" dirty="0" err="1">
                <a:solidFill>
                  <a:srgbClr val="002350"/>
                </a:solidFill>
              </a:rPr>
              <a:t>excursion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into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Bayesian</a:t>
            </a:r>
            <a:r>
              <a:rPr lang="de-DE" sz="1600" dirty="0">
                <a:solidFill>
                  <a:srgbClr val="002350"/>
                </a:solidFill>
              </a:rPr>
              <a:t> </a:t>
            </a:r>
            <a:r>
              <a:rPr lang="de-DE" sz="1600" dirty="0" err="1">
                <a:solidFill>
                  <a:srgbClr val="002350"/>
                </a:solidFill>
              </a:rPr>
              <a:t>inference</a:t>
            </a:r>
            <a:r>
              <a:rPr lang="de-DE" sz="1600" dirty="0">
                <a:solidFill>
                  <a:srgbClr val="002350"/>
                </a:solidFill>
              </a:rPr>
              <a:t>…</a:t>
            </a:r>
            <a:endParaRPr lang="de-DE" sz="15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FC8C9D4-3BFF-4344-9944-C0943C6408F5}"/>
              </a:ext>
            </a:extLst>
          </p:cNvPr>
          <p:cNvSpPr txBox="1"/>
          <p:nvPr/>
        </p:nvSpPr>
        <p:spPr>
          <a:xfrm>
            <a:off x="5548184" y="4217362"/>
            <a:ext cx="13098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/>
              <a:t>[Kruschke et al 2026]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5DBD2DE-A76A-4578-9B7A-FFBC6E416B8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980"/>
          <a:stretch/>
        </p:blipFill>
        <p:spPr>
          <a:xfrm>
            <a:off x="1214711" y="1184362"/>
            <a:ext cx="4157387" cy="277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313257"/>
      </p:ext>
    </p:extLst>
  </p:cSld>
  <p:clrMapOvr>
    <a:masterClrMapping/>
  </p:clrMapOvr>
</p:sld>
</file>

<file path=ppt/theme/theme1.xml><?xml version="1.0" encoding="utf-8"?>
<a:theme xmlns:a="http://schemas.openxmlformats.org/drawingml/2006/main" name="Universität Jena">
  <a:themeElements>
    <a:clrScheme name="Universität">
      <a:dk1>
        <a:srgbClr val="002F5D"/>
      </a:dk1>
      <a:lt1>
        <a:srgbClr val="FFFFFF"/>
      </a:lt1>
      <a:dk2>
        <a:srgbClr val="002F5D"/>
      </a:dk2>
      <a:lt2>
        <a:srgbClr val="FFFFFF"/>
      </a:lt2>
      <a:accent1>
        <a:srgbClr val="AE9A63"/>
      </a:accent1>
      <a:accent2>
        <a:srgbClr val="7682A5"/>
      </a:accent2>
      <a:accent3>
        <a:srgbClr val="8E98B7"/>
      </a:accent3>
      <a:accent4>
        <a:srgbClr val="FFFFFF"/>
      </a:accent4>
      <a:accent5>
        <a:srgbClr val="FFFFFF"/>
      </a:accent5>
      <a:accent6>
        <a:srgbClr val="FFFFFF"/>
      </a:accent6>
      <a:hlink>
        <a:srgbClr val="7682A5"/>
      </a:hlink>
      <a:folHlink>
        <a:srgbClr val="A8AFC8"/>
      </a:folHlink>
    </a:clrScheme>
    <a:fontScheme name="Universität">
      <a:majorFont>
        <a:latin typeface="Palatino nova Medium"/>
        <a:ea typeface=""/>
        <a:cs typeface=""/>
      </a:majorFont>
      <a:minorFont>
        <a:latin typeface="Roboto Condensed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alpha val="8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Universität Jena Blau">
  <a:themeElements>
    <a:clrScheme name="Universität">
      <a:dk1>
        <a:srgbClr val="002F5D"/>
      </a:dk1>
      <a:lt1>
        <a:srgbClr val="FFFFFF"/>
      </a:lt1>
      <a:dk2>
        <a:srgbClr val="002F5D"/>
      </a:dk2>
      <a:lt2>
        <a:srgbClr val="FFFFFF"/>
      </a:lt2>
      <a:accent1>
        <a:srgbClr val="AE9A63"/>
      </a:accent1>
      <a:accent2>
        <a:srgbClr val="7682A5"/>
      </a:accent2>
      <a:accent3>
        <a:srgbClr val="8E98B7"/>
      </a:accent3>
      <a:accent4>
        <a:srgbClr val="FFFFFF"/>
      </a:accent4>
      <a:accent5>
        <a:srgbClr val="FFFFFF"/>
      </a:accent5>
      <a:accent6>
        <a:srgbClr val="FFFFFF"/>
      </a:accent6>
      <a:hlink>
        <a:srgbClr val="7682A5"/>
      </a:hlink>
      <a:folHlink>
        <a:srgbClr val="A8AFC8"/>
      </a:folHlink>
    </a:clrScheme>
    <a:fontScheme name="Universität">
      <a:majorFont>
        <a:latin typeface="Palatino nova Medium"/>
        <a:ea typeface=""/>
        <a:cs typeface=""/>
      </a:majorFont>
      <a:minorFont>
        <a:latin typeface="Roboto Condensed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alpha val="80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1755</Words>
  <Application>Microsoft Office PowerPoint</Application>
  <PresentationFormat>Benutzerdefiniert</PresentationFormat>
  <Paragraphs>314</Paragraphs>
  <Slides>42</Slides>
  <Notes>42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42</vt:i4>
      </vt:variant>
    </vt:vector>
  </HeadingPairs>
  <TitlesOfParts>
    <vt:vector size="48" baseType="lpstr">
      <vt:lpstr>Arial</vt:lpstr>
      <vt:lpstr>Palatino Linotype</vt:lpstr>
      <vt:lpstr>Calibri</vt:lpstr>
      <vt:lpstr>Roboto Condensed</vt:lpstr>
      <vt:lpstr>Universität Jena</vt:lpstr>
      <vt:lpstr>Universität Jena Blau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FSU Jena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Liana Franke</dc:creator>
  <cp:lastModifiedBy>christine.nussbaum</cp:lastModifiedBy>
  <cp:revision>1010</cp:revision>
  <cp:lastPrinted>2017-04-12T09:06:57Z</cp:lastPrinted>
  <dcterms:created xsi:type="dcterms:W3CDTF">2017-03-23T10:34:48Z</dcterms:created>
  <dcterms:modified xsi:type="dcterms:W3CDTF">2026-10-27T14:28:04Z</dcterms:modified>
</cp:coreProperties>
</file>