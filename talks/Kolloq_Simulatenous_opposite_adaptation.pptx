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bookmarkIdSeed="18">
  <p:sldMasterIdLst>
    <p:sldMasterId id="2147483648" r:id="rId1"/>
    <p:sldMasterId id="2147483655" r:id="rId2"/>
  </p:sldMasterIdLst>
  <p:notesMasterIdLst>
    <p:notesMasterId r:id="rId36"/>
  </p:notesMasterIdLst>
  <p:handoutMasterIdLst>
    <p:handoutMasterId r:id="rId37"/>
  </p:handoutMasterIdLst>
  <p:sldIdLst>
    <p:sldId id="257" r:id="rId3"/>
    <p:sldId id="378" r:id="rId4"/>
    <p:sldId id="370" r:id="rId5"/>
    <p:sldId id="287" r:id="rId6"/>
    <p:sldId id="377" r:id="rId7"/>
    <p:sldId id="379" r:id="rId8"/>
    <p:sldId id="371" r:id="rId9"/>
    <p:sldId id="372" r:id="rId10"/>
    <p:sldId id="373" r:id="rId11"/>
    <p:sldId id="374" r:id="rId12"/>
    <p:sldId id="380" r:id="rId13"/>
    <p:sldId id="376" r:id="rId14"/>
    <p:sldId id="381" r:id="rId15"/>
    <p:sldId id="382" r:id="rId16"/>
    <p:sldId id="341" r:id="rId17"/>
    <p:sldId id="340" r:id="rId18"/>
    <p:sldId id="348" r:id="rId19"/>
    <p:sldId id="383" r:id="rId20"/>
    <p:sldId id="384" r:id="rId21"/>
    <p:sldId id="385" r:id="rId22"/>
    <p:sldId id="386" r:id="rId23"/>
    <p:sldId id="387" r:id="rId24"/>
    <p:sldId id="388" r:id="rId25"/>
    <p:sldId id="389" r:id="rId26"/>
    <p:sldId id="390" r:id="rId27"/>
    <p:sldId id="391" r:id="rId28"/>
    <p:sldId id="392" r:id="rId29"/>
    <p:sldId id="393" r:id="rId30"/>
    <p:sldId id="394" r:id="rId31"/>
    <p:sldId id="395" r:id="rId32"/>
    <p:sldId id="396" r:id="rId33"/>
    <p:sldId id="397" r:id="rId34"/>
    <p:sldId id="345" r:id="rId35"/>
  </p:sldIdLst>
  <p:sldSz cx="6858000" cy="5143500"/>
  <p:notesSz cx="6858000" cy="9144000"/>
  <p:embeddedFontLst>
    <p:embeddedFont>
      <p:font typeface="Palatino Linotype" panose="02040502050505030304" pitchFamily="18" charset="0"/>
      <p:regular r:id="rId38"/>
      <p:bold r:id="rId39"/>
      <p:italic r:id="rId40"/>
      <p:boldItalic r:id="rId41"/>
    </p:embeddedFont>
    <p:embeddedFont>
      <p:font typeface="Roboto Condensed" panose="02000000000000000000" pitchFamily="2" charset="0"/>
      <p:regular r:id="rId42"/>
      <p:bold r:id="rId43"/>
      <p:italic r:id="rId44"/>
      <p:boldItalic r:id="rId45"/>
    </p:embeddedFont>
  </p:embeddedFontLst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tandardabschnitt" id="{BDFBC878-E374-47AB-B12C-C90681FF5C42}">
          <p14:sldIdLst>
            <p14:sldId id="257"/>
            <p14:sldId id="378"/>
            <p14:sldId id="370"/>
            <p14:sldId id="287"/>
            <p14:sldId id="377"/>
            <p14:sldId id="379"/>
            <p14:sldId id="371"/>
            <p14:sldId id="372"/>
            <p14:sldId id="373"/>
            <p14:sldId id="374"/>
            <p14:sldId id="380"/>
            <p14:sldId id="376"/>
            <p14:sldId id="381"/>
            <p14:sldId id="382"/>
            <p14:sldId id="341"/>
            <p14:sldId id="340"/>
            <p14:sldId id="348"/>
            <p14:sldId id="383"/>
            <p14:sldId id="384"/>
            <p14:sldId id="385"/>
            <p14:sldId id="386"/>
            <p14:sldId id="387"/>
            <p14:sldId id="388"/>
            <p14:sldId id="389"/>
            <p14:sldId id="390"/>
            <p14:sldId id="391"/>
            <p14:sldId id="392"/>
            <p14:sldId id="393"/>
            <p14:sldId id="394"/>
            <p14:sldId id="395"/>
            <p14:sldId id="396"/>
            <p14:sldId id="397"/>
            <p14:sldId id="345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orient="horz" pos="3162" userDrawn="1">
          <p15:clr>
            <a:srgbClr val="A4A3A4"/>
          </p15:clr>
        </p15:guide>
        <p15:guide id="3" orient="horz" pos="2414" userDrawn="1">
          <p15:clr>
            <a:srgbClr val="A4A3A4"/>
          </p15:clr>
        </p15:guide>
        <p15:guide id="5" orient="horz" pos="2867" userDrawn="1">
          <p15:clr>
            <a:srgbClr val="A4A3A4"/>
          </p15:clr>
        </p15:guide>
        <p15:guide id="6" orient="horz" pos="214" userDrawn="1">
          <p15:clr>
            <a:srgbClr val="A4A3A4"/>
          </p15:clr>
        </p15:guide>
        <p15:guide id="7" orient="horz" pos="696" userDrawn="1">
          <p15:clr>
            <a:srgbClr val="A4A3A4"/>
          </p15:clr>
        </p15:guide>
        <p15:guide id="8" orient="horz" pos="2709" userDrawn="1">
          <p15:clr>
            <a:srgbClr val="A4A3A4"/>
          </p15:clr>
        </p15:guide>
        <p15:guide id="9" pos="1514" userDrawn="1">
          <p15:clr>
            <a:srgbClr val="A4A3A4"/>
          </p15:clr>
        </p15:guide>
        <p15:guide id="10" pos="1292" userDrawn="1">
          <p15:clr>
            <a:srgbClr val="A4A3A4"/>
          </p15:clr>
        </p15:guide>
        <p15:guide id="11" pos="4106" userDrawn="1">
          <p15:clr>
            <a:srgbClr val="A4A3A4"/>
          </p15:clr>
        </p15:guide>
        <p15:guide id="12" pos="221" userDrawn="1">
          <p15:clr>
            <a:srgbClr val="A4A3A4"/>
          </p15:clr>
        </p15:guide>
        <p15:guide id="13" pos="3025" userDrawn="1">
          <p15:clr>
            <a:srgbClr val="A4A3A4"/>
          </p15:clr>
        </p15:guide>
        <p15:guide id="14" pos="2809" userDrawn="1">
          <p15:clr>
            <a:srgbClr val="A4A3A4"/>
          </p15:clr>
        </p15:guide>
        <p15:guide id="15" pos="2378" userDrawn="1">
          <p15:clr>
            <a:srgbClr val="A4A3A4"/>
          </p15:clr>
        </p15:guide>
        <p15:guide id="16" pos="433" userDrawn="1">
          <p15:clr>
            <a:srgbClr val="A4A3A4"/>
          </p15:clr>
        </p15:guide>
        <p15:guide id="17" pos="648" userDrawn="1">
          <p15:clr>
            <a:srgbClr val="A4A3A4"/>
          </p15:clr>
        </p15:guide>
        <p15:guide id="18" pos="867" userDrawn="1">
          <p15:clr>
            <a:srgbClr val="A4A3A4"/>
          </p15:clr>
        </p15:guide>
        <p15:guide id="19" pos="1082" userDrawn="1">
          <p15:clr>
            <a:srgbClr val="A4A3A4"/>
          </p15:clr>
        </p15:guide>
        <p15:guide id="20" pos="1734" userDrawn="1">
          <p15:clr>
            <a:srgbClr val="A4A3A4"/>
          </p15:clr>
        </p15:guide>
        <p15:guide id="21" pos="1946" userDrawn="1">
          <p15:clr>
            <a:srgbClr val="A4A3A4"/>
          </p15:clr>
        </p15:guide>
        <p15:guide id="22" pos="2160" userDrawn="1">
          <p15:clr>
            <a:srgbClr val="A4A3A4"/>
          </p15:clr>
        </p15:guide>
        <p15:guide id="23" pos="2594" userDrawn="1">
          <p15:clr>
            <a:srgbClr val="A4A3A4"/>
          </p15:clr>
        </p15:guide>
        <p15:guide id="25" pos="3453" userDrawn="1">
          <p15:clr>
            <a:srgbClr val="A4A3A4"/>
          </p15:clr>
        </p15:guide>
        <p15:guide id="26" pos="3674" userDrawn="1">
          <p15:clr>
            <a:srgbClr val="A4A3A4"/>
          </p15:clr>
        </p15:guide>
        <p15:guide id="27" pos="3890" userDrawn="1">
          <p15:clr>
            <a:srgbClr val="A4A3A4"/>
          </p15:clr>
        </p15:guide>
        <p15:guide id="28" orient="horz" pos="3153" userDrawn="1">
          <p15:clr>
            <a:srgbClr val="A4A3A4"/>
          </p15:clr>
        </p15:guide>
        <p15:guide id="29" orient="horz" pos="2836" userDrawn="1">
          <p15:clr>
            <a:srgbClr val="A4A3A4"/>
          </p15:clr>
        </p15:guide>
        <p15:guide id="30" pos="324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434"/>
    <a:srgbClr val="5C005E"/>
    <a:srgbClr val="000000"/>
    <a:srgbClr val="FFFFFF"/>
    <a:srgbClr val="FADD2E"/>
    <a:srgbClr val="F0A050"/>
    <a:srgbClr val="6DC41E"/>
    <a:srgbClr val="F272D7"/>
    <a:srgbClr val="002F5D"/>
    <a:srgbClr val="BD9F2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BBC31B6-0F35-409D-A4E9-91F389ADABCA}" v="3" dt="2022-03-13T19:45:58.02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ittlere Formatvorlag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0A15C55-8517-42AA-B614-E9B94910E393}" styleName="Mittlere Formatvorlage 2 - Akz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F5AB1C69-6EDB-4FF4-983F-18BD219EF322}" styleName="Mittlere Formatvorlage 2 - Akz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EB344D84-9AFB-497E-A393-DC336BA19D2E}" styleName="Mittlere Formatvorlage 3 - Akz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8EC20E35-A176-4012-BC5E-935CFFF8708E}" styleName="Mittlere Formatvorlag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16D9F66E-5EB9-4882-86FB-DCBF35E3C3E4}" styleName="Mittlere Formatvorlage 4 - Akz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22838BEF-8BB2-4498-84A7-C5851F593DF1}" styleName="Mittlere Formatvorlage 4 - Akz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C4B1156A-380E-4F78-BDF5-A606A8083BF9}" styleName="Mittlere Formatvorlage 4 - Akz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E8034E78-7F5D-4C2E-B375-FC64B27BC917}" styleName="Dunkle Formatvorlag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8FD4443E-F989-4FC4-A0C8-D5A2AF1F390B}" styleName="Dunkle Formatvorlage 1 - Akz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AF606853-7671-496A-8E4F-DF71F8EC918B}" styleName="Dunkle Formatvorlage 1 - Akzent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46F890A9-2807-4EBB-B81D-B2AA78EC7F39}" styleName="Dunkle Formatvorlage 2 - Akzent 5/Akz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91EBBBCC-DAD2-459C-BE2E-F6DE35CF9A28}" styleName="Dunkle Formatvorlage 2 - Akzent 3/Akz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0660B408-B3CF-4A94-85FC-2B1E0A45F4A2}" styleName="Dunkle Formatvorlage 2 - Akzent 1/Akz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5202B0CA-FC54-4496-8BCA-5EF66A818D29}" styleName="Dunkle Formatvorlag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0505E3EF-67EA-436B-97B2-0124C06EBD24}" styleName="Mittlere Formatvorlage 4 - Akz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69CF1AB2-1976-4502-BF36-3FF5EA218861}" styleName="Mittlere Formatvorlage 4 - Akz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2A488322-F2BA-4B5B-9748-0D474271808F}" styleName="Mittlere Formatvorlage 3 - Akz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4C1A8A3-306A-4EB7-A6B1-4F7E0EB9C5D6}" styleName="Mittlere Formatvorlage 3 - Akz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EB9631B5-78F2-41C9-869B-9F39066F8104}" styleName="Mittlere Formatvorlage 3 - Akz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85BE263C-DBD7-4A20-BB59-AAB30ACAA65A}" styleName="Mittlere Formatvorlage 3 - Akz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6E25E649-3F16-4E02-A733-19D2CDBF48F0}" styleName="Mittlere Formatvorlage 3 - Akz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ittlere Formatvorlage 2 - Akz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DF18680-E054-41AD-8BC1-D1AEF772440D}" styleName="Mittlere Formatvorlage 2 - Akz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1E4AEA4-8DFA-4A89-87EB-49C32662AFE0}" styleName="Mittlere Formatvorlage 2 - Akz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17292A2E-F333-43FB-9621-5CBBE7FDCDCB}" styleName="Helle Formatvorlage 2 - Akz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5A111915-BE36-4E01-A7E5-04B1672EAD32}" styleName="Helle Formatvorlage 2 - Akz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912C8C85-51F0-491E-9774-3900AFEF0FD7}" styleName="Helle Formatvorlage 2 - Akz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E8B1032C-EA38-4F05-BA0D-38AFFFC7BED3}" styleName="Helle Formatvorlage 3 - Akz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BDBED569-4797-4DF1-A0F4-6AAB3CD982D8}" styleName="Helle Formatvorlage 3 - Akz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ED083AE6-46FA-4A59-8FB0-9F97EB10719F}" styleName="Helle Formatvorlage 3 - Akz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7E9639D4-E3E2-4D34-9284-5A2195B3D0D7}" styleName="Helle Formatvorlag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38B1855-1B75-4FBE-930C-398BA8C253C6}" styleName="Designformatvorlage 2 - Akzent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27F97BB-C833-4FB7-BDE5-3F7075034690}" styleName="Designformatvorlage 2 - Akz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E269D01E-BC32-4049-B463-5C60D7B0CCD2}" styleName="Designformatvorlage 2 - Akz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9D7B26C5-4107-4FEC-AEDC-1716B250A1EF}" styleName="Helle Formatvorlag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B4B98B0-60AC-42C2-AFA5-B58CD77FA1E5}" styleName="Helle Formatvorlage 1 - Akz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793D81CF-94F2-401A-BA57-92F5A7B2D0C5}" styleName="Mittlere Formatvorlag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E929F9F4-4A8F-4326-A1B4-22849713DDAB}" styleName="Dunkle Formatvorlage 1 - Akz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12" autoAdjust="0"/>
    <p:restoredTop sz="95455" autoAdjust="0"/>
  </p:normalViewPr>
  <p:slideViewPr>
    <p:cSldViewPr snapToGrid="0" snapToObjects="1">
      <p:cViewPr varScale="1">
        <p:scale>
          <a:sx n="160" d="100"/>
          <a:sy n="160" d="100"/>
        </p:scale>
        <p:origin x="1218" y="126"/>
      </p:cViewPr>
      <p:guideLst>
        <p:guide orient="horz" pos="1620"/>
        <p:guide orient="horz" pos="3162"/>
        <p:guide orient="horz" pos="2414"/>
        <p:guide orient="horz" pos="2867"/>
        <p:guide orient="horz" pos="214"/>
        <p:guide orient="horz" pos="696"/>
        <p:guide orient="horz" pos="2709"/>
        <p:guide pos="1514"/>
        <p:guide pos="1292"/>
        <p:guide pos="4106"/>
        <p:guide pos="221"/>
        <p:guide pos="3025"/>
        <p:guide pos="2809"/>
        <p:guide pos="2378"/>
        <p:guide pos="433"/>
        <p:guide pos="648"/>
        <p:guide pos="867"/>
        <p:guide pos="1082"/>
        <p:guide pos="1734"/>
        <p:guide pos="1946"/>
        <p:guide pos="2160"/>
        <p:guide pos="2594"/>
        <p:guide pos="3453"/>
        <p:guide pos="3674"/>
        <p:guide pos="3890"/>
        <p:guide orient="horz" pos="3153"/>
        <p:guide orient="horz" pos="2836"/>
        <p:guide pos="324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notesViewPr>
    <p:cSldViewPr snapToGrid="0" snapToObjects="1" showGuides="1">
      <p:cViewPr varScale="1">
        <p:scale>
          <a:sx n="99" d="100"/>
          <a:sy n="99" d="100"/>
        </p:scale>
        <p:origin x="3570" y="84"/>
      </p:cViewPr>
      <p:guideLst>
        <p:guide orient="horz" pos="2880"/>
        <p:guide pos="2160"/>
      </p:guideLst>
    </p:cSldViewPr>
  </p:notesViewPr>
  <p:gridSpacing cx="36004" cy="36004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font" Target="fonts/font2.fntdata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font" Target="fonts/font5.fntdata"/><Relationship Id="rId47" Type="http://schemas.openxmlformats.org/officeDocument/2006/relationships/viewProps" Target="viewProps.xml"/><Relationship Id="rId50" Type="http://schemas.microsoft.com/office/2016/11/relationships/changesInfo" Target="changesInfos/changesInfo1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handoutMaster" Target="handoutMasters/handoutMaster1.xml"/><Relationship Id="rId40" Type="http://schemas.openxmlformats.org/officeDocument/2006/relationships/font" Target="fonts/font3.fntdata"/><Relationship Id="rId45" Type="http://schemas.openxmlformats.org/officeDocument/2006/relationships/font" Target="fonts/font8.fntdata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notesMaster" Target="notesMasters/notesMaster1.xml"/><Relationship Id="rId49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font" Target="fonts/font7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font" Target="fonts/font6.fntdata"/><Relationship Id="rId48" Type="http://schemas.openxmlformats.org/officeDocument/2006/relationships/theme" Target="theme/theme1.xml"/><Relationship Id="rId8" Type="http://schemas.openxmlformats.org/officeDocument/2006/relationships/slide" Target="slides/slide6.xml"/><Relationship Id="rId51" Type="http://schemas.microsoft.com/office/2015/10/relationships/revisionInfo" Target="revisionInfo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font" Target="fonts/font1.fntdata"/><Relationship Id="rId46" Type="http://schemas.openxmlformats.org/officeDocument/2006/relationships/presProps" Target="presProps.xml"/><Relationship Id="rId20" Type="http://schemas.openxmlformats.org/officeDocument/2006/relationships/slide" Target="slides/slide18.xml"/><Relationship Id="rId41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nuel.poehlmann" userId="e2b2f413-eab3-4bb7-8add-c1576b4e2d19" providerId="ADAL" clId="{0BBC31B6-0F35-409D-A4E9-91F389ADABCA}"/>
    <pc:docChg chg="custSel modSld">
      <pc:chgData name="manuel.poehlmann" userId="e2b2f413-eab3-4bb7-8add-c1576b4e2d19" providerId="ADAL" clId="{0BBC31B6-0F35-409D-A4E9-91F389ADABCA}" dt="2022-03-13T19:46:09.273" v="16" actId="1076"/>
      <pc:docMkLst>
        <pc:docMk/>
      </pc:docMkLst>
      <pc:sldChg chg="addSp modSp mod modAnim">
        <pc:chgData name="manuel.poehlmann" userId="e2b2f413-eab3-4bb7-8add-c1576b4e2d19" providerId="ADAL" clId="{0BBC31B6-0F35-409D-A4E9-91F389ADABCA}" dt="2022-03-13T19:45:29.444" v="11" actId="1076"/>
        <pc:sldMkLst>
          <pc:docMk/>
          <pc:sldMk cId="3885464133" sldId="308"/>
        </pc:sldMkLst>
        <pc:spChg chg="mod">
          <ac:chgData name="manuel.poehlmann" userId="e2b2f413-eab3-4bb7-8add-c1576b4e2d19" providerId="ADAL" clId="{0BBC31B6-0F35-409D-A4E9-91F389ADABCA}" dt="2022-03-08T15:00:54.138" v="0" actId="114"/>
          <ac:spMkLst>
            <pc:docMk/>
            <pc:sldMk cId="3885464133" sldId="308"/>
            <ac:spMk id="9" creationId="{60BF4B33-E122-4F10-8DBB-76771B9B1BE5}"/>
          </ac:spMkLst>
        </pc:spChg>
        <pc:spChg chg="mod">
          <ac:chgData name="manuel.poehlmann" userId="e2b2f413-eab3-4bb7-8add-c1576b4e2d19" providerId="ADAL" clId="{0BBC31B6-0F35-409D-A4E9-91F389ADABCA}" dt="2022-03-08T15:01:03.700" v="9" actId="20577"/>
          <ac:spMkLst>
            <pc:docMk/>
            <pc:sldMk cId="3885464133" sldId="308"/>
            <ac:spMk id="10" creationId="{1036E502-672A-44EC-8792-525EDC3B4F60}"/>
          </ac:spMkLst>
        </pc:spChg>
        <pc:picChg chg="add mod">
          <ac:chgData name="manuel.poehlmann" userId="e2b2f413-eab3-4bb7-8add-c1576b4e2d19" providerId="ADAL" clId="{0BBC31B6-0F35-409D-A4E9-91F389ADABCA}" dt="2022-03-13T19:45:29.444" v="11" actId="1076"/>
          <ac:picMkLst>
            <pc:docMk/>
            <pc:sldMk cId="3885464133" sldId="308"/>
            <ac:picMk id="3" creationId="{3D3E5862-6116-4575-9EB0-5334E3962961}"/>
          </ac:picMkLst>
        </pc:picChg>
      </pc:sldChg>
      <pc:sldChg chg="addSp modSp mod modAnim">
        <pc:chgData name="manuel.poehlmann" userId="e2b2f413-eab3-4bb7-8add-c1576b4e2d19" providerId="ADAL" clId="{0BBC31B6-0F35-409D-A4E9-91F389ADABCA}" dt="2022-03-13T19:45:46.021" v="13" actId="1076"/>
        <pc:sldMkLst>
          <pc:docMk/>
          <pc:sldMk cId="3985052763" sldId="311"/>
        </pc:sldMkLst>
        <pc:picChg chg="add mod">
          <ac:chgData name="manuel.poehlmann" userId="e2b2f413-eab3-4bb7-8add-c1576b4e2d19" providerId="ADAL" clId="{0BBC31B6-0F35-409D-A4E9-91F389ADABCA}" dt="2022-03-13T19:45:46.021" v="13" actId="1076"/>
          <ac:picMkLst>
            <pc:docMk/>
            <pc:sldMk cId="3985052763" sldId="311"/>
            <ac:picMk id="2" creationId="{72109BF2-C6B3-4F30-93E8-4C4FCE93E3D5}"/>
          </ac:picMkLst>
        </pc:picChg>
      </pc:sldChg>
      <pc:sldChg chg="addSp modSp mod modAnim">
        <pc:chgData name="manuel.poehlmann" userId="e2b2f413-eab3-4bb7-8add-c1576b4e2d19" providerId="ADAL" clId="{0BBC31B6-0F35-409D-A4E9-91F389ADABCA}" dt="2022-03-13T19:46:09.273" v="16" actId="1076"/>
        <pc:sldMkLst>
          <pc:docMk/>
          <pc:sldMk cId="4113173992" sldId="315"/>
        </pc:sldMkLst>
        <pc:picChg chg="add mod">
          <ac:chgData name="manuel.poehlmann" userId="e2b2f413-eab3-4bb7-8add-c1576b4e2d19" providerId="ADAL" clId="{0BBC31B6-0F35-409D-A4E9-91F389ADABCA}" dt="2022-03-13T19:46:09.273" v="16" actId="1076"/>
          <ac:picMkLst>
            <pc:docMk/>
            <pc:sldMk cId="4113173992" sldId="315"/>
            <ac:picMk id="3" creationId="{AB172EE4-0E1D-40ED-AEDD-22AC7F37E791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52642F8-4030-468B-846F-DE3B6AB6CE0D}" type="datetimeFigureOut">
              <a:rPr lang="de-DE" smtClean="0"/>
              <a:t>23.10.2026</a:t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A6AA542-7317-4AC6-A4A4-9C0CA743576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0249628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1AB2040-EA4D-4002-BC41-13AC0377AF84}" type="datetimeFigureOut">
              <a:rPr lang="de-DE" smtClean="0"/>
              <a:t>23.10.2026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DADD7A-5464-40FD-B5CC-4CA36D7CC1F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953059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de-DE" dirty="0"/>
              <a:t>Technical </a:t>
            </a:r>
            <a:r>
              <a:rPr lang="de-DE" dirty="0" err="1"/>
              <a:t>term</a:t>
            </a:r>
            <a:r>
              <a:rPr lang="de-DE" dirty="0"/>
              <a:t> -&gt; I </a:t>
            </a:r>
            <a:r>
              <a:rPr lang="de-DE" dirty="0" err="1"/>
              <a:t>apologize</a:t>
            </a:r>
            <a:endParaRPr lang="de-DE" dirty="0"/>
          </a:p>
          <a:p>
            <a:pPr marL="171450" indent="-171450">
              <a:buFontTx/>
              <a:buChar char="-"/>
            </a:pP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BDADD7A-5464-40FD-B5CC-4CA36D7CC1F5}" type="slidenum">
              <a:rPr lang="de-DE" smtClean="0"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3051712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AC5A5C-73B0-940B-B468-6980C7D4B7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61E9E048-3ECB-CE86-BD71-EF90BE9BB5C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EB6F7E6F-0203-30F6-AD0B-E7F09CBD5A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de-DE" dirty="0"/>
              <a:t>Change </a:t>
            </a:r>
            <a:r>
              <a:rPr lang="de-DE" dirty="0" err="1"/>
              <a:t>within</a:t>
            </a:r>
            <a:r>
              <a:rPr lang="de-DE" dirty="0"/>
              <a:t> an </a:t>
            </a:r>
            <a:r>
              <a:rPr lang="de-DE" dirty="0" err="1"/>
              <a:t>interactional</a:t>
            </a:r>
            <a:r>
              <a:rPr lang="de-DE" dirty="0"/>
              <a:t> </a:t>
            </a:r>
            <a:r>
              <a:rPr lang="de-DE" dirty="0" err="1"/>
              <a:t>context</a:t>
            </a:r>
            <a:r>
              <a:rPr lang="de-DE" dirty="0"/>
              <a:t> </a:t>
            </a:r>
            <a:r>
              <a:rPr lang="de-DE" dirty="0" err="1"/>
              <a:t>or</a:t>
            </a:r>
            <a:r>
              <a:rPr lang="de-DE" dirty="0"/>
              <a:t> not</a:t>
            </a:r>
          </a:p>
          <a:p>
            <a:pPr marL="171450" indent="-171450">
              <a:buFontTx/>
              <a:buChar char="-"/>
            </a:pP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559FEFEE-252B-3A8E-8354-B683608E760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DADD7A-5464-40FD-B5CC-4CA36D7CC1F5}" type="slidenum">
              <a:rPr lang="de-DE" smtClean="0"/>
              <a:t>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22813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de-DE" dirty="0"/>
              <a:t>Pick </a:t>
            </a:r>
            <a:r>
              <a:rPr lang="de-DE" dirty="0" err="1"/>
              <a:t>them</a:t>
            </a:r>
            <a:r>
              <a:rPr lang="de-DE" dirty="0"/>
              <a:t> </a:t>
            </a:r>
            <a:r>
              <a:rPr lang="de-DE" dirty="0" err="1"/>
              <a:t>up</a:t>
            </a:r>
            <a:r>
              <a:rPr lang="de-DE" dirty="0"/>
              <a:t> and </a:t>
            </a:r>
            <a:r>
              <a:rPr lang="de-DE" dirty="0" err="1"/>
              <a:t>process</a:t>
            </a:r>
            <a:r>
              <a:rPr lang="de-DE" dirty="0"/>
              <a:t> </a:t>
            </a:r>
            <a:r>
              <a:rPr lang="de-DE" dirty="0" err="1"/>
              <a:t>them</a:t>
            </a:r>
            <a:r>
              <a:rPr lang="de-DE" dirty="0"/>
              <a:t> </a:t>
            </a:r>
            <a:r>
              <a:rPr lang="de-DE" dirty="0" err="1"/>
              <a:t>very</a:t>
            </a:r>
            <a:r>
              <a:rPr lang="de-DE" dirty="0"/>
              <a:t> fast</a:t>
            </a:r>
          </a:p>
          <a:p>
            <a:pPr marL="171450" indent="-171450">
              <a:buFontTx/>
              <a:buChar char="-"/>
            </a:pPr>
            <a:r>
              <a:rPr lang="de-DE" dirty="0" err="1"/>
              <a:t>They</a:t>
            </a:r>
            <a:r>
              <a:rPr lang="de-DE" dirty="0"/>
              <a:t> </a:t>
            </a:r>
            <a:r>
              <a:rPr lang="de-DE" dirty="0" err="1"/>
              <a:t>can</a:t>
            </a:r>
            <a:r>
              <a:rPr lang="de-DE" dirty="0"/>
              <a:t> change </a:t>
            </a:r>
            <a:r>
              <a:rPr lang="de-DE" dirty="0" err="1"/>
              <a:t>within</a:t>
            </a:r>
            <a:r>
              <a:rPr lang="de-DE" dirty="0"/>
              <a:t> a </a:t>
            </a:r>
            <a:r>
              <a:rPr lang="de-DE" dirty="0" err="1"/>
              <a:t>few</a:t>
            </a:r>
            <a:r>
              <a:rPr lang="de-DE" dirty="0"/>
              <a:t> </a:t>
            </a:r>
            <a:r>
              <a:rPr lang="de-DE" dirty="0" err="1"/>
              <a:t>seconds</a:t>
            </a:r>
            <a:endParaRPr lang="de-DE" dirty="0"/>
          </a:p>
          <a:p>
            <a:pPr marL="171450" indent="-171450">
              <a:buFontTx/>
              <a:buChar char="-"/>
            </a:pPr>
            <a:r>
              <a:rPr lang="de-DE" dirty="0"/>
              <a:t>Real time </a:t>
            </a:r>
            <a:r>
              <a:rPr lang="de-DE" dirty="0" err="1"/>
              <a:t>monitoring</a:t>
            </a:r>
            <a:r>
              <a:rPr lang="de-DE" dirty="0"/>
              <a:t> of the </a:t>
            </a:r>
            <a:r>
              <a:rPr lang="de-DE" dirty="0" err="1"/>
              <a:t>auditory</a:t>
            </a:r>
            <a:r>
              <a:rPr lang="de-DE" dirty="0"/>
              <a:t> </a:t>
            </a:r>
            <a:r>
              <a:rPr lang="de-DE" dirty="0" err="1"/>
              <a:t>input</a:t>
            </a:r>
            <a:endParaRPr lang="de-DE" dirty="0"/>
          </a:p>
          <a:p>
            <a:pPr marL="171450" indent="-171450">
              <a:buFontTx/>
              <a:buChar char="-"/>
            </a:pPr>
            <a:r>
              <a:rPr lang="de-DE" dirty="0"/>
              <a:t>Very </a:t>
            </a:r>
            <a:r>
              <a:rPr lang="de-DE" dirty="0" err="1"/>
              <a:t>tremendously</a:t>
            </a:r>
            <a:r>
              <a:rPr lang="de-DE" dirty="0"/>
              <a:t> 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DADD7A-5464-40FD-B5CC-4CA36D7CC1F5}" type="slidenum">
              <a:rPr lang="de-DE" smtClean="0"/>
              <a:t>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5066355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9C2616-3CD1-B2C4-00DA-4358DD7A9D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02E406C7-D350-D176-722A-8A5D2323E3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92C6970B-1F5C-B053-54A3-9C99C91DDF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de-DE" dirty="0" err="1"/>
              <a:t>We</a:t>
            </a:r>
            <a:r>
              <a:rPr lang="de-DE" dirty="0"/>
              <a:t> tune </a:t>
            </a:r>
            <a:r>
              <a:rPr lang="de-DE" dirty="0" err="1"/>
              <a:t>into</a:t>
            </a:r>
            <a:r>
              <a:rPr lang="de-DE" dirty="0"/>
              <a:t> </a:t>
            </a:r>
            <a:r>
              <a:rPr lang="de-DE" dirty="0" err="1"/>
              <a:t>contexts</a:t>
            </a:r>
            <a:r>
              <a:rPr lang="de-DE" dirty="0"/>
              <a:t> and </a:t>
            </a:r>
            <a:r>
              <a:rPr lang="de-DE" dirty="0" err="1"/>
              <a:t>speakers</a:t>
            </a:r>
            <a:endParaRPr lang="de-DE" dirty="0"/>
          </a:p>
          <a:p>
            <a:pPr marL="171450" indent="-171450">
              <a:buFontTx/>
              <a:buChar char="-"/>
            </a:pPr>
            <a:r>
              <a:rPr lang="de-DE" dirty="0" err="1"/>
              <a:t>We</a:t>
            </a:r>
            <a:r>
              <a:rPr lang="de-DE" dirty="0"/>
              <a:t> </a:t>
            </a:r>
            <a:r>
              <a:rPr lang="de-DE" dirty="0" err="1"/>
              <a:t>use</a:t>
            </a:r>
            <a:r>
              <a:rPr lang="de-DE" dirty="0"/>
              <a:t> </a:t>
            </a:r>
            <a:r>
              <a:rPr lang="de-DE" dirty="0" err="1"/>
              <a:t>whatever</a:t>
            </a:r>
            <a:r>
              <a:rPr lang="de-DE" dirty="0"/>
              <a:t> </a:t>
            </a:r>
            <a:r>
              <a:rPr lang="de-DE" dirty="0" err="1"/>
              <a:t>cues</a:t>
            </a:r>
            <a:r>
              <a:rPr lang="de-DE" dirty="0"/>
              <a:t> </a:t>
            </a:r>
            <a:r>
              <a:rPr lang="de-DE" dirty="0" err="1"/>
              <a:t>are</a:t>
            </a:r>
            <a:r>
              <a:rPr lang="de-DE" dirty="0"/>
              <a:t> informative</a:t>
            </a:r>
          </a:p>
          <a:p>
            <a:pPr marL="171450" indent="-171450">
              <a:buFontTx/>
              <a:buChar char="-"/>
            </a:pPr>
            <a:r>
              <a:rPr lang="de-DE" dirty="0"/>
              <a:t>Speaker express </a:t>
            </a:r>
            <a:r>
              <a:rPr lang="de-DE" dirty="0" err="1"/>
              <a:t>emotions</a:t>
            </a:r>
            <a:r>
              <a:rPr lang="de-DE" dirty="0"/>
              <a:t> </a:t>
            </a:r>
            <a:r>
              <a:rPr lang="de-DE" dirty="0" err="1"/>
              <a:t>very</a:t>
            </a:r>
            <a:r>
              <a:rPr lang="de-DE" dirty="0"/>
              <a:t> </a:t>
            </a:r>
            <a:r>
              <a:rPr lang="de-DE" dirty="0" err="1"/>
              <a:t>differently</a:t>
            </a:r>
            <a:r>
              <a:rPr lang="de-DE" dirty="0"/>
              <a:t>, but </a:t>
            </a:r>
            <a:r>
              <a:rPr lang="de-DE" dirty="0" err="1"/>
              <a:t>are</a:t>
            </a:r>
            <a:r>
              <a:rPr lang="de-DE" dirty="0"/>
              <a:t> </a:t>
            </a:r>
            <a:r>
              <a:rPr lang="de-DE" dirty="0" err="1"/>
              <a:t>equally</a:t>
            </a:r>
            <a:r>
              <a:rPr lang="de-DE" dirty="0"/>
              <a:t> </a:t>
            </a:r>
            <a:r>
              <a:rPr lang="de-DE" dirty="0" err="1"/>
              <a:t>well</a:t>
            </a:r>
            <a:r>
              <a:rPr lang="de-DE" dirty="0"/>
              <a:t> </a:t>
            </a:r>
            <a:r>
              <a:rPr lang="de-DE" dirty="0" err="1"/>
              <a:t>recognized</a:t>
            </a:r>
            <a:endParaRPr lang="de-DE" dirty="0"/>
          </a:p>
          <a:p>
            <a:pPr marL="171450" indent="-171450">
              <a:buFontTx/>
              <a:buChar char="-"/>
            </a:pP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C6895183-6F77-E9F2-D141-33BD0E7445B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DADD7A-5464-40FD-B5CC-4CA36D7CC1F5}" type="slidenum">
              <a:rPr lang="de-DE" smtClean="0"/>
              <a:t>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6183955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B5EFB6-125A-5ED6-D1D1-0EA055EB46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D427F10F-DFD5-8A34-6267-B2BBA50BB6C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F390E699-7976-421F-DC5D-FEC6BD1BF3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6540D722-1565-190C-C3B7-1B88AE91674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DADD7A-5464-40FD-B5CC-4CA36D7CC1F5}" type="slidenum">
              <a:rPr lang="de-DE" smtClean="0"/>
              <a:t>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5463829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95EDCC-0DBF-E7BE-A71C-CFD5A1CC66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DEE2CBEC-F6C8-FBE3-7D97-3778EACA4C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7D293C43-318F-6FD3-FF24-4B6CEA2DE4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de-DE" dirty="0"/>
              <a:t>Nice </a:t>
            </a:r>
            <a:r>
              <a:rPr lang="de-DE" dirty="0" err="1"/>
              <a:t>paradigm</a:t>
            </a:r>
            <a:endParaRPr lang="de-DE" dirty="0"/>
          </a:p>
          <a:p>
            <a:pPr marL="171450" indent="-171450">
              <a:buFontTx/>
              <a:buChar char="-"/>
            </a:pPr>
            <a:r>
              <a:rPr lang="de-DE" dirty="0"/>
              <a:t>To </a:t>
            </a:r>
            <a:r>
              <a:rPr lang="de-DE" dirty="0" err="1"/>
              <a:t>study</a:t>
            </a:r>
            <a:r>
              <a:rPr lang="de-DE" dirty="0"/>
              <a:t> </a:t>
            </a:r>
            <a:r>
              <a:rPr lang="de-DE" dirty="0" err="1"/>
              <a:t>flexibility</a:t>
            </a:r>
            <a:endParaRPr lang="de-DE" dirty="0"/>
          </a:p>
          <a:p>
            <a:pPr marL="171450" indent="-171450">
              <a:buFontTx/>
              <a:buChar char="-"/>
            </a:pPr>
            <a:r>
              <a:rPr lang="de-DE" dirty="0" err="1"/>
              <a:t>That</a:t>
            </a:r>
            <a:r>
              <a:rPr lang="de-DE" dirty="0"/>
              <a:t> </a:t>
            </a:r>
            <a:r>
              <a:rPr lang="de-DE" dirty="0" err="1"/>
              <a:t>way</a:t>
            </a:r>
            <a:r>
              <a:rPr lang="de-DE" dirty="0"/>
              <a:t> </a:t>
            </a:r>
            <a:r>
              <a:rPr lang="de-DE" dirty="0" err="1"/>
              <a:t>we</a:t>
            </a:r>
            <a:r>
              <a:rPr lang="de-DE" dirty="0"/>
              <a:t> </a:t>
            </a:r>
            <a:r>
              <a:rPr lang="de-DE" dirty="0" err="1"/>
              <a:t>study</a:t>
            </a:r>
            <a:r>
              <a:rPr lang="de-DE" dirty="0"/>
              <a:t> </a:t>
            </a:r>
            <a:r>
              <a:rPr lang="de-DE" dirty="0" err="1"/>
              <a:t>efficient</a:t>
            </a:r>
            <a:r>
              <a:rPr lang="de-DE" dirty="0"/>
              <a:t> </a:t>
            </a:r>
            <a:r>
              <a:rPr lang="de-DE" dirty="0" err="1"/>
              <a:t>processing</a:t>
            </a: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CA8098FA-DC3F-347A-2598-54E09E00CE9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DADD7A-5464-40FD-B5CC-4CA36D7CC1F5}" type="slidenum">
              <a:rPr lang="de-DE" smtClean="0"/>
              <a:t>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3948038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3BD153-0E53-5C7A-5B42-BDCA29CAB8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62D34F07-7E74-0E15-5596-613198C2FD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722C514E-31C1-8363-D5F8-0D048872CC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C3FCCDD5-F15C-E9F8-D663-ACE7AD9FCEC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DADD7A-5464-40FD-B5CC-4CA36D7CC1F5}" type="slidenum">
              <a:rPr lang="de-DE" smtClean="0"/>
              <a:t>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5850687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D912FB-D6B7-7E36-C0CC-DBBE7D8E74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FFC67301-78A3-FB03-E0EF-8EC6859565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2F146DA3-105B-7132-CD55-4DCA1070C2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A8B4D718-FEDE-E739-B9DB-2FC936E7A51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DADD7A-5464-40FD-B5CC-4CA36D7CC1F5}" type="slidenum">
              <a:rPr lang="de-DE" smtClean="0"/>
              <a:t>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1396111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B48B8F-2329-5DAF-C0FE-412297EC5B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6E68CCF7-49F1-2A08-8C7B-E7A685EBA0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8E3EBDC6-0A53-AE93-458A-C808978980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C04FC4AA-AF0E-CCFD-08D6-09468201E5B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DADD7A-5464-40FD-B5CC-4CA36D7CC1F5}" type="slidenum">
              <a:rPr lang="de-DE" smtClean="0"/>
              <a:t>10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5201889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79AD79-77F4-A9E9-8E55-81D946AFD1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0F8E23E0-A37F-D261-A324-BD26744D0A4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190D08C2-6B96-6219-1AA9-969B276149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63BD2574-C246-5635-1AFE-0180BC1B958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DADD7A-5464-40FD-B5CC-4CA36D7CC1F5}" type="slidenum">
              <a:rPr lang="de-DE" smtClean="0"/>
              <a:t>11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6764215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F46142-EF9E-47EF-6F17-F0D195DF50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6C781DF7-F65D-3D3C-B80A-5047FB5804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2056329D-97AE-4B2E-8A3E-2781AB3627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4AFC3235-2780-12C8-E796-D2AA110E903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DADD7A-5464-40FD-B5CC-4CA36D7CC1F5}" type="slidenum">
              <a:rPr lang="de-DE" smtClean="0"/>
              <a:t>12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2730293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711C16-7044-BB69-5463-0B32118296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666AA8C0-54BA-22D7-BC47-6E913CAAF7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42F10C88-43CA-4863-A35C-0B3B2A8650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6702070F-7D7D-F32D-97A5-2E7829D6B52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DADD7A-5464-40FD-B5CC-4CA36D7CC1F5}" type="slidenum">
              <a:rPr lang="de-DE" smtClean="0"/>
              <a:t>13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592738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932C95-A00B-5157-859F-14168B8E7B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2FFD5C02-7DA3-4E1A-8647-9D3E7BBBE3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23A4C157-CFD8-F54E-8568-2FEFA8662C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31D7EA78-14A3-2BC4-29AA-7358AF47E02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DADD7A-5464-40FD-B5CC-4CA36D7CC1F5}" type="slidenum">
              <a:rPr lang="de-DE" smtClean="0"/>
              <a:t>14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2948758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DADD7A-5464-40FD-B5CC-4CA36D7CC1F5}" type="slidenum">
              <a:rPr lang="de-DE" smtClean="0"/>
              <a:t>15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176906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BDADD7A-5464-40FD-B5CC-4CA36D7CC1F5}" type="slidenum">
              <a:rPr lang="de-DE" smtClean="0"/>
              <a:t>16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8435852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 defTabSz="340136">
              <a:lnSpc>
                <a:spcPct val="150000"/>
              </a:lnSpc>
              <a:buClr>
                <a:schemeClr val="accent1"/>
              </a:buClr>
              <a:buFontTx/>
              <a:buChar char="-"/>
              <a:defRPr/>
            </a:pPr>
            <a:endParaRPr lang="de-DE" sz="1200" dirty="0">
              <a:solidFill>
                <a:srgbClr val="002350"/>
              </a:solidFill>
            </a:endParaRP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DADD7A-5464-40FD-B5CC-4CA36D7CC1F5}" type="slidenum">
              <a:rPr lang="de-DE" smtClean="0"/>
              <a:t>17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8145727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779B06-6935-D939-DA12-701AE7591A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8246D431-2C7A-7A22-ECCB-985931C96B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FC995B35-5BF3-7950-A080-3387A7C893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71DE2EEF-265A-2D27-A8BC-7222ACB1B8D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DADD7A-5464-40FD-B5CC-4CA36D7CC1F5}" type="slidenum">
              <a:rPr lang="de-DE" smtClean="0"/>
              <a:t>18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7086926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2F2963-D021-BEFD-BB45-BE7BD91661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A71E63EC-5353-A3D9-BF61-9B77FBC32A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8ABD2592-A5EC-9616-857A-9EF3AA7972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8DC0C551-CB1D-E161-C5F9-0CA9F6F1096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DADD7A-5464-40FD-B5CC-4CA36D7CC1F5}" type="slidenum">
              <a:rPr lang="de-DE" smtClean="0"/>
              <a:t>19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9311344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B3CD1E-DD25-7C77-D7D8-0314854BB2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210ABCEA-B842-170B-D68E-0103E94A91C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33872968-FFA8-5F2E-2F85-2B91B2E56D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FAA981C-9B50-E3AD-945A-B0B37989C28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DADD7A-5464-40FD-B5CC-4CA36D7CC1F5}" type="slidenum">
              <a:rPr lang="de-DE" smtClean="0"/>
              <a:t>20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4493293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F234D1-9763-0362-FD3A-10E92C57E3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BD9BBE62-FD2F-0A69-267C-F31EEB959B2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0C4ADDED-2F03-3674-0021-D38E45226D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335FE765-FFC6-9887-BFAC-AB0670332CA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BDADD7A-5464-40FD-B5CC-4CA36D7CC1F5}" type="slidenum">
              <a:rPr lang="de-DE" smtClean="0"/>
              <a:t>21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1264297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F5A094-D081-4653-FF63-BF0F9130FA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267D3B18-16BA-F2E4-ED95-7955326196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DF6B682C-1778-E944-4197-890BF90250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 defTabSz="340136">
              <a:lnSpc>
                <a:spcPct val="150000"/>
              </a:lnSpc>
              <a:buClr>
                <a:schemeClr val="accent1"/>
              </a:buClr>
              <a:buFontTx/>
              <a:buChar char="-"/>
              <a:defRPr/>
            </a:pPr>
            <a:endParaRPr lang="de-DE" sz="1200" dirty="0">
              <a:solidFill>
                <a:srgbClr val="002350"/>
              </a:solidFill>
            </a:endParaRP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BFC82D1B-6C70-42F0-103E-009972C0476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DADD7A-5464-40FD-B5CC-4CA36D7CC1F5}" type="slidenum">
              <a:rPr lang="de-DE" smtClean="0"/>
              <a:t>22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6032306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64114F-ADEC-F2B3-305D-4136C7996F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FC2E3B16-42F4-E78D-714C-443E48FA56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17D227F0-99B2-8E9A-4ED9-D10A02C8C9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5BE3B037-0279-DB20-8FB4-64B0EDCB327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DADD7A-5464-40FD-B5CC-4CA36D7CC1F5}" type="slidenum">
              <a:rPr lang="de-DE" smtClean="0"/>
              <a:t>23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476754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814063-DF6F-2656-DFFB-D319D5B38E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978B5363-77A8-A0EC-BDFB-2742251A3F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6EC28EEF-7302-C6D6-6489-CA7FA8290D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58799F36-6700-E3A3-35F8-9DCCCEC07BD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DADD7A-5464-40FD-B5CC-4CA36D7CC1F5}" type="slidenum">
              <a:rPr lang="de-DE" smtClean="0"/>
              <a:t>24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7902906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184E0F-8F69-5F86-C917-4087AAA442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07E69BD9-E9D6-8431-0C18-568D9F4C65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1641ED41-FB00-152D-57FA-4D320790C5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CBBB75E4-153F-5040-B69B-3E12F385488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DADD7A-5464-40FD-B5CC-4CA36D7CC1F5}" type="slidenum">
              <a:rPr lang="de-DE" smtClean="0"/>
              <a:t>25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8321455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F5B274-6F6A-373F-387F-C438F78D68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E0042D47-DCAF-F4E6-4B42-EFF0436E100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039EA9C7-CEA2-CCBA-19BA-423CBBE30B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DE4991E7-F158-61C1-B254-DA8BE55CC82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BDADD7A-5464-40FD-B5CC-4CA36D7CC1F5}" type="slidenum">
              <a:rPr lang="de-DE" smtClean="0"/>
              <a:t>26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043702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CB9852-18C2-5D3A-96D0-2AFB0CB03C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457D75C1-5A5A-0A53-9F4A-326DB52343C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30A597FA-DDA2-1F1E-BCD7-50F3FE7F10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 defTabSz="340136">
              <a:lnSpc>
                <a:spcPct val="150000"/>
              </a:lnSpc>
              <a:buClr>
                <a:schemeClr val="accent1"/>
              </a:buClr>
              <a:buFontTx/>
              <a:buChar char="-"/>
              <a:defRPr/>
            </a:pPr>
            <a:endParaRPr lang="de-DE" sz="1200" dirty="0">
              <a:solidFill>
                <a:srgbClr val="002350"/>
              </a:solidFill>
            </a:endParaRP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F65B02DF-AF23-3B30-6457-4F37F2F090F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DADD7A-5464-40FD-B5CC-4CA36D7CC1F5}" type="slidenum">
              <a:rPr lang="de-DE" smtClean="0"/>
              <a:t>27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5344770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B65D54-9F3B-F8CB-BF8C-9540159BF1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2AC7FFC4-3874-7CD6-B088-F95F96B052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9C4221C8-9D00-269C-2E59-B0F4303EEE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 defTabSz="340136">
              <a:lnSpc>
                <a:spcPct val="150000"/>
              </a:lnSpc>
              <a:buClr>
                <a:schemeClr val="accent1"/>
              </a:buClr>
              <a:buFontTx/>
              <a:buChar char="-"/>
              <a:defRPr/>
            </a:pPr>
            <a:endParaRPr lang="de-DE" sz="1200" dirty="0">
              <a:solidFill>
                <a:srgbClr val="002350"/>
              </a:solidFill>
            </a:endParaRP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407EBDC7-9B32-A91E-1B41-7B793756FA4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DADD7A-5464-40FD-B5CC-4CA36D7CC1F5}" type="slidenum">
              <a:rPr lang="de-DE" smtClean="0"/>
              <a:t>28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0213931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7FAD29-90BB-6D4F-EADC-50F944FCB1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2C63AA90-DD77-BA20-3213-37E0CBD2B0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B65B0297-3A27-A3C0-4BF5-14EF8FBC81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 defTabSz="340136">
              <a:lnSpc>
                <a:spcPct val="150000"/>
              </a:lnSpc>
              <a:buClr>
                <a:schemeClr val="accent1"/>
              </a:buClr>
              <a:buFontTx/>
              <a:buChar char="-"/>
              <a:defRPr/>
            </a:pPr>
            <a:endParaRPr lang="de-DE" sz="1200" dirty="0">
              <a:solidFill>
                <a:srgbClr val="002350"/>
              </a:solidFill>
            </a:endParaRP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6968332-F19B-39B5-110D-B5B3C1D8F51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DADD7A-5464-40FD-B5CC-4CA36D7CC1F5}" type="slidenum">
              <a:rPr lang="de-DE" smtClean="0"/>
              <a:t>29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70320596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5D3046-007E-7A70-3569-E100BF7DD0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1A5740FB-0856-997E-B8E6-AA4EC9FBF86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62F9C147-94DF-24D1-945F-BE492BCC17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9BF07ED3-D9BC-4D51-16C5-4FDDE215E7B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DADD7A-5464-40FD-B5CC-4CA36D7CC1F5}" type="slidenum">
              <a:rPr lang="de-DE" smtClean="0"/>
              <a:t>30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45665023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4A3DD8-0233-D57C-A5A1-F8CD4DE7CC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4215C21C-F0D2-FF7D-D3E8-ACF4387DB4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6065F56D-317D-2003-798A-158F47639F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70457587-3A98-1D77-E4A9-6B86AFFD6E5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DADD7A-5464-40FD-B5CC-4CA36D7CC1F5}" type="slidenum">
              <a:rPr lang="de-DE" smtClean="0"/>
              <a:t>31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05705445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5868B5-FE13-CF7E-31E1-425B5CA6A0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EBD1C57A-DB17-286B-8B49-150F3B8DFA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831652F8-2774-A339-C18D-77905C6439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A61D0D34-1298-A240-7A3D-EF938F08085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BDADD7A-5464-40FD-B5CC-4CA36D7CC1F5}" type="slidenum">
              <a:rPr lang="de-DE" smtClean="0"/>
              <a:t>32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22897724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BDADD7A-5464-40FD-B5CC-4CA36D7CC1F5}" type="slidenum">
              <a:rPr lang="de-DE" smtClean="0"/>
              <a:t>33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517109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sse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/>
          <p:cNvSpPr/>
          <p:nvPr userDrawn="1"/>
        </p:nvSpPr>
        <p:spPr>
          <a:xfrm flipV="1">
            <a:off x="-1" y="4500000"/>
            <a:ext cx="3442500" cy="39600"/>
          </a:xfrm>
          <a:prstGeom prst="rect">
            <a:avLst/>
          </a:prstGeom>
          <a:solidFill>
            <a:schemeClr val="tx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350"/>
          </a:p>
        </p:txBody>
      </p:sp>
      <p:pic>
        <p:nvPicPr>
          <p:cNvPr id="7" name="Grafik 6"/>
          <p:cNvPicPr preferRelativeResize="0">
            <a:picLocks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30787" y="4500000"/>
            <a:ext cx="3429000" cy="39600"/>
          </a:xfrm>
          <a:prstGeom prst="rect">
            <a:avLst/>
          </a:prstGeom>
        </p:spPr>
      </p:pic>
      <p:sp>
        <p:nvSpPr>
          <p:cNvPr id="6" name="Textplatzhalter 24"/>
          <p:cNvSpPr txBox="1">
            <a:spLocks/>
          </p:cNvSpPr>
          <p:nvPr userDrawn="1"/>
        </p:nvSpPr>
        <p:spPr>
          <a:xfrm>
            <a:off x="2641231" y="4884575"/>
            <a:ext cx="3874464" cy="15420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de-DE" sz="1000" kern="1200" baseline="0" dirty="0">
                <a:solidFill>
                  <a:schemeClr val="tx2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822FCD78-D96D-4F80-9AD7-6954839C45E1}" type="slidenum">
              <a:rPr lang="de-DE" sz="750" smtClean="0">
                <a:solidFill>
                  <a:srgbClr val="002F5D"/>
                </a:solidFill>
                <a:latin typeface="Roboto Condensed" pitchFamily="2" charset="0"/>
                <a:ea typeface="Roboto Condensed" pitchFamily="2" charset="0"/>
              </a:rPr>
              <a:pPr>
                <a:defRPr/>
              </a:pPr>
              <a:t>‹Nr.›</a:t>
            </a:fld>
            <a:r>
              <a:rPr lang="de-DE" sz="750" dirty="0">
                <a:solidFill>
                  <a:srgbClr val="002F5D"/>
                </a:solidFill>
                <a:latin typeface="Roboto Condensed" pitchFamily="2" charset="0"/>
                <a:ea typeface="Roboto Condensed" pitchFamily="2" charset="0"/>
              </a:rPr>
              <a:t> / 22</a:t>
            </a:r>
          </a:p>
        </p:txBody>
      </p:sp>
    </p:spTree>
    <p:extLst>
      <p:ext uri="{BB962C8B-B14F-4D97-AF65-F5344CB8AC3E}">
        <p14:creationId xmlns:p14="http://schemas.microsoft.com/office/powerpoint/2010/main" val="34664415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16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nderseite für große Grafik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/>
          <p:cNvSpPr/>
          <p:nvPr userDrawn="1"/>
        </p:nvSpPr>
        <p:spPr>
          <a:xfrm>
            <a:off x="0" y="4312920"/>
            <a:ext cx="6858000" cy="8915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350"/>
          </a:p>
        </p:txBody>
      </p:sp>
      <p:pic>
        <p:nvPicPr>
          <p:cNvPr id="5" name="Picture 2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02867" y="4644000"/>
            <a:ext cx="784428" cy="3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627262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Inhaltsse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/>
          <p:cNvSpPr/>
          <p:nvPr userDrawn="1"/>
        </p:nvSpPr>
        <p:spPr>
          <a:xfrm flipV="1">
            <a:off x="-1" y="4500000"/>
            <a:ext cx="3442500" cy="39600"/>
          </a:xfrm>
          <a:prstGeom prst="rect">
            <a:avLst/>
          </a:prstGeom>
          <a:solidFill>
            <a:schemeClr val="tx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350"/>
          </a:p>
        </p:txBody>
      </p:sp>
      <p:pic>
        <p:nvPicPr>
          <p:cNvPr id="7" name="Grafik 6"/>
          <p:cNvPicPr preferRelativeResize="0">
            <a:picLocks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30787" y="4500000"/>
            <a:ext cx="3429000" cy="39600"/>
          </a:xfrm>
          <a:prstGeom prst="rect">
            <a:avLst/>
          </a:prstGeom>
        </p:spPr>
      </p:pic>
      <p:sp>
        <p:nvSpPr>
          <p:cNvPr id="9" name="Textplatzhalter 24"/>
          <p:cNvSpPr>
            <a:spLocks noGrp="1"/>
          </p:cNvSpPr>
          <p:nvPr>
            <p:ph type="body" sz="quarter" idx="11" hasCustomPrompt="1"/>
          </p:nvPr>
        </p:nvSpPr>
        <p:spPr>
          <a:xfrm>
            <a:off x="2249685" y="4719770"/>
            <a:ext cx="4266010" cy="144000"/>
          </a:xfrm>
        </p:spPr>
        <p:txBody>
          <a:bodyPr>
            <a:noAutofit/>
          </a:bodyPr>
          <a:lstStyle>
            <a:lvl1pPr marL="0" indent="0" algn="r">
              <a:buFontTx/>
              <a:buNone/>
              <a:defRPr lang="de-DE" sz="750" dirty="0">
                <a:solidFill>
                  <a:schemeClr val="bg1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defRPr>
            </a:lvl1pPr>
          </a:lstStyle>
          <a:p>
            <a:r>
              <a:rPr lang="de-DE" dirty="0"/>
              <a:t>Christine Nussbaum</a:t>
            </a:r>
          </a:p>
        </p:txBody>
      </p:sp>
      <p:sp>
        <p:nvSpPr>
          <p:cNvPr id="6" name="Textplatzhalter 24"/>
          <p:cNvSpPr txBox="1">
            <a:spLocks/>
          </p:cNvSpPr>
          <p:nvPr userDrawn="1"/>
        </p:nvSpPr>
        <p:spPr>
          <a:xfrm>
            <a:off x="2641231" y="4884575"/>
            <a:ext cx="3874464" cy="15420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de-DE" sz="1000" kern="1200" baseline="0" dirty="0">
                <a:solidFill>
                  <a:schemeClr val="tx2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822FCD78-D96D-4F80-9AD7-6954839C45E1}" type="slidenum">
              <a:rPr lang="de-DE" sz="750" smtClean="0">
                <a:solidFill>
                  <a:schemeClr val="bg1"/>
                </a:solidFill>
                <a:latin typeface="Roboto Condensed" pitchFamily="2" charset="0"/>
                <a:ea typeface="Roboto Condensed" pitchFamily="2" charset="0"/>
              </a:rPr>
              <a:pPr>
                <a:defRPr/>
              </a:pPr>
              <a:t>‹Nr.›</a:t>
            </a:fld>
            <a:r>
              <a:rPr lang="de-DE" sz="750" dirty="0">
                <a:solidFill>
                  <a:schemeClr val="bg1"/>
                </a:solidFill>
                <a:latin typeface="Roboto Condensed" pitchFamily="2" charset="0"/>
                <a:ea typeface="Roboto Condensed" pitchFamily="2" charset="0"/>
              </a:rPr>
              <a:t> / 31</a:t>
            </a:r>
          </a:p>
        </p:txBody>
      </p:sp>
    </p:spTree>
    <p:extLst>
      <p:ext uri="{BB962C8B-B14F-4D97-AF65-F5344CB8AC3E}">
        <p14:creationId xmlns:p14="http://schemas.microsoft.com/office/powerpoint/2010/main" val="11811974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16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sse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/>
          <p:cNvSpPr/>
          <p:nvPr userDrawn="1"/>
        </p:nvSpPr>
        <p:spPr>
          <a:xfrm flipV="1">
            <a:off x="-1" y="4500000"/>
            <a:ext cx="3442500" cy="39600"/>
          </a:xfrm>
          <a:prstGeom prst="rect">
            <a:avLst/>
          </a:prstGeom>
          <a:solidFill>
            <a:schemeClr val="tx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350"/>
          </a:p>
        </p:txBody>
      </p:sp>
      <p:pic>
        <p:nvPicPr>
          <p:cNvPr id="7" name="Grafik 6"/>
          <p:cNvPicPr preferRelativeResize="0">
            <a:picLocks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30787" y="4500000"/>
            <a:ext cx="3429000" cy="39600"/>
          </a:xfrm>
          <a:prstGeom prst="rect">
            <a:avLst/>
          </a:prstGeom>
        </p:spPr>
      </p:pic>
      <p:sp>
        <p:nvSpPr>
          <p:cNvPr id="6" name="Textplatzhalter 24"/>
          <p:cNvSpPr txBox="1">
            <a:spLocks/>
          </p:cNvSpPr>
          <p:nvPr userDrawn="1"/>
        </p:nvSpPr>
        <p:spPr>
          <a:xfrm>
            <a:off x="2641231" y="4884575"/>
            <a:ext cx="3874464" cy="15420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de-DE" sz="1000" kern="1200" baseline="0" dirty="0">
                <a:solidFill>
                  <a:schemeClr val="tx2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822FCD78-D96D-4F80-9AD7-6954839C45E1}" type="slidenum">
              <a:rPr lang="de-DE" sz="750" smtClean="0">
                <a:solidFill>
                  <a:schemeClr val="bg1"/>
                </a:solidFill>
                <a:latin typeface="Roboto Condensed" pitchFamily="2" charset="0"/>
                <a:ea typeface="Roboto Condensed" pitchFamily="2" charset="0"/>
              </a:rPr>
              <a:pPr>
                <a:defRPr/>
              </a:pPr>
              <a:t>‹Nr.›</a:t>
            </a:fld>
            <a:r>
              <a:rPr lang="de-DE" sz="750" dirty="0">
                <a:solidFill>
                  <a:schemeClr val="bg1"/>
                </a:solidFill>
                <a:latin typeface="Roboto Condensed" pitchFamily="2" charset="0"/>
                <a:ea typeface="Roboto Condensed" pitchFamily="2" charset="0"/>
              </a:rPr>
              <a:t> / 22</a:t>
            </a:r>
          </a:p>
        </p:txBody>
      </p:sp>
    </p:spTree>
    <p:extLst>
      <p:ext uri="{BB962C8B-B14F-4D97-AF65-F5344CB8AC3E}">
        <p14:creationId xmlns:p14="http://schemas.microsoft.com/office/powerpoint/2010/main" val="6319319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16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342900" y="205978"/>
            <a:ext cx="6172200" cy="857250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r>
              <a:rPr lang="de-DE" dirty="0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342900" y="1200152"/>
            <a:ext cx="6172200" cy="187565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»Fünfte Ebene mit Anführungszeichen«</a:t>
            </a:r>
          </a:p>
        </p:txBody>
      </p:sp>
      <p:sp>
        <p:nvSpPr>
          <p:cNvPr id="11" name="Rechteck 10"/>
          <p:cNvSpPr/>
          <p:nvPr userDrawn="1"/>
        </p:nvSpPr>
        <p:spPr>
          <a:xfrm>
            <a:off x="-1" y="4500000"/>
            <a:ext cx="6858000" cy="64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350"/>
          </a:p>
        </p:txBody>
      </p:sp>
      <p:pic>
        <p:nvPicPr>
          <p:cNvPr id="1026" name="Picture 2"/>
          <p:cNvPicPr>
            <a:picLocks noChangeArrowheads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02867" y="4644000"/>
            <a:ext cx="1047454" cy="3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845297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4" r:id="rId2"/>
    <p:sldLayoutId id="2147483657" r:id="rId3"/>
  </p:sldLayoutIdLst>
  <p:hf hdr="0" ftr="0" dt="0"/>
  <p:txStyles>
    <p:titleStyle>
      <a:lvl1pPr algn="l" defTabSz="685800" rtl="0" eaLnBrk="1" latinLnBrk="0" hangingPunct="1">
        <a:spcBef>
          <a:spcPct val="0"/>
        </a:spcBef>
        <a:buNone/>
        <a:defRPr sz="1500" kern="1200" spc="15" baseline="0">
          <a:solidFill>
            <a:schemeClr val="tx1"/>
          </a:solidFill>
          <a:latin typeface="Palatino Linotype" panose="02040502050505030304" pitchFamily="18" charset="0"/>
          <a:ea typeface="+mj-ea"/>
          <a:cs typeface="+mj-cs"/>
        </a:defRPr>
      </a:lvl1pPr>
    </p:titleStyle>
    <p:bodyStyle>
      <a:lvl1pPr marL="0" indent="0" algn="l" defTabSz="685800" rtl="0" eaLnBrk="1" latinLnBrk="0" hangingPunct="1">
        <a:spcBef>
          <a:spcPct val="20000"/>
        </a:spcBef>
        <a:buFontTx/>
        <a:buNone/>
        <a:defRPr sz="1650" kern="1200">
          <a:solidFill>
            <a:schemeClr val="tx1"/>
          </a:solidFill>
          <a:latin typeface="Roboto Condensed" pitchFamily="2" charset="0"/>
          <a:ea typeface="Roboto Condensed" pitchFamily="2" charset="0"/>
          <a:cs typeface="+mn-cs"/>
        </a:defRPr>
      </a:lvl1pPr>
      <a:lvl2pPr marL="557213" indent="-214313" algn="l" defTabSz="685800" rtl="0" eaLnBrk="1" latinLnBrk="0" hangingPunct="1">
        <a:spcBef>
          <a:spcPct val="20000"/>
        </a:spcBef>
        <a:buClr>
          <a:schemeClr val="accent1"/>
        </a:buClr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Roboto Condensed" pitchFamily="2" charset="0"/>
          <a:ea typeface="Roboto Condensed" pitchFamily="2" charset="0"/>
          <a:cs typeface="+mn-cs"/>
        </a:defRPr>
      </a:lvl2pPr>
      <a:lvl3pPr marL="857250" indent="-171450" algn="l" defTabSz="685800" rtl="0" eaLnBrk="1" latinLnBrk="0" hangingPunct="1">
        <a:spcBef>
          <a:spcPct val="20000"/>
        </a:spcBef>
        <a:buClr>
          <a:schemeClr val="accent3"/>
        </a:buClr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Roboto Condensed" pitchFamily="2" charset="0"/>
          <a:ea typeface="Roboto Condensed" pitchFamily="2" charset="0"/>
          <a:cs typeface="+mn-cs"/>
        </a:defRPr>
      </a:lvl3pPr>
      <a:lvl4pPr marL="1028700" indent="0" algn="l" defTabSz="685800" rtl="0" eaLnBrk="1" latinLnBrk="0" hangingPunct="1">
        <a:spcBef>
          <a:spcPct val="20000"/>
        </a:spcBef>
        <a:buFontTx/>
        <a:buNone/>
        <a:defRPr sz="825" kern="1200">
          <a:solidFill>
            <a:schemeClr val="tx1"/>
          </a:solidFill>
          <a:latin typeface="Roboto Condensed" pitchFamily="2" charset="0"/>
          <a:ea typeface="Roboto Condensed" pitchFamily="2" charset="0"/>
          <a:cs typeface="+mn-cs"/>
        </a:defRPr>
      </a:lvl4pPr>
      <a:lvl5pPr marL="1371600" indent="0" algn="l" defTabSz="685800" rtl="0" eaLnBrk="1" latinLnBrk="0" hangingPunct="1">
        <a:spcBef>
          <a:spcPct val="20000"/>
        </a:spcBef>
        <a:buFont typeface="Arial" panose="020B0604020202020204" pitchFamily="34" charset="0"/>
        <a:buNone/>
        <a:defRPr sz="675" kern="1200">
          <a:solidFill>
            <a:schemeClr val="tx1"/>
          </a:solidFill>
          <a:latin typeface="Roboto Condensed" pitchFamily="2" charset="0"/>
          <a:ea typeface="Roboto Condensed" pitchFamily="2" charset="0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342900" y="205978"/>
            <a:ext cx="6172200" cy="857250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r>
              <a:rPr lang="de-DE" dirty="0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342900" y="1200152"/>
            <a:ext cx="6172200" cy="187565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»Fünfte Ebene mit Anführungszeichen«</a:t>
            </a:r>
          </a:p>
        </p:txBody>
      </p:sp>
      <p:sp>
        <p:nvSpPr>
          <p:cNvPr id="11" name="Rechteck 10"/>
          <p:cNvSpPr/>
          <p:nvPr userDrawn="1"/>
        </p:nvSpPr>
        <p:spPr>
          <a:xfrm>
            <a:off x="-1" y="4500000"/>
            <a:ext cx="6858000" cy="64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de-DE" sz="135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14619" y="4607704"/>
            <a:ext cx="785700" cy="4325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81511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6" r:id="rId1"/>
  </p:sldLayoutIdLst>
  <p:hf hdr="0" ftr="0" dt="0"/>
  <p:txStyles>
    <p:titleStyle>
      <a:lvl1pPr algn="l" defTabSz="685800" rtl="0" eaLnBrk="1" latinLnBrk="0" hangingPunct="1">
        <a:spcBef>
          <a:spcPct val="0"/>
        </a:spcBef>
        <a:buNone/>
        <a:defRPr sz="1500" kern="1200" spc="15" baseline="0">
          <a:solidFill>
            <a:schemeClr val="tx1"/>
          </a:solidFill>
          <a:latin typeface="Palatino Linotype" panose="02040502050505030304" pitchFamily="18" charset="0"/>
          <a:ea typeface="+mj-ea"/>
          <a:cs typeface="+mj-cs"/>
        </a:defRPr>
      </a:lvl1pPr>
    </p:titleStyle>
    <p:bodyStyle>
      <a:lvl1pPr marL="0" indent="0" algn="l" defTabSz="685800" rtl="0" eaLnBrk="1" latinLnBrk="0" hangingPunct="1">
        <a:spcBef>
          <a:spcPct val="20000"/>
        </a:spcBef>
        <a:buFontTx/>
        <a:buNone/>
        <a:defRPr sz="1650" kern="1200">
          <a:solidFill>
            <a:schemeClr val="tx1"/>
          </a:solidFill>
          <a:latin typeface="Roboto Condensed" pitchFamily="2" charset="0"/>
          <a:ea typeface="Roboto Condensed" pitchFamily="2" charset="0"/>
          <a:cs typeface="+mn-cs"/>
        </a:defRPr>
      </a:lvl1pPr>
      <a:lvl2pPr marL="557213" indent="-214313" algn="l" defTabSz="685800" rtl="0" eaLnBrk="1" latinLnBrk="0" hangingPunct="1">
        <a:spcBef>
          <a:spcPct val="20000"/>
        </a:spcBef>
        <a:buClr>
          <a:schemeClr val="accent1"/>
        </a:buClr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Roboto Condensed" pitchFamily="2" charset="0"/>
          <a:ea typeface="Roboto Condensed" pitchFamily="2" charset="0"/>
          <a:cs typeface="+mn-cs"/>
        </a:defRPr>
      </a:lvl2pPr>
      <a:lvl3pPr marL="857250" indent="-171450" algn="l" defTabSz="685800" rtl="0" eaLnBrk="1" latinLnBrk="0" hangingPunct="1">
        <a:spcBef>
          <a:spcPct val="20000"/>
        </a:spcBef>
        <a:buClr>
          <a:schemeClr val="accent3"/>
        </a:buClr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Roboto Condensed" pitchFamily="2" charset="0"/>
          <a:ea typeface="Roboto Condensed" pitchFamily="2" charset="0"/>
          <a:cs typeface="+mn-cs"/>
        </a:defRPr>
      </a:lvl3pPr>
      <a:lvl4pPr marL="1028700" indent="0" algn="l" defTabSz="685800" rtl="0" eaLnBrk="1" latinLnBrk="0" hangingPunct="1">
        <a:spcBef>
          <a:spcPct val="20000"/>
        </a:spcBef>
        <a:buFontTx/>
        <a:buNone/>
        <a:defRPr sz="825" kern="1200">
          <a:solidFill>
            <a:schemeClr val="tx1"/>
          </a:solidFill>
          <a:latin typeface="Roboto Condensed" pitchFamily="2" charset="0"/>
          <a:ea typeface="Roboto Condensed" pitchFamily="2" charset="0"/>
          <a:cs typeface="+mn-cs"/>
        </a:defRPr>
      </a:lvl4pPr>
      <a:lvl5pPr marL="1371600" indent="0" algn="l" defTabSz="685800" rtl="0" eaLnBrk="1" latinLnBrk="0" hangingPunct="1">
        <a:spcBef>
          <a:spcPct val="20000"/>
        </a:spcBef>
        <a:buFont typeface="Arial" panose="020B0604020202020204" pitchFamily="34" charset="0"/>
        <a:buNone/>
        <a:defRPr sz="675" kern="1200">
          <a:solidFill>
            <a:schemeClr val="tx1"/>
          </a:solidFill>
          <a:latin typeface="Roboto Condensed" pitchFamily="2" charset="0"/>
          <a:ea typeface="Roboto Condensed" pitchFamily="2" charset="0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2160" userDrawn="1">
          <p15:clr>
            <a:srgbClr val="F26B43"/>
          </p15:clr>
        </p15:guide>
        <p15:guide id="3" pos="221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7" Type="http://schemas.openxmlformats.org/officeDocument/2006/relationships/image" Target="../media/image11.svg"/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svg"/><Relationship Id="rId5" Type="http://schemas.openxmlformats.org/officeDocument/2006/relationships/image" Target="../media/image9.svg"/><Relationship Id="rId4" Type="http://schemas.openxmlformats.org/officeDocument/2006/relationships/image" Target="../media/image8.sv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microsoft.com/office/2007/relationships/hdphoto" Target="../media/hdphoto1.wdp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svg"/><Relationship Id="rId3" Type="http://schemas.openxmlformats.org/officeDocument/2006/relationships/image" Target="../media/image13.svg"/><Relationship Id="rId7" Type="http://schemas.openxmlformats.org/officeDocument/2006/relationships/image" Target="../media/image17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6.svg"/><Relationship Id="rId5" Type="http://schemas.openxmlformats.org/officeDocument/2006/relationships/image" Target="../media/image15.svg"/><Relationship Id="rId4" Type="http://schemas.openxmlformats.org/officeDocument/2006/relationships/image" Target="../media/image14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svg"/><Relationship Id="rId3" Type="http://schemas.openxmlformats.org/officeDocument/2006/relationships/image" Target="../media/image23.svg"/><Relationship Id="rId7" Type="http://schemas.openxmlformats.org/officeDocument/2006/relationships/image" Target="../media/image13.sv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6.svg"/><Relationship Id="rId5" Type="http://schemas.openxmlformats.org/officeDocument/2006/relationships/image" Target="../media/image25.svg"/><Relationship Id="rId4" Type="http://schemas.openxmlformats.org/officeDocument/2006/relationships/image" Target="../media/image24.svg"/><Relationship Id="rId9" Type="http://schemas.openxmlformats.org/officeDocument/2006/relationships/image" Target="../media/image28.sv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svg"/><Relationship Id="rId3" Type="http://schemas.openxmlformats.org/officeDocument/2006/relationships/image" Target="../media/image23.svg"/><Relationship Id="rId7" Type="http://schemas.openxmlformats.org/officeDocument/2006/relationships/image" Target="../media/image13.sv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6.svg"/><Relationship Id="rId11" Type="http://schemas.openxmlformats.org/officeDocument/2006/relationships/image" Target="../media/image30.svg"/><Relationship Id="rId5" Type="http://schemas.openxmlformats.org/officeDocument/2006/relationships/image" Target="../media/image25.svg"/><Relationship Id="rId10" Type="http://schemas.openxmlformats.org/officeDocument/2006/relationships/image" Target="../media/image29.svg"/><Relationship Id="rId4" Type="http://schemas.openxmlformats.org/officeDocument/2006/relationships/image" Target="../media/image24.svg"/><Relationship Id="rId9" Type="http://schemas.openxmlformats.org/officeDocument/2006/relationships/image" Target="../media/image28.sv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svg"/><Relationship Id="rId7" Type="http://schemas.openxmlformats.org/officeDocument/2006/relationships/image" Target="../media/image35.sv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4.svg"/><Relationship Id="rId5" Type="http://schemas.openxmlformats.org/officeDocument/2006/relationships/image" Target="../media/image33.svg"/><Relationship Id="rId4" Type="http://schemas.openxmlformats.org/officeDocument/2006/relationships/image" Target="../media/image32.sv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svg"/><Relationship Id="rId3" Type="http://schemas.openxmlformats.org/officeDocument/2006/relationships/image" Target="../media/image23.svg"/><Relationship Id="rId7" Type="http://schemas.openxmlformats.org/officeDocument/2006/relationships/image" Target="../media/image13.sv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6.svg"/><Relationship Id="rId11" Type="http://schemas.openxmlformats.org/officeDocument/2006/relationships/image" Target="../media/image37.svg"/><Relationship Id="rId5" Type="http://schemas.openxmlformats.org/officeDocument/2006/relationships/image" Target="../media/image25.svg"/><Relationship Id="rId10" Type="http://schemas.openxmlformats.org/officeDocument/2006/relationships/image" Target="../media/image36.svg"/><Relationship Id="rId4" Type="http://schemas.openxmlformats.org/officeDocument/2006/relationships/image" Target="../media/image24.svg"/><Relationship Id="rId9" Type="http://schemas.openxmlformats.org/officeDocument/2006/relationships/image" Target="../media/image28.sv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sv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sv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40.png"/><Relationship Id="rId4" Type="http://schemas.openxmlformats.org/officeDocument/2006/relationships/image" Target="../media/image35.sv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4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sv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5.sv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sv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6.png"/><Relationship Id="rId4" Type="http://schemas.openxmlformats.org/officeDocument/2006/relationships/image" Target="../media/image35.sv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sv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5.sv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 descr="Ein Bild, das dunkel, Vorhang, groß, Uhr enthält.&#10;&#10;Automatisch generierte Beschreibung">
            <a:extLst>
              <a:ext uri="{FF2B5EF4-FFF2-40B4-BE49-F238E27FC236}">
                <a16:creationId xmlns:a16="http://schemas.microsoft.com/office/drawing/2014/main" id="{E35DBA12-3FC0-4D4B-B842-1224C3B5CD3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6858000" cy="4500000"/>
          </a:xfrm>
          <a:prstGeom prst="rect">
            <a:avLst/>
          </a:prstGeom>
        </p:spPr>
      </p:pic>
      <p:sp>
        <p:nvSpPr>
          <p:cNvPr id="7" name="Rechteck 6"/>
          <p:cNvSpPr/>
          <p:nvPr/>
        </p:nvSpPr>
        <p:spPr>
          <a:xfrm>
            <a:off x="351235" y="2876193"/>
            <a:ext cx="5120765" cy="1288971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350" dirty="0"/>
          </a:p>
        </p:txBody>
      </p:sp>
      <p:cxnSp>
        <p:nvCxnSpPr>
          <p:cNvPr id="9" name="Gerade Verbindung 8"/>
          <p:cNvCxnSpPr/>
          <p:nvPr/>
        </p:nvCxnSpPr>
        <p:spPr>
          <a:xfrm>
            <a:off x="526051" y="3061053"/>
            <a:ext cx="341709" cy="0"/>
          </a:xfrm>
          <a:prstGeom prst="line">
            <a:avLst/>
          </a:prstGeom>
          <a:ln w="44450">
            <a:solidFill>
              <a:srgbClr val="002F5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feld 9">
            <a:extLst>
              <a:ext uri="{FF2B5EF4-FFF2-40B4-BE49-F238E27FC236}">
                <a16:creationId xmlns:a16="http://schemas.microsoft.com/office/drawing/2014/main" id="{2CC8C7CA-D7CD-4809-AE52-7B41CE177FFC}"/>
              </a:ext>
            </a:extLst>
          </p:cNvPr>
          <p:cNvSpPr txBox="1"/>
          <p:nvPr/>
        </p:nvSpPr>
        <p:spPr>
          <a:xfrm>
            <a:off x="526051" y="3113830"/>
            <a:ext cx="4806731" cy="91371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n-US" sz="1400" b="1" dirty="0"/>
              <a:t>Is vocal emotional processing fine-tuned to speaker gender, identity and phonetic content? – </a:t>
            </a:r>
            <a:br>
              <a:rPr lang="en-US" sz="1400" b="1" dirty="0"/>
            </a:br>
            <a:r>
              <a:rPr lang="en-US" sz="1400" dirty="0"/>
              <a:t>Evidence from simultaneous opposite adaptation</a:t>
            </a:r>
            <a:endParaRPr lang="en-US" sz="1050" dirty="0"/>
          </a:p>
          <a:p>
            <a:r>
              <a:rPr lang="en-US" sz="1050" dirty="0"/>
              <a:t>Christine Nussbaum, 27 November 2026</a:t>
            </a:r>
          </a:p>
          <a:p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9815042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 descr="Sprache Silhouette">
            <a:extLst>
              <a:ext uri="{FF2B5EF4-FFF2-40B4-BE49-F238E27FC236}">
                <a16:creationId xmlns:a16="http://schemas.microsoft.com/office/drawing/2014/main" id="{A57059A0-14F5-739D-BEE2-FA67876F7D1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627840" y="1359219"/>
            <a:ext cx="1071898" cy="1071898"/>
          </a:xfrm>
          <a:prstGeom prst="rect">
            <a:avLst/>
          </a:prstGeom>
        </p:spPr>
      </p:pic>
      <p:pic>
        <p:nvPicPr>
          <p:cNvPr id="3" name="Grafik 2" descr="Ein sprechendes Gesicht">
            <a:extLst>
              <a:ext uri="{FF2B5EF4-FFF2-40B4-BE49-F238E27FC236}">
                <a16:creationId xmlns:a16="http://schemas.microsoft.com/office/drawing/2014/main" id="{B0ABD4BF-A4AB-E0E2-FD46-98B1F45AB2E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88108" y="1197639"/>
            <a:ext cx="766624" cy="910366"/>
          </a:xfrm>
          <a:prstGeom prst="rect">
            <a:avLst/>
          </a:prstGeom>
        </p:spPr>
      </p:pic>
      <p:pic>
        <p:nvPicPr>
          <p:cNvPr id="4" name="Grafik 3" descr="Ein gelangweiltes Gesicht">
            <a:extLst>
              <a:ext uri="{FF2B5EF4-FFF2-40B4-BE49-F238E27FC236}">
                <a16:creationId xmlns:a16="http://schemas.microsoft.com/office/drawing/2014/main" id="{41B2CEA4-4EF2-83CB-BCD0-93A0C880764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flipH="1">
            <a:off x="3714277" y="2431117"/>
            <a:ext cx="566474" cy="619580"/>
          </a:xfrm>
          <a:prstGeom prst="rect">
            <a:avLst/>
          </a:prstGeom>
        </p:spPr>
      </p:pic>
      <p:pic>
        <p:nvPicPr>
          <p:cNvPr id="5" name="Grafik 4" descr="Gesicht mit Herzaugen">
            <a:extLst>
              <a:ext uri="{FF2B5EF4-FFF2-40B4-BE49-F238E27FC236}">
                <a16:creationId xmlns:a16="http://schemas.microsoft.com/office/drawing/2014/main" id="{5B5CFAC6-CAF5-BE7B-917B-E6FA98E89CE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56400" y="4342789"/>
            <a:ext cx="721002" cy="762198"/>
          </a:xfrm>
          <a:prstGeom prst="rect">
            <a:avLst/>
          </a:prstGeom>
        </p:spPr>
      </p:pic>
      <p:pic>
        <p:nvPicPr>
          <p:cNvPr id="6" name="Grafik 5" descr="Ein überraschtes Gesicht">
            <a:extLst>
              <a:ext uri="{FF2B5EF4-FFF2-40B4-BE49-F238E27FC236}">
                <a16:creationId xmlns:a16="http://schemas.microsoft.com/office/drawing/2014/main" id="{55FA2DA2-B937-8229-DD98-3F215C2EF63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flipH="1">
            <a:off x="5407320" y="2356827"/>
            <a:ext cx="788316" cy="936126"/>
          </a:xfrm>
          <a:prstGeom prst="rect">
            <a:avLst/>
          </a:prstGeom>
        </p:spPr>
      </p:pic>
      <p:pic>
        <p:nvPicPr>
          <p:cNvPr id="7" name="Grafik 6" descr="Sprache Silhouette">
            <a:extLst>
              <a:ext uri="{FF2B5EF4-FFF2-40B4-BE49-F238E27FC236}">
                <a16:creationId xmlns:a16="http://schemas.microsoft.com/office/drawing/2014/main" id="{FB23EB07-F39D-94EA-020D-3A8A6CE5C2F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357131" y="2819988"/>
            <a:ext cx="679472" cy="542666"/>
          </a:xfrm>
          <a:prstGeom prst="rect">
            <a:avLst/>
          </a:prstGeom>
        </p:spPr>
      </p:pic>
      <p:grpSp>
        <p:nvGrpSpPr>
          <p:cNvPr id="8" name="Gruppieren 7">
            <a:extLst>
              <a:ext uri="{FF2B5EF4-FFF2-40B4-BE49-F238E27FC236}">
                <a16:creationId xmlns:a16="http://schemas.microsoft.com/office/drawing/2014/main" id="{EE94EF46-68E8-527A-6DFC-9C45A3D3BFD2}"/>
              </a:ext>
            </a:extLst>
          </p:cNvPr>
          <p:cNvGrpSpPr/>
          <p:nvPr/>
        </p:nvGrpSpPr>
        <p:grpSpPr>
          <a:xfrm>
            <a:off x="2002102" y="4349461"/>
            <a:ext cx="1147138" cy="796084"/>
            <a:chOff x="2169557" y="4445943"/>
            <a:chExt cx="2744266" cy="1662066"/>
          </a:xfrm>
        </p:grpSpPr>
        <p:pic>
          <p:nvPicPr>
            <p:cNvPr id="9" name="Grafik 8" descr="Sprache mit einfarbiger Füllung">
              <a:extLst>
                <a:ext uri="{FF2B5EF4-FFF2-40B4-BE49-F238E27FC236}">
                  <a16:creationId xmlns:a16="http://schemas.microsoft.com/office/drawing/2014/main" id="{C2FE69FE-C922-9112-80F1-F382F5976A3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2169557" y="4445943"/>
              <a:ext cx="1662066" cy="1662066"/>
            </a:xfrm>
            <a:prstGeom prst="rect">
              <a:avLst/>
            </a:prstGeom>
          </p:spPr>
        </p:pic>
        <p:pic>
          <p:nvPicPr>
            <p:cNvPr id="10" name="Grafik 9" descr="Sprache mit einfarbiger Füllung">
              <a:extLst>
                <a:ext uri="{FF2B5EF4-FFF2-40B4-BE49-F238E27FC236}">
                  <a16:creationId xmlns:a16="http://schemas.microsoft.com/office/drawing/2014/main" id="{513B8B8F-A3D1-FEA8-3AFC-CDEF4F233AC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3251757" y="4445943"/>
              <a:ext cx="1662066" cy="1662066"/>
            </a:xfrm>
            <a:prstGeom prst="rect">
              <a:avLst/>
            </a:prstGeom>
          </p:spPr>
        </p:pic>
      </p:grpSp>
      <p:pic>
        <p:nvPicPr>
          <p:cNvPr id="11" name="Grafik 10" descr="Sprache mit einfarbiger Füllung">
            <a:extLst>
              <a:ext uri="{FF2B5EF4-FFF2-40B4-BE49-F238E27FC236}">
                <a16:creationId xmlns:a16="http://schemas.microsoft.com/office/drawing/2014/main" id="{45F5B795-F503-08CF-D41A-D61361E4A56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930256" y="2770110"/>
            <a:ext cx="437972" cy="272002"/>
          </a:xfrm>
          <a:prstGeom prst="rect">
            <a:avLst/>
          </a:prstGeom>
        </p:spPr>
      </p:pic>
      <p:pic>
        <p:nvPicPr>
          <p:cNvPr id="12" name="Grafik 11" descr="Sprache Silhouette">
            <a:extLst>
              <a:ext uri="{FF2B5EF4-FFF2-40B4-BE49-F238E27FC236}">
                <a16:creationId xmlns:a16="http://schemas.microsoft.com/office/drawing/2014/main" id="{8CC468AA-8904-6CA4-5702-2BA2602D9B3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462727" y="2819988"/>
            <a:ext cx="679472" cy="542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57621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B31E87-0BF0-E295-B5A7-FB23E32C94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Gerade Verbindung 9">
            <a:extLst>
              <a:ext uri="{FF2B5EF4-FFF2-40B4-BE49-F238E27FC236}">
                <a16:creationId xmlns:a16="http://schemas.microsoft.com/office/drawing/2014/main" id="{1F8776AF-DF32-0C1E-517B-6FCCC6B1CF29}"/>
              </a:ext>
            </a:extLst>
          </p:cNvPr>
          <p:cNvCxnSpPr/>
          <p:nvPr/>
        </p:nvCxnSpPr>
        <p:spPr>
          <a:xfrm>
            <a:off x="340096" y="359248"/>
            <a:ext cx="346895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feld 11">
            <a:extLst>
              <a:ext uri="{FF2B5EF4-FFF2-40B4-BE49-F238E27FC236}">
                <a16:creationId xmlns:a16="http://schemas.microsoft.com/office/drawing/2014/main" id="{ABC60E03-03BC-6BD1-97E9-FBC9E9D48349}"/>
              </a:ext>
            </a:extLst>
          </p:cNvPr>
          <p:cNvSpPr txBox="1"/>
          <p:nvPr/>
        </p:nvSpPr>
        <p:spPr>
          <a:xfrm>
            <a:off x="338269" y="440204"/>
            <a:ext cx="4986206" cy="27245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n-US" dirty="0"/>
              <a:t>We infer a lot of information from a voice… </a:t>
            </a:r>
            <a:endParaRPr lang="en-US" sz="1000" dirty="0">
              <a:solidFill>
                <a:schemeClr val="tx2"/>
              </a:solidFill>
            </a:endParaRP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6014B188-68F4-2E66-F609-CC3B47693BAA}"/>
              </a:ext>
            </a:extLst>
          </p:cNvPr>
          <p:cNvSpPr txBox="1"/>
          <p:nvPr/>
        </p:nvSpPr>
        <p:spPr>
          <a:xfrm>
            <a:off x="449294" y="1739605"/>
            <a:ext cx="1469127" cy="64633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de-DE" dirty="0" err="1"/>
              <a:t>Linguistic</a:t>
            </a:r>
            <a:r>
              <a:rPr lang="de-DE" dirty="0"/>
              <a:t> </a:t>
            </a:r>
            <a:r>
              <a:rPr lang="de-DE" dirty="0" err="1"/>
              <a:t>cues</a:t>
            </a:r>
            <a:endParaRPr lang="en-US" dirty="0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7537ADA6-EE80-E58B-41EF-E4A6D80347D3}"/>
              </a:ext>
            </a:extLst>
          </p:cNvPr>
          <p:cNvSpPr txBox="1"/>
          <p:nvPr/>
        </p:nvSpPr>
        <p:spPr>
          <a:xfrm>
            <a:off x="2606085" y="1739605"/>
            <a:ext cx="1469127" cy="64633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de-DE" dirty="0" err="1"/>
              <a:t>Paralinguistic</a:t>
            </a:r>
            <a:r>
              <a:rPr lang="de-DE" dirty="0"/>
              <a:t> </a:t>
            </a:r>
            <a:br>
              <a:rPr lang="de-DE" dirty="0"/>
            </a:br>
            <a:r>
              <a:rPr lang="de-DE" dirty="0" err="1"/>
              <a:t>cues</a:t>
            </a:r>
            <a:endParaRPr lang="en-US" dirty="0"/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775B5ABB-BC97-B093-C8FE-06D36E54DCBA}"/>
              </a:ext>
            </a:extLst>
          </p:cNvPr>
          <p:cNvSpPr txBox="1"/>
          <p:nvPr/>
        </p:nvSpPr>
        <p:spPr>
          <a:xfrm>
            <a:off x="4762876" y="1750435"/>
            <a:ext cx="1469127" cy="64633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de-DE" dirty="0" err="1"/>
              <a:t>Extralinguistic</a:t>
            </a:r>
            <a:r>
              <a:rPr lang="de-DE" dirty="0"/>
              <a:t> </a:t>
            </a:r>
            <a:r>
              <a:rPr lang="de-DE" dirty="0" err="1"/>
              <a:t>cues</a:t>
            </a:r>
            <a:endParaRPr lang="en-US" dirty="0"/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D5415F36-8F21-6A81-758D-7A04DBB110FF}"/>
              </a:ext>
            </a:extLst>
          </p:cNvPr>
          <p:cNvSpPr txBox="1"/>
          <p:nvPr/>
        </p:nvSpPr>
        <p:spPr>
          <a:xfrm>
            <a:off x="449293" y="3043555"/>
            <a:ext cx="1469127" cy="523220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de-DE" sz="1400" i="1" dirty="0"/>
              <a:t>e.g. </a:t>
            </a:r>
            <a:r>
              <a:rPr lang="de-DE" sz="1400" i="1" dirty="0" err="1"/>
              <a:t>phonetic</a:t>
            </a:r>
            <a:r>
              <a:rPr lang="de-DE" sz="1400" i="1" dirty="0"/>
              <a:t> </a:t>
            </a:r>
            <a:r>
              <a:rPr lang="de-DE" sz="1400" i="1" dirty="0" err="1"/>
              <a:t>or</a:t>
            </a:r>
            <a:endParaRPr lang="de-DE" sz="1400" i="1" dirty="0"/>
          </a:p>
          <a:p>
            <a:pPr algn="ctr"/>
            <a:r>
              <a:rPr lang="de-DE" sz="1400" i="1" dirty="0" err="1"/>
              <a:t>semantic</a:t>
            </a:r>
            <a:r>
              <a:rPr lang="de-DE" sz="1400" i="1" dirty="0"/>
              <a:t> </a:t>
            </a:r>
            <a:r>
              <a:rPr lang="de-DE" sz="1400" i="1" dirty="0" err="1"/>
              <a:t>content</a:t>
            </a:r>
            <a:endParaRPr lang="en-US" sz="1400" i="1" dirty="0"/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5FE39AD9-6E32-E224-C8C8-B5CE08A2D574}"/>
              </a:ext>
            </a:extLst>
          </p:cNvPr>
          <p:cNvSpPr txBox="1"/>
          <p:nvPr/>
        </p:nvSpPr>
        <p:spPr>
          <a:xfrm>
            <a:off x="2606085" y="3043555"/>
            <a:ext cx="1469127" cy="954107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de-DE" sz="1400" i="1" dirty="0"/>
              <a:t>e.g. </a:t>
            </a:r>
            <a:r>
              <a:rPr lang="de-DE" sz="1400" i="1" dirty="0" err="1"/>
              <a:t>prosody</a:t>
            </a:r>
            <a:r>
              <a:rPr lang="de-DE" sz="1400" i="1" dirty="0"/>
              <a:t> and </a:t>
            </a:r>
            <a:r>
              <a:rPr lang="de-DE" sz="1400" i="1" dirty="0" err="1"/>
              <a:t>intonation</a:t>
            </a:r>
            <a:r>
              <a:rPr lang="de-DE" sz="1400" i="1" dirty="0"/>
              <a:t> </a:t>
            </a:r>
          </a:p>
          <a:p>
            <a:pPr algn="ctr"/>
            <a:endParaRPr lang="de-DE" sz="1400" i="1" dirty="0">
              <a:solidFill>
                <a:srgbClr val="C00000"/>
              </a:solidFill>
            </a:endParaRPr>
          </a:p>
          <a:p>
            <a:pPr algn="ctr"/>
            <a:r>
              <a:rPr lang="en-US" sz="1400" i="1" dirty="0">
                <a:solidFill>
                  <a:srgbClr val="C00000"/>
                </a:solidFill>
              </a:rPr>
              <a:t>EMOTIONS</a:t>
            </a:r>
            <a:endParaRPr lang="de-DE" sz="1400" i="1" dirty="0">
              <a:solidFill>
                <a:srgbClr val="C00000"/>
              </a:solidFill>
            </a:endParaRPr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3E630C56-CB84-01FE-5E74-9C2E52D30501}"/>
              </a:ext>
            </a:extLst>
          </p:cNvPr>
          <p:cNvSpPr txBox="1"/>
          <p:nvPr/>
        </p:nvSpPr>
        <p:spPr>
          <a:xfrm>
            <a:off x="4762876" y="3043555"/>
            <a:ext cx="1469127" cy="523220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de-DE" sz="1400" i="1" dirty="0"/>
              <a:t>e.g. </a:t>
            </a:r>
            <a:r>
              <a:rPr lang="de-DE" sz="1400" i="1" dirty="0" err="1"/>
              <a:t>identity</a:t>
            </a:r>
            <a:r>
              <a:rPr lang="de-DE" sz="1400" i="1" dirty="0"/>
              <a:t>, </a:t>
            </a:r>
            <a:r>
              <a:rPr lang="de-DE" sz="1400" i="1" dirty="0" err="1"/>
              <a:t>gender</a:t>
            </a:r>
            <a:r>
              <a:rPr lang="de-DE" sz="1400" i="1" dirty="0"/>
              <a:t>, </a:t>
            </a:r>
            <a:r>
              <a:rPr lang="de-DE" sz="1400" i="1" dirty="0" err="1"/>
              <a:t>age</a:t>
            </a:r>
            <a:endParaRPr lang="de-DE" sz="1400" i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907338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Gerade Verbindung 9">
            <a:extLst>
              <a:ext uri="{FF2B5EF4-FFF2-40B4-BE49-F238E27FC236}">
                <a16:creationId xmlns:a16="http://schemas.microsoft.com/office/drawing/2014/main" id="{5A4CBE88-6C5D-4FB8-9316-1A0A18DD7B01}"/>
              </a:ext>
            </a:extLst>
          </p:cNvPr>
          <p:cNvCxnSpPr/>
          <p:nvPr/>
        </p:nvCxnSpPr>
        <p:spPr>
          <a:xfrm>
            <a:off x="340096" y="359248"/>
            <a:ext cx="346895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feld 11">
            <a:extLst>
              <a:ext uri="{FF2B5EF4-FFF2-40B4-BE49-F238E27FC236}">
                <a16:creationId xmlns:a16="http://schemas.microsoft.com/office/drawing/2014/main" id="{BC301636-9F29-41E8-9934-6DAA81A65624}"/>
              </a:ext>
            </a:extLst>
          </p:cNvPr>
          <p:cNvSpPr txBox="1"/>
          <p:nvPr/>
        </p:nvSpPr>
        <p:spPr>
          <a:xfrm>
            <a:off x="338269" y="440204"/>
            <a:ext cx="3363047" cy="27245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n-US" dirty="0"/>
              <a:t>The processing of vocal emotions…. </a:t>
            </a:r>
            <a:endParaRPr lang="en-US" sz="1000" dirty="0">
              <a:solidFill>
                <a:schemeClr val="tx2"/>
              </a:solidFill>
            </a:endParaRP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F6D5DE84-A984-4E00-8F73-6E0FBD7287A1}"/>
              </a:ext>
            </a:extLst>
          </p:cNvPr>
          <p:cNvSpPr txBox="1"/>
          <p:nvPr/>
        </p:nvSpPr>
        <p:spPr>
          <a:xfrm>
            <a:off x="338269" y="1085850"/>
            <a:ext cx="3292827" cy="341520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endParaRPr lang="en-US" sz="1200" dirty="0">
              <a:solidFill>
                <a:schemeClr val="tx2"/>
              </a:solidFill>
            </a:endParaRPr>
          </a:p>
          <a:p>
            <a:endParaRPr lang="en-US" sz="1200" dirty="0">
              <a:solidFill>
                <a:schemeClr val="tx2"/>
              </a:solidFill>
            </a:endParaRPr>
          </a:p>
          <a:p>
            <a:pPr algn="r"/>
            <a:r>
              <a:rPr lang="en-US" dirty="0"/>
              <a:t>... is a complex task for our perceptual system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US" dirty="0"/>
          </a:p>
          <a:p>
            <a:pPr algn="ctr"/>
            <a:r>
              <a:rPr lang="en-US" dirty="0"/>
              <a:t>It requires real-time monitoring and efficient processing of the auditory input.   </a:t>
            </a:r>
          </a:p>
          <a:p>
            <a:pPr algn="ctr"/>
            <a:endParaRPr lang="en-US" sz="1100" dirty="0">
              <a:solidFill>
                <a:schemeClr val="tx2"/>
              </a:solidFill>
            </a:endParaRPr>
          </a:p>
        </p:txBody>
      </p:sp>
      <p:pic>
        <p:nvPicPr>
          <p:cNvPr id="14" name="Grafik 13" descr="Ein Bild, das Mikrofon enthält.&#10;&#10;Automatisch generierte Beschreibung">
            <a:extLst>
              <a:ext uri="{FF2B5EF4-FFF2-40B4-BE49-F238E27FC236}">
                <a16:creationId xmlns:a16="http://schemas.microsoft.com/office/drawing/2014/main" id="{C3D84812-122D-44F3-93C0-B0BA781AF68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alphaModFix amt="50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ChalkSketch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01316" y="7883"/>
            <a:ext cx="3156684" cy="4493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22261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0886FC-FFA6-1435-2840-634AD2889B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Gerade Verbindung 9">
            <a:extLst>
              <a:ext uri="{FF2B5EF4-FFF2-40B4-BE49-F238E27FC236}">
                <a16:creationId xmlns:a16="http://schemas.microsoft.com/office/drawing/2014/main" id="{7BE9C2F5-C227-C257-0AC3-D02360D3217C}"/>
              </a:ext>
            </a:extLst>
          </p:cNvPr>
          <p:cNvCxnSpPr/>
          <p:nvPr/>
        </p:nvCxnSpPr>
        <p:spPr>
          <a:xfrm>
            <a:off x="340096" y="359248"/>
            <a:ext cx="346895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feld 11">
            <a:extLst>
              <a:ext uri="{FF2B5EF4-FFF2-40B4-BE49-F238E27FC236}">
                <a16:creationId xmlns:a16="http://schemas.microsoft.com/office/drawing/2014/main" id="{032AE7B6-5EF7-33BE-8FA5-471FD85EB7BB}"/>
              </a:ext>
            </a:extLst>
          </p:cNvPr>
          <p:cNvSpPr txBox="1"/>
          <p:nvPr/>
        </p:nvSpPr>
        <p:spPr>
          <a:xfrm>
            <a:off x="338269" y="440204"/>
            <a:ext cx="6069905" cy="27245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n-US" dirty="0"/>
              <a:t>How is this degree of efficiency achieved? </a:t>
            </a:r>
            <a:endParaRPr lang="en-US" sz="1000" dirty="0">
              <a:solidFill>
                <a:schemeClr val="tx2"/>
              </a:solidFill>
            </a:endParaRP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D983A929-188C-C860-CE8E-BB8BD4EDC4DA}"/>
              </a:ext>
            </a:extLst>
          </p:cNvPr>
          <p:cNvSpPr txBox="1"/>
          <p:nvPr/>
        </p:nvSpPr>
        <p:spPr>
          <a:xfrm>
            <a:off x="338269" y="1704360"/>
            <a:ext cx="5767563" cy="1237021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endParaRPr lang="en-US" sz="1200" dirty="0">
              <a:solidFill>
                <a:schemeClr val="tx2"/>
              </a:solidFill>
            </a:endParaRPr>
          </a:p>
          <a:p>
            <a:pPr algn="ctr"/>
            <a:endParaRPr lang="en-US" sz="1100" dirty="0">
              <a:solidFill>
                <a:schemeClr val="tx2"/>
              </a:solidFill>
            </a:endParaRPr>
          </a:p>
          <a:p>
            <a:pPr algn="ctr"/>
            <a:endParaRPr lang="en-US" sz="1100" dirty="0">
              <a:solidFill>
                <a:schemeClr val="tx2"/>
              </a:solidFill>
            </a:endParaRPr>
          </a:p>
          <a:p>
            <a:pPr algn="ctr"/>
            <a:r>
              <a:rPr lang="en-US" sz="2000" dirty="0">
                <a:solidFill>
                  <a:schemeClr val="tx2"/>
                </a:solidFill>
              </a:rPr>
              <a:t>Flexibility</a:t>
            </a:r>
          </a:p>
        </p:txBody>
      </p:sp>
    </p:spTree>
    <p:extLst>
      <p:ext uri="{BB962C8B-B14F-4D97-AF65-F5344CB8AC3E}">
        <p14:creationId xmlns:p14="http://schemas.microsoft.com/office/powerpoint/2010/main" val="7303454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568F57-6ED6-1F05-00E3-9543E6D544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Rechteck 42">
            <a:extLst>
              <a:ext uri="{FF2B5EF4-FFF2-40B4-BE49-F238E27FC236}">
                <a16:creationId xmlns:a16="http://schemas.microsoft.com/office/drawing/2014/main" id="{E9BAEFD1-9F66-371B-CE3A-9555386F4697}"/>
              </a:ext>
            </a:extLst>
          </p:cNvPr>
          <p:cNvSpPr/>
          <p:nvPr/>
        </p:nvSpPr>
        <p:spPr>
          <a:xfrm>
            <a:off x="2837854" y="3385428"/>
            <a:ext cx="1420755" cy="767680"/>
          </a:xfrm>
          <a:prstGeom prst="rect">
            <a:avLst/>
          </a:prstGeom>
          <a:solidFill>
            <a:schemeClr val="accent6">
              <a:lumMod val="95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just"/>
            <a:r>
              <a:rPr lang="de-DE" sz="1400" dirty="0">
                <a:solidFill>
                  <a:schemeClr val="bg1">
                    <a:lumMod val="50000"/>
                  </a:schemeClr>
                </a:solidFill>
              </a:rPr>
              <a:t>Response Phase</a:t>
            </a:r>
            <a:endParaRPr lang="en-US" sz="14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1" name="Rechteck 40">
            <a:extLst>
              <a:ext uri="{FF2B5EF4-FFF2-40B4-BE49-F238E27FC236}">
                <a16:creationId xmlns:a16="http://schemas.microsoft.com/office/drawing/2014/main" id="{E108FF61-5891-8A6D-EBAB-E116812F18D9}"/>
              </a:ext>
            </a:extLst>
          </p:cNvPr>
          <p:cNvSpPr/>
          <p:nvPr/>
        </p:nvSpPr>
        <p:spPr>
          <a:xfrm>
            <a:off x="2841529" y="2488706"/>
            <a:ext cx="1420755" cy="767680"/>
          </a:xfrm>
          <a:prstGeom prst="rect">
            <a:avLst/>
          </a:prstGeom>
          <a:solidFill>
            <a:schemeClr val="accent6">
              <a:lumMod val="95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just"/>
            <a:r>
              <a:rPr lang="de-DE" sz="1400" dirty="0">
                <a:solidFill>
                  <a:schemeClr val="bg1">
                    <a:lumMod val="50000"/>
                  </a:schemeClr>
                </a:solidFill>
              </a:rPr>
              <a:t>Response Phase</a:t>
            </a:r>
            <a:endParaRPr lang="en-US" sz="14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5" name="Rechteck 34">
            <a:extLst>
              <a:ext uri="{FF2B5EF4-FFF2-40B4-BE49-F238E27FC236}">
                <a16:creationId xmlns:a16="http://schemas.microsoft.com/office/drawing/2014/main" id="{0C4D676F-DCB6-94B0-CE71-DE61FE3136AE}"/>
              </a:ext>
            </a:extLst>
          </p:cNvPr>
          <p:cNvSpPr/>
          <p:nvPr/>
        </p:nvSpPr>
        <p:spPr>
          <a:xfrm>
            <a:off x="403421" y="3352549"/>
            <a:ext cx="2094271" cy="767680"/>
          </a:xfrm>
          <a:prstGeom prst="rect">
            <a:avLst/>
          </a:prstGeom>
          <a:solidFill>
            <a:schemeClr val="accent6">
              <a:lumMod val="95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just"/>
            <a:r>
              <a:rPr lang="de-DE" sz="1400" dirty="0">
                <a:solidFill>
                  <a:schemeClr val="bg1">
                    <a:lumMod val="50000"/>
                  </a:schemeClr>
                </a:solidFill>
              </a:rPr>
              <a:t>Adaptation Phase 2</a:t>
            </a:r>
            <a:endParaRPr lang="en-US" sz="14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3" name="Rechteck 32">
            <a:extLst>
              <a:ext uri="{FF2B5EF4-FFF2-40B4-BE49-F238E27FC236}">
                <a16:creationId xmlns:a16="http://schemas.microsoft.com/office/drawing/2014/main" id="{F8CE5217-2267-4042-EBB3-BB267271505B}"/>
              </a:ext>
            </a:extLst>
          </p:cNvPr>
          <p:cNvSpPr/>
          <p:nvPr/>
        </p:nvSpPr>
        <p:spPr>
          <a:xfrm>
            <a:off x="403422" y="2492478"/>
            <a:ext cx="2094271" cy="767680"/>
          </a:xfrm>
          <a:prstGeom prst="rect">
            <a:avLst/>
          </a:prstGeom>
          <a:solidFill>
            <a:schemeClr val="accent6">
              <a:lumMod val="95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just"/>
            <a:r>
              <a:rPr lang="de-DE" sz="1400" dirty="0">
                <a:solidFill>
                  <a:schemeClr val="bg1">
                    <a:lumMod val="50000"/>
                  </a:schemeClr>
                </a:solidFill>
              </a:rPr>
              <a:t>Adaptation Phase 1</a:t>
            </a:r>
            <a:endParaRPr lang="en-US" sz="1400" dirty="0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2" name="Gerade Verbindung 9">
            <a:extLst>
              <a:ext uri="{FF2B5EF4-FFF2-40B4-BE49-F238E27FC236}">
                <a16:creationId xmlns:a16="http://schemas.microsoft.com/office/drawing/2014/main" id="{E2776DA2-013E-4802-B908-9CE09FBDDDBE}"/>
              </a:ext>
            </a:extLst>
          </p:cNvPr>
          <p:cNvCxnSpPr/>
          <p:nvPr/>
        </p:nvCxnSpPr>
        <p:spPr>
          <a:xfrm>
            <a:off x="340096" y="359248"/>
            <a:ext cx="346895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feld 11">
            <a:extLst>
              <a:ext uri="{FF2B5EF4-FFF2-40B4-BE49-F238E27FC236}">
                <a16:creationId xmlns:a16="http://schemas.microsoft.com/office/drawing/2014/main" id="{D5378E54-5665-6C37-5C70-BB262ECE3BD5}"/>
              </a:ext>
            </a:extLst>
          </p:cNvPr>
          <p:cNvSpPr txBox="1"/>
          <p:nvPr/>
        </p:nvSpPr>
        <p:spPr>
          <a:xfrm>
            <a:off x="338269" y="440204"/>
            <a:ext cx="5748206" cy="27245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n-US" dirty="0"/>
              <a:t>Perceptual Adaptation -  a hallmark of perceptual flexibility</a:t>
            </a:r>
            <a:endParaRPr lang="en-US" sz="1000" dirty="0">
              <a:solidFill>
                <a:schemeClr val="tx2"/>
              </a:solidFill>
            </a:endParaRP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56C3FF96-2D85-4236-C81B-37BBB1BD4770}"/>
              </a:ext>
            </a:extLst>
          </p:cNvPr>
          <p:cNvSpPr txBox="1"/>
          <p:nvPr/>
        </p:nvSpPr>
        <p:spPr>
          <a:xfrm>
            <a:off x="5140447" y="2997697"/>
            <a:ext cx="1540323" cy="66521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US" sz="1600" i="1" dirty="0"/>
              <a:t>contrastive aftereffect</a:t>
            </a:r>
            <a:endParaRPr lang="en-US" sz="900" i="1" dirty="0">
              <a:solidFill>
                <a:schemeClr val="tx2"/>
              </a:solidFill>
            </a:endParaRPr>
          </a:p>
        </p:txBody>
      </p:sp>
      <p:pic>
        <p:nvPicPr>
          <p:cNvPr id="18" name="Grafik 17">
            <a:extLst>
              <a:ext uri="{FF2B5EF4-FFF2-40B4-BE49-F238E27FC236}">
                <a16:creationId xmlns:a16="http://schemas.microsoft.com/office/drawing/2014/main" id="{0B661EE4-C856-DC8B-1AA7-C4312B1F4E1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23053" y="930659"/>
            <a:ext cx="4649398" cy="897490"/>
          </a:xfrm>
          <a:prstGeom prst="rect">
            <a:avLst/>
          </a:prstGeom>
        </p:spPr>
      </p:pic>
      <p:pic>
        <p:nvPicPr>
          <p:cNvPr id="20" name="Grafik 19">
            <a:extLst>
              <a:ext uri="{FF2B5EF4-FFF2-40B4-BE49-F238E27FC236}">
                <a16:creationId xmlns:a16="http://schemas.microsoft.com/office/drawing/2014/main" id="{321B9C92-649F-05FE-AA9A-57639E2925E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94403" y="2788520"/>
            <a:ext cx="419100" cy="333375"/>
          </a:xfrm>
          <a:prstGeom prst="rect">
            <a:avLst/>
          </a:prstGeom>
        </p:spPr>
      </p:pic>
      <p:pic>
        <p:nvPicPr>
          <p:cNvPr id="22" name="Grafik 21">
            <a:extLst>
              <a:ext uri="{FF2B5EF4-FFF2-40B4-BE49-F238E27FC236}">
                <a16:creationId xmlns:a16="http://schemas.microsoft.com/office/drawing/2014/main" id="{F6285328-E2AC-271B-9C3C-37D2E61F7D7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759213" y="3686737"/>
            <a:ext cx="419100" cy="333375"/>
          </a:xfrm>
          <a:prstGeom prst="rect">
            <a:avLst/>
          </a:prstGeom>
        </p:spPr>
      </p:pic>
      <p:pic>
        <p:nvPicPr>
          <p:cNvPr id="24" name="Grafik 23">
            <a:extLst>
              <a:ext uri="{FF2B5EF4-FFF2-40B4-BE49-F238E27FC236}">
                <a16:creationId xmlns:a16="http://schemas.microsoft.com/office/drawing/2014/main" id="{646FD183-4763-5BFD-2509-E393B4AE812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370179" y="3686736"/>
            <a:ext cx="419100" cy="333375"/>
          </a:xfrm>
          <a:prstGeom prst="rect">
            <a:avLst/>
          </a:prstGeom>
        </p:spPr>
      </p:pic>
      <p:pic>
        <p:nvPicPr>
          <p:cNvPr id="26" name="Grafik 25">
            <a:extLst>
              <a:ext uri="{FF2B5EF4-FFF2-40B4-BE49-F238E27FC236}">
                <a16:creationId xmlns:a16="http://schemas.microsoft.com/office/drawing/2014/main" id="{707B293A-B8D0-BD1F-0220-EA8AF76A58C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721347" y="2737117"/>
            <a:ext cx="419100" cy="333375"/>
          </a:xfrm>
          <a:prstGeom prst="rect">
            <a:avLst/>
          </a:prstGeom>
        </p:spPr>
      </p:pic>
      <p:pic>
        <p:nvPicPr>
          <p:cNvPr id="28" name="Grafik 27">
            <a:extLst>
              <a:ext uri="{FF2B5EF4-FFF2-40B4-BE49-F238E27FC236}">
                <a16:creationId xmlns:a16="http://schemas.microsoft.com/office/drawing/2014/main" id="{386F7F22-0FDD-F428-92D8-89918EEB562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721347" y="3675170"/>
            <a:ext cx="419100" cy="333375"/>
          </a:xfrm>
          <a:prstGeom prst="rect">
            <a:avLst/>
          </a:prstGeom>
        </p:spPr>
      </p:pic>
      <p:pic>
        <p:nvPicPr>
          <p:cNvPr id="30" name="Grafik 29">
            <a:extLst>
              <a:ext uri="{FF2B5EF4-FFF2-40B4-BE49-F238E27FC236}">
                <a16:creationId xmlns:a16="http://schemas.microsoft.com/office/drawing/2014/main" id="{0CED12CC-562C-5562-7C9C-2ED3F130086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09675" y="2788519"/>
            <a:ext cx="419100" cy="333375"/>
          </a:xfrm>
          <a:prstGeom prst="rect">
            <a:avLst/>
          </a:prstGeom>
        </p:spPr>
      </p:pic>
      <p:pic>
        <p:nvPicPr>
          <p:cNvPr id="32" name="Grafik 31">
            <a:extLst>
              <a:ext uri="{FF2B5EF4-FFF2-40B4-BE49-F238E27FC236}">
                <a16:creationId xmlns:a16="http://schemas.microsoft.com/office/drawing/2014/main" id="{BC778963-D547-04F9-AA84-9B64D51D01A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759213" y="2791649"/>
            <a:ext cx="419100" cy="333375"/>
          </a:xfrm>
          <a:prstGeom prst="rect">
            <a:avLst/>
          </a:prstGeom>
        </p:spPr>
      </p:pic>
      <p:pic>
        <p:nvPicPr>
          <p:cNvPr id="37" name="Grafik 36">
            <a:extLst>
              <a:ext uri="{FF2B5EF4-FFF2-40B4-BE49-F238E27FC236}">
                <a16:creationId xmlns:a16="http://schemas.microsoft.com/office/drawing/2014/main" id="{0B74C5DB-C3A8-FA79-8D6F-DD8B2B2A9D6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97999" y="3679643"/>
            <a:ext cx="419100" cy="333375"/>
          </a:xfrm>
          <a:prstGeom prst="rect">
            <a:avLst/>
          </a:prstGeom>
        </p:spPr>
      </p:pic>
      <p:pic>
        <p:nvPicPr>
          <p:cNvPr id="39" name="Grafik 38">
            <a:extLst>
              <a:ext uri="{FF2B5EF4-FFF2-40B4-BE49-F238E27FC236}">
                <a16:creationId xmlns:a16="http://schemas.microsoft.com/office/drawing/2014/main" id="{69E39A8A-F3DC-5E42-1685-B915FFE1F39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38444" y="3665894"/>
            <a:ext cx="419100" cy="333375"/>
          </a:xfrm>
          <a:prstGeom prst="rect">
            <a:avLst/>
          </a:prstGeom>
        </p:spPr>
      </p:pic>
      <p:pic>
        <p:nvPicPr>
          <p:cNvPr id="45" name="Grafik 44">
            <a:extLst>
              <a:ext uri="{FF2B5EF4-FFF2-40B4-BE49-F238E27FC236}">
                <a16:creationId xmlns:a16="http://schemas.microsoft.com/office/drawing/2014/main" id="{3132AAC8-5DA9-0E60-C84F-199912DA679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338681" y="2781218"/>
            <a:ext cx="419100" cy="333375"/>
          </a:xfrm>
          <a:prstGeom prst="rect">
            <a:avLst/>
          </a:prstGeom>
        </p:spPr>
      </p:pic>
      <p:sp>
        <p:nvSpPr>
          <p:cNvPr id="46" name="Pfeil: nach rechts 45">
            <a:extLst>
              <a:ext uri="{FF2B5EF4-FFF2-40B4-BE49-F238E27FC236}">
                <a16:creationId xmlns:a16="http://schemas.microsoft.com/office/drawing/2014/main" id="{6FD3B49C-B904-C57B-5ABE-AE7BF79E2B63}"/>
              </a:ext>
            </a:extLst>
          </p:cNvPr>
          <p:cNvSpPr/>
          <p:nvPr/>
        </p:nvSpPr>
        <p:spPr>
          <a:xfrm>
            <a:off x="4370146" y="2822635"/>
            <a:ext cx="235974" cy="125270"/>
          </a:xfrm>
          <a:prstGeom prst="rightArrow">
            <a:avLst/>
          </a:prstGeom>
          <a:solidFill>
            <a:schemeClr val="bg1">
              <a:lumMod val="5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Pfeil: nach rechts 47">
            <a:extLst>
              <a:ext uri="{FF2B5EF4-FFF2-40B4-BE49-F238E27FC236}">
                <a16:creationId xmlns:a16="http://schemas.microsoft.com/office/drawing/2014/main" id="{6CF16E06-35A7-E783-A461-94317BA629A8}"/>
              </a:ext>
            </a:extLst>
          </p:cNvPr>
          <p:cNvSpPr/>
          <p:nvPr/>
        </p:nvSpPr>
        <p:spPr>
          <a:xfrm>
            <a:off x="4370146" y="3790788"/>
            <a:ext cx="235974" cy="125270"/>
          </a:xfrm>
          <a:prstGeom prst="rightArrow">
            <a:avLst/>
          </a:prstGeom>
          <a:solidFill>
            <a:schemeClr val="bg1">
              <a:lumMod val="5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67489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800F55-6CBC-A53D-2575-C22057FF15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Gerade Verbindung 9">
            <a:extLst>
              <a:ext uri="{FF2B5EF4-FFF2-40B4-BE49-F238E27FC236}">
                <a16:creationId xmlns:a16="http://schemas.microsoft.com/office/drawing/2014/main" id="{CDDD69CC-54BC-5725-0161-100C4AD2395F}"/>
              </a:ext>
            </a:extLst>
          </p:cNvPr>
          <p:cNvCxnSpPr/>
          <p:nvPr/>
        </p:nvCxnSpPr>
        <p:spPr>
          <a:xfrm>
            <a:off x="340096" y="359248"/>
            <a:ext cx="346895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feld 11">
            <a:extLst>
              <a:ext uri="{FF2B5EF4-FFF2-40B4-BE49-F238E27FC236}">
                <a16:creationId xmlns:a16="http://schemas.microsoft.com/office/drawing/2014/main" id="{8F8C76BD-C3FE-3603-8CC9-46FB22A08B76}"/>
              </a:ext>
            </a:extLst>
          </p:cNvPr>
          <p:cNvSpPr txBox="1"/>
          <p:nvPr/>
        </p:nvSpPr>
        <p:spPr>
          <a:xfrm>
            <a:off x="338269" y="440204"/>
            <a:ext cx="5748206" cy="27245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n-US" dirty="0"/>
              <a:t>Perceptual Adaptation -  a hallmark of perceptual flexibility</a:t>
            </a:r>
            <a:endParaRPr lang="en-US" sz="1000" dirty="0">
              <a:solidFill>
                <a:schemeClr val="tx2"/>
              </a:solidFill>
            </a:endParaRPr>
          </a:p>
        </p:txBody>
      </p:sp>
      <p:pic>
        <p:nvPicPr>
          <p:cNvPr id="50" name="Grafik 49">
            <a:extLst>
              <a:ext uri="{FF2B5EF4-FFF2-40B4-BE49-F238E27FC236}">
                <a16:creationId xmlns:a16="http://schemas.microsoft.com/office/drawing/2014/main" id="{B29ABF44-D864-75C2-8898-A74B380E8A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959" y="966773"/>
            <a:ext cx="3124636" cy="2581635"/>
          </a:xfrm>
          <a:prstGeom prst="rect">
            <a:avLst/>
          </a:prstGeom>
        </p:spPr>
      </p:pic>
      <p:pic>
        <p:nvPicPr>
          <p:cNvPr id="52" name="Grafik 51">
            <a:extLst>
              <a:ext uri="{FF2B5EF4-FFF2-40B4-BE49-F238E27FC236}">
                <a16:creationId xmlns:a16="http://schemas.microsoft.com/office/drawing/2014/main" id="{DDE0AA08-BD26-276A-BA95-8E1DB64319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72078" y="2575725"/>
            <a:ext cx="581106" cy="714475"/>
          </a:xfrm>
          <a:prstGeom prst="rect">
            <a:avLst/>
          </a:prstGeom>
        </p:spPr>
      </p:pic>
      <p:pic>
        <p:nvPicPr>
          <p:cNvPr id="54" name="Grafik 53">
            <a:extLst>
              <a:ext uri="{FF2B5EF4-FFF2-40B4-BE49-F238E27FC236}">
                <a16:creationId xmlns:a16="http://schemas.microsoft.com/office/drawing/2014/main" id="{A77E6EB3-ABD1-CA8C-D982-71077DB84AE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2519" y="3564074"/>
            <a:ext cx="3185654" cy="190448"/>
          </a:xfrm>
          <a:prstGeom prst="rect">
            <a:avLst/>
          </a:prstGeom>
        </p:spPr>
      </p:pic>
      <p:cxnSp>
        <p:nvCxnSpPr>
          <p:cNvPr id="58" name="Gerade Verbindung mit Pfeil 57">
            <a:extLst>
              <a:ext uri="{FF2B5EF4-FFF2-40B4-BE49-F238E27FC236}">
                <a16:creationId xmlns:a16="http://schemas.microsoft.com/office/drawing/2014/main" id="{82788213-0E99-DB60-1124-1ADE6FE1D29F}"/>
              </a:ext>
            </a:extLst>
          </p:cNvPr>
          <p:cNvCxnSpPr/>
          <p:nvPr/>
        </p:nvCxnSpPr>
        <p:spPr>
          <a:xfrm>
            <a:off x="2305346" y="2079522"/>
            <a:ext cx="216628" cy="178068"/>
          </a:xfrm>
          <a:prstGeom prst="straightConnector1">
            <a:avLst/>
          </a:prstGeom>
          <a:ln>
            <a:solidFill>
              <a:srgbClr val="000000"/>
            </a:solidFill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0" name="Textfeld 59">
            <a:extLst>
              <a:ext uri="{FF2B5EF4-FFF2-40B4-BE49-F238E27FC236}">
                <a16:creationId xmlns:a16="http://schemas.microsoft.com/office/drawing/2014/main" id="{F3EB3C32-97DD-22A8-0242-11E465BF632A}"/>
              </a:ext>
            </a:extLst>
          </p:cNvPr>
          <p:cNvSpPr txBox="1"/>
          <p:nvPr/>
        </p:nvSpPr>
        <p:spPr>
          <a:xfrm>
            <a:off x="4135287" y="1548176"/>
            <a:ext cx="2249754" cy="53134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US" sz="1600" i="1" dirty="0"/>
              <a:t>Perceptual recalibration of the system</a:t>
            </a:r>
          </a:p>
        </p:txBody>
      </p:sp>
      <p:sp>
        <p:nvSpPr>
          <p:cNvPr id="62" name="Textfeld 61">
            <a:extLst>
              <a:ext uri="{FF2B5EF4-FFF2-40B4-BE49-F238E27FC236}">
                <a16:creationId xmlns:a16="http://schemas.microsoft.com/office/drawing/2014/main" id="{5043E3D5-E1D8-7EDA-7805-26DC800B37E4}"/>
              </a:ext>
            </a:extLst>
          </p:cNvPr>
          <p:cNvSpPr txBox="1"/>
          <p:nvPr/>
        </p:nvSpPr>
        <p:spPr>
          <a:xfrm>
            <a:off x="4135287" y="2487715"/>
            <a:ext cx="2249754" cy="53134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US" sz="1600" i="1" dirty="0"/>
              <a:t>Efficient tracking of emotions</a:t>
            </a:r>
          </a:p>
        </p:txBody>
      </p:sp>
    </p:spTree>
    <p:extLst>
      <p:ext uri="{BB962C8B-B14F-4D97-AF65-F5344CB8AC3E}">
        <p14:creationId xmlns:p14="http://schemas.microsoft.com/office/powerpoint/2010/main" val="38899526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C79940-6DF1-740A-E290-C4CD465D06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Gerade Verbindung 9">
            <a:extLst>
              <a:ext uri="{FF2B5EF4-FFF2-40B4-BE49-F238E27FC236}">
                <a16:creationId xmlns:a16="http://schemas.microsoft.com/office/drawing/2014/main" id="{F7F70B68-F381-018C-CF39-44CE1BF64CE4}"/>
              </a:ext>
            </a:extLst>
          </p:cNvPr>
          <p:cNvCxnSpPr/>
          <p:nvPr/>
        </p:nvCxnSpPr>
        <p:spPr>
          <a:xfrm>
            <a:off x="340096" y="359248"/>
            <a:ext cx="346895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Grafik 3">
            <a:extLst>
              <a:ext uri="{FF2B5EF4-FFF2-40B4-BE49-F238E27FC236}">
                <a16:creationId xmlns:a16="http://schemas.microsoft.com/office/drawing/2014/main" id="{D982E5A4-2274-8843-C505-652F150101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627" y="648697"/>
            <a:ext cx="6420746" cy="3315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21808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C601A9-553E-6D03-187E-8A52C31D5F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Gerade Verbindung 9">
            <a:extLst>
              <a:ext uri="{FF2B5EF4-FFF2-40B4-BE49-F238E27FC236}">
                <a16:creationId xmlns:a16="http://schemas.microsoft.com/office/drawing/2014/main" id="{CFD7855A-74B9-1E35-8950-928A7CA9E138}"/>
              </a:ext>
            </a:extLst>
          </p:cNvPr>
          <p:cNvCxnSpPr/>
          <p:nvPr/>
        </p:nvCxnSpPr>
        <p:spPr>
          <a:xfrm>
            <a:off x="340096" y="359248"/>
            <a:ext cx="346895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feld 11">
            <a:extLst>
              <a:ext uri="{FF2B5EF4-FFF2-40B4-BE49-F238E27FC236}">
                <a16:creationId xmlns:a16="http://schemas.microsoft.com/office/drawing/2014/main" id="{5BE82A40-EB01-92AD-FD96-248DA4D6B03D}"/>
              </a:ext>
            </a:extLst>
          </p:cNvPr>
          <p:cNvSpPr txBox="1"/>
          <p:nvPr/>
        </p:nvSpPr>
        <p:spPr>
          <a:xfrm>
            <a:off x="910861" y="1564153"/>
            <a:ext cx="5036278" cy="864721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US" sz="1600" dirty="0">
                <a:solidFill>
                  <a:schemeClr val="tx2"/>
                </a:solidFill>
              </a:rPr>
              <a:t>Is vocal emotional processing </a:t>
            </a:r>
            <a:r>
              <a:rPr lang="en-US" sz="1600" i="1" dirty="0">
                <a:solidFill>
                  <a:schemeClr val="tx2"/>
                </a:solidFill>
              </a:rPr>
              <a:t>fine-tuned </a:t>
            </a:r>
            <a:r>
              <a:rPr lang="en-US" sz="1600" dirty="0">
                <a:solidFill>
                  <a:schemeClr val="tx2"/>
                </a:solidFill>
              </a:rPr>
              <a:t>to characteristics of </a:t>
            </a:r>
            <a:br>
              <a:rPr lang="en-US" sz="1600" dirty="0">
                <a:solidFill>
                  <a:schemeClr val="tx2"/>
                </a:solidFill>
              </a:rPr>
            </a:br>
            <a:r>
              <a:rPr lang="en-US" sz="1600" dirty="0">
                <a:solidFill>
                  <a:schemeClr val="tx2"/>
                </a:solidFill>
              </a:rPr>
              <a:t>the </a:t>
            </a:r>
            <a:r>
              <a:rPr lang="en-US" sz="1600" b="1" dirty="0">
                <a:solidFill>
                  <a:schemeClr val="tx2"/>
                </a:solidFill>
              </a:rPr>
              <a:t>speaker </a:t>
            </a:r>
            <a:r>
              <a:rPr lang="en-US" sz="1600" dirty="0">
                <a:solidFill>
                  <a:schemeClr val="tx2"/>
                </a:solidFill>
              </a:rPr>
              <a:t>and the </a:t>
            </a:r>
            <a:r>
              <a:rPr lang="en-US" sz="1600" b="1" dirty="0">
                <a:solidFill>
                  <a:schemeClr val="tx2"/>
                </a:solidFill>
              </a:rPr>
              <a:t>speech</a:t>
            </a:r>
            <a:r>
              <a:rPr lang="en-US" sz="1600" dirty="0">
                <a:solidFill>
                  <a:schemeClr val="tx2"/>
                </a:solidFill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8190319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52791D-6DB2-BF59-3171-EBD33C765A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Gerade Verbindung 9">
            <a:extLst>
              <a:ext uri="{FF2B5EF4-FFF2-40B4-BE49-F238E27FC236}">
                <a16:creationId xmlns:a16="http://schemas.microsoft.com/office/drawing/2014/main" id="{B9F03519-F01D-7751-EBD6-D5B6F8373C32}"/>
              </a:ext>
            </a:extLst>
          </p:cNvPr>
          <p:cNvCxnSpPr/>
          <p:nvPr/>
        </p:nvCxnSpPr>
        <p:spPr>
          <a:xfrm>
            <a:off x="340096" y="359248"/>
            <a:ext cx="346895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feld 3">
            <a:extLst>
              <a:ext uri="{FF2B5EF4-FFF2-40B4-BE49-F238E27FC236}">
                <a16:creationId xmlns:a16="http://schemas.microsoft.com/office/drawing/2014/main" id="{0C29C57A-99DD-391D-F291-FBA025EC88A2}"/>
              </a:ext>
            </a:extLst>
          </p:cNvPr>
          <p:cNvSpPr txBox="1"/>
          <p:nvPr/>
        </p:nvSpPr>
        <p:spPr>
          <a:xfrm>
            <a:off x="338269" y="440204"/>
            <a:ext cx="5748206" cy="27245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n-US" dirty="0"/>
              <a:t>Interaction of different voice processing pathways…</a:t>
            </a:r>
            <a:endParaRPr lang="en-US" sz="1000" dirty="0">
              <a:solidFill>
                <a:schemeClr val="tx2"/>
              </a:solidFill>
            </a:endParaRP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4153A721-E2C4-39DF-8B92-C5FF2AD787D9}"/>
              </a:ext>
            </a:extLst>
          </p:cNvPr>
          <p:cNvSpPr txBox="1"/>
          <p:nvPr/>
        </p:nvSpPr>
        <p:spPr>
          <a:xfrm>
            <a:off x="2129298" y="4013460"/>
            <a:ext cx="2599403" cy="27245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de-DE" dirty="0">
                <a:solidFill>
                  <a:schemeClr val="tx2"/>
                </a:solidFill>
              </a:rPr>
              <a:t>But </a:t>
            </a:r>
            <a:r>
              <a:rPr lang="de-DE" dirty="0" err="1">
                <a:solidFill>
                  <a:schemeClr val="tx2"/>
                </a:solidFill>
              </a:rPr>
              <a:t>what</a:t>
            </a:r>
            <a:r>
              <a:rPr lang="de-DE" dirty="0">
                <a:solidFill>
                  <a:schemeClr val="tx2"/>
                </a:solidFill>
              </a:rPr>
              <a:t> </a:t>
            </a:r>
            <a:r>
              <a:rPr lang="de-DE" dirty="0" err="1">
                <a:solidFill>
                  <a:schemeClr val="tx2"/>
                </a:solidFill>
              </a:rPr>
              <a:t>about</a:t>
            </a:r>
            <a:r>
              <a:rPr lang="de-DE" dirty="0">
                <a:solidFill>
                  <a:schemeClr val="tx2"/>
                </a:solidFill>
              </a:rPr>
              <a:t> </a:t>
            </a:r>
            <a:r>
              <a:rPr lang="de-DE" dirty="0" err="1">
                <a:solidFill>
                  <a:schemeClr val="tx2"/>
                </a:solidFill>
              </a:rPr>
              <a:t>fine</a:t>
            </a:r>
            <a:r>
              <a:rPr lang="de-DE" dirty="0">
                <a:solidFill>
                  <a:schemeClr val="tx2"/>
                </a:solidFill>
              </a:rPr>
              <a:t>-tuning?</a:t>
            </a:r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F6F2379A-4F4A-266F-9A03-7D86C6D6E115}"/>
              </a:ext>
            </a:extLst>
          </p:cNvPr>
          <p:cNvSpPr txBox="1"/>
          <p:nvPr/>
        </p:nvSpPr>
        <p:spPr>
          <a:xfrm>
            <a:off x="513543" y="1428829"/>
            <a:ext cx="1469127" cy="64633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de-DE" dirty="0" err="1"/>
              <a:t>Linguistic</a:t>
            </a:r>
            <a:r>
              <a:rPr lang="de-DE" dirty="0"/>
              <a:t> </a:t>
            </a:r>
            <a:r>
              <a:rPr lang="de-DE" dirty="0" err="1"/>
              <a:t>cues</a:t>
            </a:r>
            <a:endParaRPr lang="en-US" dirty="0"/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17E2F5A7-778F-1FDF-9FA0-B3F71478AAB0}"/>
              </a:ext>
            </a:extLst>
          </p:cNvPr>
          <p:cNvSpPr txBox="1"/>
          <p:nvPr/>
        </p:nvSpPr>
        <p:spPr>
          <a:xfrm>
            <a:off x="2606085" y="2345097"/>
            <a:ext cx="1469127" cy="64633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de-DE" dirty="0" err="1"/>
              <a:t>Paralinguistic</a:t>
            </a:r>
            <a:r>
              <a:rPr lang="de-DE" dirty="0"/>
              <a:t> </a:t>
            </a:r>
            <a:br>
              <a:rPr lang="de-DE" dirty="0"/>
            </a:br>
            <a:r>
              <a:rPr lang="de-DE" dirty="0" err="1"/>
              <a:t>cues</a:t>
            </a:r>
            <a:endParaRPr lang="en-US" dirty="0"/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F0926340-C31F-4CA6-CBA3-987831512A71}"/>
              </a:ext>
            </a:extLst>
          </p:cNvPr>
          <p:cNvSpPr txBox="1"/>
          <p:nvPr/>
        </p:nvSpPr>
        <p:spPr>
          <a:xfrm>
            <a:off x="4762876" y="1428829"/>
            <a:ext cx="1469127" cy="64633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de-DE" dirty="0" err="1"/>
              <a:t>Extralinguistic</a:t>
            </a:r>
            <a:r>
              <a:rPr lang="de-DE" dirty="0"/>
              <a:t> </a:t>
            </a:r>
            <a:r>
              <a:rPr lang="de-DE" dirty="0" err="1"/>
              <a:t>cues</a:t>
            </a:r>
            <a:endParaRPr lang="en-US" dirty="0"/>
          </a:p>
        </p:txBody>
      </p:sp>
      <p:cxnSp>
        <p:nvCxnSpPr>
          <p:cNvPr id="21" name="Verbinder: gekrümmt 20">
            <a:extLst>
              <a:ext uri="{FF2B5EF4-FFF2-40B4-BE49-F238E27FC236}">
                <a16:creationId xmlns:a16="http://schemas.microsoft.com/office/drawing/2014/main" id="{19B47ACF-D3E0-FB78-E8EE-486671EDE3ED}"/>
              </a:ext>
            </a:extLst>
          </p:cNvPr>
          <p:cNvCxnSpPr>
            <a:cxnSpLocks/>
            <a:stCxn id="8" idx="3"/>
            <a:endCxn id="10" idx="0"/>
          </p:cNvCxnSpPr>
          <p:nvPr/>
        </p:nvCxnSpPr>
        <p:spPr>
          <a:xfrm>
            <a:off x="1982670" y="1751995"/>
            <a:ext cx="1357979" cy="593102"/>
          </a:xfrm>
          <a:prstGeom prst="curvedConnector2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Verbinder: gekrümmt 26">
            <a:extLst>
              <a:ext uri="{FF2B5EF4-FFF2-40B4-BE49-F238E27FC236}">
                <a16:creationId xmlns:a16="http://schemas.microsoft.com/office/drawing/2014/main" id="{E58F6579-61B1-53B3-2AB9-E8951EBA4D14}"/>
              </a:ext>
            </a:extLst>
          </p:cNvPr>
          <p:cNvCxnSpPr>
            <a:cxnSpLocks/>
            <a:stCxn id="10" idx="0"/>
            <a:endCxn id="13" idx="1"/>
          </p:cNvCxnSpPr>
          <p:nvPr/>
        </p:nvCxnSpPr>
        <p:spPr>
          <a:xfrm rot="5400000" flipH="1" flipV="1">
            <a:off x="3755211" y="1337433"/>
            <a:ext cx="593102" cy="1422227"/>
          </a:xfrm>
          <a:prstGeom prst="curvedConnector2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540408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033A3D-8109-FDA5-03A9-3419F631BE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Gerade Verbindung 9">
            <a:extLst>
              <a:ext uri="{FF2B5EF4-FFF2-40B4-BE49-F238E27FC236}">
                <a16:creationId xmlns:a16="http://schemas.microsoft.com/office/drawing/2014/main" id="{CCC3FD46-0787-45AC-CE2B-3C36F1F5A47F}"/>
              </a:ext>
            </a:extLst>
          </p:cNvPr>
          <p:cNvCxnSpPr/>
          <p:nvPr/>
        </p:nvCxnSpPr>
        <p:spPr>
          <a:xfrm>
            <a:off x="340096" y="359248"/>
            <a:ext cx="346895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feld 11">
            <a:extLst>
              <a:ext uri="{FF2B5EF4-FFF2-40B4-BE49-F238E27FC236}">
                <a16:creationId xmlns:a16="http://schemas.microsoft.com/office/drawing/2014/main" id="{BD353847-E6EE-D7A0-E9E7-ACC889310DC2}"/>
              </a:ext>
            </a:extLst>
          </p:cNvPr>
          <p:cNvSpPr txBox="1"/>
          <p:nvPr/>
        </p:nvSpPr>
        <p:spPr>
          <a:xfrm>
            <a:off x="910861" y="1564153"/>
            <a:ext cx="5036278" cy="864721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US" sz="1600" dirty="0">
                <a:solidFill>
                  <a:schemeClr val="tx2"/>
                </a:solidFill>
              </a:rPr>
              <a:t>Is vocal emotional processing </a:t>
            </a:r>
            <a:r>
              <a:rPr lang="en-US" sz="1600" i="1" dirty="0">
                <a:solidFill>
                  <a:srgbClr val="C00000"/>
                </a:solidFill>
              </a:rPr>
              <a:t>fine-tuned</a:t>
            </a:r>
            <a:r>
              <a:rPr lang="en-US" sz="1600" i="1" dirty="0">
                <a:solidFill>
                  <a:schemeClr val="tx2"/>
                </a:solidFill>
              </a:rPr>
              <a:t> </a:t>
            </a:r>
            <a:r>
              <a:rPr lang="en-US" sz="1600" dirty="0">
                <a:solidFill>
                  <a:schemeClr val="tx2"/>
                </a:solidFill>
              </a:rPr>
              <a:t>to characteristics of </a:t>
            </a:r>
            <a:br>
              <a:rPr lang="en-US" sz="1600" dirty="0">
                <a:solidFill>
                  <a:schemeClr val="tx2"/>
                </a:solidFill>
              </a:rPr>
            </a:br>
            <a:r>
              <a:rPr lang="en-US" sz="1600" dirty="0">
                <a:solidFill>
                  <a:schemeClr val="tx2"/>
                </a:solidFill>
              </a:rPr>
              <a:t>the </a:t>
            </a:r>
            <a:r>
              <a:rPr lang="en-US" sz="1600" b="1" dirty="0">
                <a:solidFill>
                  <a:schemeClr val="tx2"/>
                </a:solidFill>
              </a:rPr>
              <a:t>speaker </a:t>
            </a:r>
            <a:r>
              <a:rPr lang="en-US" sz="1600" dirty="0">
                <a:solidFill>
                  <a:schemeClr val="tx2"/>
                </a:solidFill>
              </a:rPr>
              <a:t>and the </a:t>
            </a:r>
            <a:r>
              <a:rPr lang="en-US" sz="1600" b="1" dirty="0">
                <a:solidFill>
                  <a:schemeClr val="tx2"/>
                </a:solidFill>
              </a:rPr>
              <a:t>speech</a:t>
            </a:r>
            <a:r>
              <a:rPr lang="en-US" sz="1600" dirty="0">
                <a:solidFill>
                  <a:schemeClr val="tx2"/>
                </a:solidFill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0600752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17CDDA-349B-61F0-8262-C89DDC9973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Gerade Verbindung 9">
            <a:extLst>
              <a:ext uri="{FF2B5EF4-FFF2-40B4-BE49-F238E27FC236}">
                <a16:creationId xmlns:a16="http://schemas.microsoft.com/office/drawing/2014/main" id="{D9E57B3F-CF68-7402-0C3A-D9B8ABF2B875}"/>
              </a:ext>
            </a:extLst>
          </p:cNvPr>
          <p:cNvCxnSpPr/>
          <p:nvPr/>
        </p:nvCxnSpPr>
        <p:spPr>
          <a:xfrm>
            <a:off x="340096" y="359248"/>
            <a:ext cx="346895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feld 11">
            <a:extLst>
              <a:ext uri="{FF2B5EF4-FFF2-40B4-BE49-F238E27FC236}">
                <a16:creationId xmlns:a16="http://schemas.microsoft.com/office/drawing/2014/main" id="{83DA01B0-C2D8-81BF-A8BD-DEC1F35358E0}"/>
              </a:ext>
            </a:extLst>
          </p:cNvPr>
          <p:cNvSpPr txBox="1"/>
          <p:nvPr/>
        </p:nvSpPr>
        <p:spPr>
          <a:xfrm>
            <a:off x="338269" y="440204"/>
            <a:ext cx="5748206" cy="27245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n-US" dirty="0"/>
              <a:t>Simultaneous opposite adaptation – </a:t>
            </a:r>
            <a:r>
              <a:rPr lang="en-US" dirty="0" err="1"/>
              <a:t>Bestelmeyer</a:t>
            </a:r>
            <a:r>
              <a:rPr lang="en-US" dirty="0"/>
              <a:t> et al 2010</a:t>
            </a:r>
            <a:endParaRPr lang="en-US" sz="1000" dirty="0">
              <a:solidFill>
                <a:schemeClr val="tx2"/>
              </a:solidFill>
            </a:endParaRPr>
          </a:p>
        </p:txBody>
      </p:sp>
      <p:pic>
        <p:nvPicPr>
          <p:cNvPr id="5" name="Grafik 4" descr="Mann mit einfarbiger Füllung">
            <a:extLst>
              <a:ext uri="{FF2B5EF4-FFF2-40B4-BE49-F238E27FC236}">
                <a16:creationId xmlns:a16="http://schemas.microsoft.com/office/drawing/2014/main" id="{EFF8077E-9B88-2B92-FF88-687388F084A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1797" y="842153"/>
            <a:ext cx="495915" cy="495915"/>
          </a:xfrm>
          <a:prstGeom prst="rect">
            <a:avLst/>
          </a:prstGeom>
        </p:spPr>
      </p:pic>
      <p:pic>
        <p:nvPicPr>
          <p:cNvPr id="7" name="Grafik 6" descr="Frau mit einfarbiger Füllung">
            <a:extLst>
              <a:ext uri="{FF2B5EF4-FFF2-40B4-BE49-F238E27FC236}">
                <a16:creationId xmlns:a16="http://schemas.microsoft.com/office/drawing/2014/main" id="{C0298DF0-F587-55A6-CB83-50A7140EE0B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104027" y="867040"/>
            <a:ext cx="495915" cy="495915"/>
          </a:xfrm>
          <a:prstGeom prst="rect">
            <a:avLst/>
          </a:prstGeom>
        </p:spPr>
      </p:pic>
      <p:pic>
        <p:nvPicPr>
          <p:cNvPr id="21" name="Grafik 20" descr="Mann mit einfarbiger Füllung">
            <a:extLst>
              <a:ext uri="{FF2B5EF4-FFF2-40B4-BE49-F238E27FC236}">
                <a16:creationId xmlns:a16="http://schemas.microsoft.com/office/drawing/2014/main" id="{FB10018F-7A0A-3798-6947-ECDF36BD4F6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813747" y="849527"/>
            <a:ext cx="495915" cy="495915"/>
          </a:xfrm>
          <a:prstGeom prst="rect">
            <a:avLst/>
          </a:prstGeom>
        </p:spPr>
      </p:pic>
      <p:pic>
        <p:nvPicPr>
          <p:cNvPr id="23" name="Grafik 22" descr="Frau mit einfarbiger Füllung">
            <a:extLst>
              <a:ext uri="{FF2B5EF4-FFF2-40B4-BE49-F238E27FC236}">
                <a16:creationId xmlns:a16="http://schemas.microsoft.com/office/drawing/2014/main" id="{C61F73BA-4CB9-82D1-781F-8D988F53336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42077" y="837544"/>
            <a:ext cx="495915" cy="495915"/>
          </a:xfrm>
          <a:prstGeom prst="rect">
            <a:avLst/>
          </a:prstGeom>
        </p:spPr>
      </p:pic>
      <p:pic>
        <p:nvPicPr>
          <p:cNvPr id="25" name="Grafik 24">
            <a:extLst>
              <a:ext uri="{FF2B5EF4-FFF2-40B4-BE49-F238E27FC236}">
                <a16:creationId xmlns:a16="http://schemas.microsoft.com/office/drawing/2014/main" id="{22174F72-8F8D-6C81-EB4B-5DB5735A2FA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t="51595" r="19646"/>
          <a:stretch>
            <a:fillRect/>
          </a:stretch>
        </p:blipFill>
        <p:spPr>
          <a:xfrm>
            <a:off x="967531" y="1424192"/>
            <a:ext cx="4415951" cy="513499"/>
          </a:xfrm>
          <a:prstGeom prst="rect">
            <a:avLst/>
          </a:prstGeom>
        </p:spPr>
      </p:pic>
      <p:pic>
        <p:nvPicPr>
          <p:cNvPr id="27" name="Grafik 26" descr="Mann mit einfarbiger Füllung">
            <a:extLst>
              <a:ext uri="{FF2B5EF4-FFF2-40B4-BE49-F238E27FC236}">
                <a16:creationId xmlns:a16="http://schemas.microsoft.com/office/drawing/2014/main" id="{F7E3EC39-7FA3-62D7-CF49-1A35B8DBB77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789683" y="923668"/>
            <a:ext cx="495915" cy="495915"/>
          </a:xfrm>
          <a:prstGeom prst="rect">
            <a:avLst/>
          </a:prstGeom>
        </p:spPr>
      </p:pic>
      <p:pic>
        <p:nvPicPr>
          <p:cNvPr id="29" name="Grafik 28" descr="Frau mit einfarbiger Füllung">
            <a:extLst>
              <a:ext uri="{FF2B5EF4-FFF2-40B4-BE49-F238E27FC236}">
                <a16:creationId xmlns:a16="http://schemas.microsoft.com/office/drawing/2014/main" id="{4A6325FD-C818-20A5-B1A2-510DA84BABE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079963" y="919059"/>
            <a:ext cx="495915" cy="495915"/>
          </a:xfrm>
          <a:prstGeom prst="rect">
            <a:avLst/>
          </a:prstGeom>
        </p:spPr>
      </p:pic>
      <p:sp>
        <p:nvSpPr>
          <p:cNvPr id="31" name="Rechteck 30">
            <a:extLst>
              <a:ext uri="{FF2B5EF4-FFF2-40B4-BE49-F238E27FC236}">
                <a16:creationId xmlns:a16="http://schemas.microsoft.com/office/drawing/2014/main" id="{FBEFD1DD-F99F-25CD-C118-0FBED822715E}"/>
              </a:ext>
            </a:extLst>
          </p:cNvPr>
          <p:cNvSpPr/>
          <p:nvPr/>
        </p:nvSpPr>
        <p:spPr>
          <a:xfrm>
            <a:off x="2855681" y="3309312"/>
            <a:ext cx="1420755" cy="1088219"/>
          </a:xfrm>
          <a:prstGeom prst="rect">
            <a:avLst/>
          </a:prstGeom>
          <a:solidFill>
            <a:schemeClr val="accent6">
              <a:lumMod val="95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just"/>
            <a:r>
              <a:rPr lang="de-DE" sz="1400" dirty="0">
                <a:solidFill>
                  <a:schemeClr val="bg1">
                    <a:lumMod val="50000"/>
                  </a:schemeClr>
                </a:solidFill>
              </a:rPr>
              <a:t>Response Phase</a:t>
            </a:r>
            <a:endParaRPr lang="en-US" sz="14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3" name="Rechteck 32">
            <a:extLst>
              <a:ext uri="{FF2B5EF4-FFF2-40B4-BE49-F238E27FC236}">
                <a16:creationId xmlns:a16="http://schemas.microsoft.com/office/drawing/2014/main" id="{68413923-384C-C0CD-7450-A8002C78C964}"/>
              </a:ext>
            </a:extLst>
          </p:cNvPr>
          <p:cNvSpPr/>
          <p:nvPr/>
        </p:nvSpPr>
        <p:spPr>
          <a:xfrm>
            <a:off x="2841529" y="2115818"/>
            <a:ext cx="1420755" cy="1089992"/>
          </a:xfrm>
          <a:prstGeom prst="rect">
            <a:avLst/>
          </a:prstGeom>
          <a:solidFill>
            <a:schemeClr val="accent6">
              <a:lumMod val="95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just"/>
            <a:r>
              <a:rPr lang="de-DE" sz="1400" dirty="0">
                <a:solidFill>
                  <a:schemeClr val="bg1">
                    <a:lumMod val="50000"/>
                  </a:schemeClr>
                </a:solidFill>
              </a:rPr>
              <a:t>Response Phase</a:t>
            </a:r>
            <a:endParaRPr lang="en-US" sz="14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5" name="Rechteck 34">
            <a:extLst>
              <a:ext uri="{FF2B5EF4-FFF2-40B4-BE49-F238E27FC236}">
                <a16:creationId xmlns:a16="http://schemas.microsoft.com/office/drawing/2014/main" id="{891CE459-D9E1-94D0-C603-02B2050EB2A9}"/>
              </a:ext>
            </a:extLst>
          </p:cNvPr>
          <p:cNvSpPr/>
          <p:nvPr/>
        </p:nvSpPr>
        <p:spPr>
          <a:xfrm>
            <a:off x="403420" y="3309313"/>
            <a:ext cx="2094271" cy="1088220"/>
          </a:xfrm>
          <a:prstGeom prst="rect">
            <a:avLst/>
          </a:prstGeom>
          <a:solidFill>
            <a:schemeClr val="accent6">
              <a:lumMod val="95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just"/>
            <a:r>
              <a:rPr lang="de-DE" sz="1400" dirty="0">
                <a:solidFill>
                  <a:schemeClr val="bg1">
                    <a:lumMod val="50000"/>
                  </a:schemeClr>
                </a:solidFill>
              </a:rPr>
              <a:t>Adaptation Phase 2</a:t>
            </a:r>
            <a:endParaRPr lang="en-US" sz="14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7" name="Rechteck 36">
            <a:extLst>
              <a:ext uri="{FF2B5EF4-FFF2-40B4-BE49-F238E27FC236}">
                <a16:creationId xmlns:a16="http://schemas.microsoft.com/office/drawing/2014/main" id="{60A567C0-C0A4-CE77-8116-0A12EA9A8074}"/>
              </a:ext>
            </a:extLst>
          </p:cNvPr>
          <p:cNvSpPr/>
          <p:nvPr/>
        </p:nvSpPr>
        <p:spPr>
          <a:xfrm>
            <a:off x="403420" y="2117590"/>
            <a:ext cx="2094271" cy="1088220"/>
          </a:xfrm>
          <a:prstGeom prst="rect">
            <a:avLst/>
          </a:prstGeom>
          <a:solidFill>
            <a:schemeClr val="accent6">
              <a:lumMod val="95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just"/>
            <a:r>
              <a:rPr lang="de-DE" sz="1400" dirty="0">
                <a:solidFill>
                  <a:schemeClr val="bg1">
                    <a:lumMod val="50000"/>
                  </a:schemeClr>
                </a:solidFill>
              </a:rPr>
              <a:t>Adaptation Phase 1</a:t>
            </a:r>
            <a:endParaRPr lang="en-US" sz="14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9" name="Textfeld 38">
            <a:extLst>
              <a:ext uri="{FF2B5EF4-FFF2-40B4-BE49-F238E27FC236}">
                <a16:creationId xmlns:a16="http://schemas.microsoft.com/office/drawing/2014/main" id="{1605E9AB-C3C2-FBA9-3BF1-71ED44BBB7E3}"/>
              </a:ext>
            </a:extLst>
          </p:cNvPr>
          <p:cNvSpPr txBox="1"/>
          <p:nvPr/>
        </p:nvSpPr>
        <p:spPr>
          <a:xfrm>
            <a:off x="5167290" y="2795937"/>
            <a:ext cx="1540323" cy="66521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US" sz="1600" i="1" dirty="0">
                <a:solidFill>
                  <a:schemeClr val="tx2"/>
                </a:solidFill>
              </a:rPr>
              <a:t>Simultaneous</a:t>
            </a:r>
          </a:p>
          <a:p>
            <a:pPr algn="ctr"/>
            <a:r>
              <a:rPr lang="en-US" sz="1600" i="1" dirty="0">
                <a:solidFill>
                  <a:schemeClr val="tx2"/>
                </a:solidFill>
              </a:rPr>
              <a:t>opposite</a:t>
            </a:r>
          </a:p>
          <a:p>
            <a:pPr algn="ctr"/>
            <a:r>
              <a:rPr lang="en-US" sz="1600" i="1" dirty="0">
                <a:solidFill>
                  <a:schemeClr val="tx2"/>
                </a:solidFill>
              </a:rPr>
              <a:t>adaptation</a:t>
            </a:r>
          </a:p>
        </p:txBody>
      </p:sp>
      <p:sp>
        <p:nvSpPr>
          <p:cNvPr id="61" name="Pfeil: nach rechts 60">
            <a:extLst>
              <a:ext uri="{FF2B5EF4-FFF2-40B4-BE49-F238E27FC236}">
                <a16:creationId xmlns:a16="http://schemas.microsoft.com/office/drawing/2014/main" id="{B7E490D6-004C-2D13-11A0-95EF6C762DFD}"/>
              </a:ext>
            </a:extLst>
          </p:cNvPr>
          <p:cNvSpPr/>
          <p:nvPr/>
        </p:nvSpPr>
        <p:spPr>
          <a:xfrm>
            <a:off x="4377977" y="2923029"/>
            <a:ext cx="235974" cy="125270"/>
          </a:xfrm>
          <a:prstGeom prst="rightArrow">
            <a:avLst/>
          </a:prstGeom>
          <a:solidFill>
            <a:schemeClr val="bg1">
              <a:lumMod val="5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Pfeil: nach rechts 62">
            <a:extLst>
              <a:ext uri="{FF2B5EF4-FFF2-40B4-BE49-F238E27FC236}">
                <a16:creationId xmlns:a16="http://schemas.microsoft.com/office/drawing/2014/main" id="{950C0A12-DD1B-AB2B-4C2F-3A1E2EA984AB}"/>
              </a:ext>
            </a:extLst>
          </p:cNvPr>
          <p:cNvSpPr/>
          <p:nvPr/>
        </p:nvSpPr>
        <p:spPr>
          <a:xfrm>
            <a:off x="4354480" y="3688206"/>
            <a:ext cx="235974" cy="125270"/>
          </a:xfrm>
          <a:prstGeom prst="rightArrow">
            <a:avLst/>
          </a:prstGeom>
          <a:solidFill>
            <a:schemeClr val="bg1">
              <a:lumMod val="5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5" name="Grafik 64" descr="Mann mit einfarbiger Füllung">
            <a:extLst>
              <a:ext uri="{FF2B5EF4-FFF2-40B4-BE49-F238E27FC236}">
                <a16:creationId xmlns:a16="http://schemas.microsoft.com/office/drawing/2014/main" id="{1EC9E106-410C-E2A8-F99A-13D61113A7C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3839" y="2362804"/>
            <a:ext cx="360000" cy="360000"/>
          </a:xfrm>
          <a:prstGeom prst="rect">
            <a:avLst/>
          </a:prstGeom>
        </p:spPr>
      </p:pic>
      <p:pic>
        <p:nvPicPr>
          <p:cNvPr id="67" name="Grafik 66" descr="Mann mit einfarbiger Füllung">
            <a:extLst>
              <a:ext uri="{FF2B5EF4-FFF2-40B4-BE49-F238E27FC236}">
                <a16:creationId xmlns:a16="http://schemas.microsoft.com/office/drawing/2014/main" id="{F6F03FA0-F273-2E5C-2129-935EE9B376A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25665" y="2403049"/>
            <a:ext cx="360000" cy="360000"/>
          </a:xfrm>
          <a:prstGeom prst="rect">
            <a:avLst/>
          </a:prstGeom>
        </p:spPr>
      </p:pic>
      <p:pic>
        <p:nvPicPr>
          <p:cNvPr id="69" name="Grafik 68" descr="Mann mit einfarbiger Füllung">
            <a:extLst>
              <a:ext uri="{FF2B5EF4-FFF2-40B4-BE49-F238E27FC236}">
                <a16:creationId xmlns:a16="http://schemas.microsoft.com/office/drawing/2014/main" id="{7DDE61DA-2791-F2F5-F1EB-52C4D0E0594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668482" y="2368335"/>
            <a:ext cx="360000" cy="360000"/>
          </a:xfrm>
          <a:prstGeom prst="rect">
            <a:avLst/>
          </a:prstGeom>
        </p:spPr>
      </p:pic>
      <p:pic>
        <p:nvPicPr>
          <p:cNvPr id="71" name="Grafik 70" descr="Frau mit einfarbiger Füllung">
            <a:extLst>
              <a:ext uri="{FF2B5EF4-FFF2-40B4-BE49-F238E27FC236}">
                <a16:creationId xmlns:a16="http://schemas.microsoft.com/office/drawing/2014/main" id="{D7578A08-CD2A-7DD6-709A-ACF28E2B6C3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51797" y="2710219"/>
            <a:ext cx="360000" cy="360000"/>
          </a:xfrm>
          <a:prstGeom prst="rect">
            <a:avLst/>
          </a:prstGeom>
        </p:spPr>
      </p:pic>
      <p:pic>
        <p:nvPicPr>
          <p:cNvPr id="73" name="Grafik 72" descr="Frau mit einfarbiger Füllung">
            <a:extLst>
              <a:ext uri="{FF2B5EF4-FFF2-40B4-BE49-F238E27FC236}">
                <a16:creationId xmlns:a16="http://schemas.microsoft.com/office/drawing/2014/main" id="{4DCBA166-132F-6220-44CF-1CD8C865285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029996" y="2624997"/>
            <a:ext cx="360000" cy="360000"/>
          </a:xfrm>
          <a:prstGeom prst="rect">
            <a:avLst/>
          </a:prstGeom>
        </p:spPr>
      </p:pic>
      <p:pic>
        <p:nvPicPr>
          <p:cNvPr id="75" name="Grafik 74" descr="Frau mit einfarbiger Füllung">
            <a:extLst>
              <a:ext uri="{FF2B5EF4-FFF2-40B4-BE49-F238E27FC236}">
                <a16:creationId xmlns:a16="http://schemas.microsoft.com/office/drawing/2014/main" id="{15DBC0A1-ACD9-DAA7-1C8D-8EB937B4348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426494" y="2671590"/>
            <a:ext cx="360000" cy="360000"/>
          </a:xfrm>
          <a:prstGeom prst="rect">
            <a:avLst/>
          </a:prstGeom>
        </p:spPr>
      </p:pic>
      <p:pic>
        <p:nvPicPr>
          <p:cNvPr id="77" name="Grafik 76" descr="Frau mit einfarbiger Füllung">
            <a:extLst>
              <a:ext uri="{FF2B5EF4-FFF2-40B4-BE49-F238E27FC236}">
                <a16:creationId xmlns:a16="http://schemas.microsoft.com/office/drawing/2014/main" id="{A792DB75-213F-2875-DC26-B7A1944FA6B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03420" y="3813476"/>
            <a:ext cx="360000" cy="360000"/>
          </a:xfrm>
          <a:prstGeom prst="rect">
            <a:avLst/>
          </a:prstGeom>
        </p:spPr>
      </p:pic>
      <p:pic>
        <p:nvPicPr>
          <p:cNvPr id="79" name="Grafik 78" descr="Frau mit einfarbiger Füllung">
            <a:extLst>
              <a:ext uri="{FF2B5EF4-FFF2-40B4-BE49-F238E27FC236}">
                <a16:creationId xmlns:a16="http://schemas.microsoft.com/office/drawing/2014/main" id="{4D44BE6C-1E9D-4B66-7FFC-C93FA4DC833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976274" y="3468669"/>
            <a:ext cx="360000" cy="360000"/>
          </a:xfrm>
          <a:prstGeom prst="rect">
            <a:avLst/>
          </a:prstGeom>
        </p:spPr>
      </p:pic>
      <p:pic>
        <p:nvPicPr>
          <p:cNvPr id="81" name="Grafik 80" descr="Frau mit einfarbiger Füllung">
            <a:extLst>
              <a:ext uri="{FF2B5EF4-FFF2-40B4-BE49-F238E27FC236}">
                <a16:creationId xmlns:a16="http://schemas.microsoft.com/office/drawing/2014/main" id="{FD02CD56-0F9B-B0FA-9B34-DFF7F61B312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65964" y="3902008"/>
            <a:ext cx="360000" cy="360000"/>
          </a:xfrm>
          <a:prstGeom prst="rect">
            <a:avLst/>
          </a:prstGeom>
        </p:spPr>
      </p:pic>
      <p:pic>
        <p:nvPicPr>
          <p:cNvPr id="83" name="Grafik 82" descr="Mann mit einfarbiger Füllung">
            <a:extLst>
              <a:ext uri="{FF2B5EF4-FFF2-40B4-BE49-F238E27FC236}">
                <a16:creationId xmlns:a16="http://schemas.microsoft.com/office/drawing/2014/main" id="{C438F6EA-BB06-68E0-EC86-BFA4245E7A7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61410" y="3662914"/>
            <a:ext cx="360000" cy="360000"/>
          </a:xfrm>
          <a:prstGeom prst="rect">
            <a:avLst/>
          </a:prstGeom>
        </p:spPr>
      </p:pic>
      <p:pic>
        <p:nvPicPr>
          <p:cNvPr id="85" name="Grafik 84" descr="Mann mit einfarbiger Füllung">
            <a:extLst>
              <a:ext uri="{FF2B5EF4-FFF2-40B4-BE49-F238E27FC236}">
                <a16:creationId xmlns:a16="http://schemas.microsoft.com/office/drawing/2014/main" id="{649F259C-3CA0-A959-C8D8-CDDA74C19D4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748991" y="3853420"/>
            <a:ext cx="374777" cy="374777"/>
          </a:xfrm>
          <a:prstGeom prst="rect">
            <a:avLst/>
          </a:prstGeom>
        </p:spPr>
      </p:pic>
      <p:pic>
        <p:nvPicPr>
          <p:cNvPr id="87" name="Grafik 86" descr="Mann mit einfarbiger Füllung">
            <a:extLst>
              <a:ext uri="{FF2B5EF4-FFF2-40B4-BE49-F238E27FC236}">
                <a16:creationId xmlns:a16="http://schemas.microsoft.com/office/drawing/2014/main" id="{9B414929-1E1A-9BA7-89AA-C26179B1870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466579" y="3572172"/>
            <a:ext cx="360000" cy="360000"/>
          </a:xfrm>
          <a:prstGeom prst="rect">
            <a:avLst/>
          </a:prstGeom>
        </p:spPr>
      </p:pic>
      <p:pic>
        <p:nvPicPr>
          <p:cNvPr id="89" name="Grafik 88" descr="Mann mit einfarbiger Füllung">
            <a:extLst>
              <a:ext uri="{FF2B5EF4-FFF2-40B4-BE49-F238E27FC236}">
                <a16:creationId xmlns:a16="http://schemas.microsoft.com/office/drawing/2014/main" id="{41CFA615-739F-70C5-4966-06D164A0C87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395878" y="2391750"/>
            <a:ext cx="360000" cy="360000"/>
          </a:xfrm>
          <a:prstGeom prst="rect">
            <a:avLst/>
          </a:prstGeom>
        </p:spPr>
      </p:pic>
      <p:pic>
        <p:nvPicPr>
          <p:cNvPr id="91" name="Grafik 90" descr="Frau mit einfarbiger Füllung">
            <a:extLst>
              <a:ext uri="{FF2B5EF4-FFF2-40B4-BE49-F238E27FC236}">
                <a16:creationId xmlns:a16="http://schemas.microsoft.com/office/drawing/2014/main" id="{0710D546-9B56-25CF-FC25-A1A93285767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391065" y="2800513"/>
            <a:ext cx="360000" cy="360000"/>
          </a:xfrm>
          <a:prstGeom prst="rect">
            <a:avLst/>
          </a:prstGeom>
        </p:spPr>
      </p:pic>
      <p:pic>
        <p:nvPicPr>
          <p:cNvPr id="93" name="Grafik 92" descr="Mann mit einfarbiger Füllung">
            <a:extLst>
              <a:ext uri="{FF2B5EF4-FFF2-40B4-BE49-F238E27FC236}">
                <a16:creationId xmlns:a16="http://schemas.microsoft.com/office/drawing/2014/main" id="{7D7B5BF9-1180-FB40-B3CA-F18B7F59268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086511" y="2391750"/>
            <a:ext cx="360000" cy="360000"/>
          </a:xfrm>
          <a:prstGeom prst="rect">
            <a:avLst/>
          </a:prstGeom>
        </p:spPr>
      </p:pic>
      <p:pic>
        <p:nvPicPr>
          <p:cNvPr id="95" name="Grafik 94" descr="Mann mit einfarbiger Füllung">
            <a:extLst>
              <a:ext uri="{FF2B5EF4-FFF2-40B4-BE49-F238E27FC236}">
                <a16:creationId xmlns:a16="http://schemas.microsoft.com/office/drawing/2014/main" id="{8D51EE59-BFAA-6C7F-E746-292B9B0502A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732383" y="2397439"/>
            <a:ext cx="360000" cy="360000"/>
          </a:xfrm>
          <a:prstGeom prst="rect">
            <a:avLst/>
          </a:prstGeom>
        </p:spPr>
      </p:pic>
      <p:pic>
        <p:nvPicPr>
          <p:cNvPr id="97" name="Grafik 96" descr="Frau mit einfarbiger Füllung">
            <a:extLst>
              <a:ext uri="{FF2B5EF4-FFF2-40B4-BE49-F238E27FC236}">
                <a16:creationId xmlns:a16="http://schemas.microsoft.com/office/drawing/2014/main" id="{7B6CE426-AB01-DA24-ED67-C6E81B95499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086511" y="2794824"/>
            <a:ext cx="360000" cy="360000"/>
          </a:xfrm>
          <a:prstGeom prst="rect">
            <a:avLst/>
          </a:prstGeom>
        </p:spPr>
      </p:pic>
      <p:pic>
        <p:nvPicPr>
          <p:cNvPr id="99" name="Grafik 98" descr="Frau mit einfarbiger Füllung">
            <a:extLst>
              <a:ext uri="{FF2B5EF4-FFF2-40B4-BE49-F238E27FC236}">
                <a16:creationId xmlns:a16="http://schemas.microsoft.com/office/drawing/2014/main" id="{6F0CDBE7-4E8C-2C32-9015-28E9303DD30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732383" y="2806975"/>
            <a:ext cx="360000" cy="360000"/>
          </a:xfrm>
          <a:prstGeom prst="rect">
            <a:avLst/>
          </a:prstGeom>
        </p:spPr>
      </p:pic>
      <p:sp>
        <p:nvSpPr>
          <p:cNvPr id="101" name="Pfeil: nach rechts 100">
            <a:extLst>
              <a:ext uri="{FF2B5EF4-FFF2-40B4-BE49-F238E27FC236}">
                <a16:creationId xmlns:a16="http://schemas.microsoft.com/office/drawing/2014/main" id="{C4B5C75E-3284-4F8C-70CD-478A7AE3CB7A}"/>
              </a:ext>
            </a:extLst>
          </p:cNvPr>
          <p:cNvSpPr/>
          <p:nvPr/>
        </p:nvSpPr>
        <p:spPr>
          <a:xfrm>
            <a:off x="4347404" y="2479864"/>
            <a:ext cx="235974" cy="125270"/>
          </a:xfrm>
          <a:prstGeom prst="rightArrow">
            <a:avLst/>
          </a:prstGeom>
          <a:solidFill>
            <a:schemeClr val="bg1">
              <a:lumMod val="5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3" name="Grafik 102" descr="Mann mit einfarbiger Füllung">
            <a:extLst>
              <a:ext uri="{FF2B5EF4-FFF2-40B4-BE49-F238E27FC236}">
                <a16:creationId xmlns:a16="http://schemas.microsoft.com/office/drawing/2014/main" id="{B2B36D03-F922-8192-080C-C3C6ECA8FB1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386960" y="3570841"/>
            <a:ext cx="360000" cy="360000"/>
          </a:xfrm>
          <a:prstGeom prst="rect">
            <a:avLst/>
          </a:prstGeom>
        </p:spPr>
      </p:pic>
      <p:pic>
        <p:nvPicPr>
          <p:cNvPr id="105" name="Grafik 104" descr="Frau mit einfarbiger Füllung">
            <a:extLst>
              <a:ext uri="{FF2B5EF4-FFF2-40B4-BE49-F238E27FC236}">
                <a16:creationId xmlns:a16="http://schemas.microsoft.com/office/drawing/2014/main" id="{06E97CF4-3CF3-4D41-A0F2-7346B80AD20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382147" y="3979604"/>
            <a:ext cx="360000" cy="360000"/>
          </a:xfrm>
          <a:prstGeom prst="rect">
            <a:avLst/>
          </a:prstGeom>
        </p:spPr>
      </p:pic>
      <p:pic>
        <p:nvPicPr>
          <p:cNvPr id="107" name="Grafik 106" descr="Mann mit einfarbiger Füllung">
            <a:extLst>
              <a:ext uri="{FF2B5EF4-FFF2-40B4-BE49-F238E27FC236}">
                <a16:creationId xmlns:a16="http://schemas.microsoft.com/office/drawing/2014/main" id="{05F94A79-2C4B-9E64-A79E-3394CB41C9C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077593" y="3570841"/>
            <a:ext cx="360000" cy="360000"/>
          </a:xfrm>
          <a:prstGeom prst="rect">
            <a:avLst/>
          </a:prstGeom>
        </p:spPr>
      </p:pic>
      <p:pic>
        <p:nvPicPr>
          <p:cNvPr id="109" name="Grafik 108" descr="Mann mit einfarbiger Füllung">
            <a:extLst>
              <a:ext uri="{FF2B5EF4-FFF2-40B4-BE49-F238E27FC236}">
                <a16:creationId xmlns:a16="http://schemas.microsoft.com/office/drawing/2014/main" id="{4CC0441A-3599-67FA-5F78-12E51F7A57E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723465" y="3576530"/>
            <a:ext cx="360000" cy="360000"/>
          </a:xfrm>
          <a:prstGeom prst="rect">
            <a:avLst/>
          </a:prstGeom>
        </p:spPr>
      </p:pic>
      <p:pic>
        <p:nvPicPr>
          <p:cNvPr id="111" name="Grafik 110" descr="Frau mit einfarbiger Füllung">
            <a:extLst>
              <a:ext uri="{FF2B5EF4-FFF2-40B4-BE49-F238E27FC236}">
                <a16:creationId xmlns:a16="http://schemas.microsoft.com/office/drawing/2014/main" id="{32730BFE-7579-8F5E-B648-3320A0EA9E7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077593" y="3973915"/>
            <a:ext cx="360000" cy="360000"/>
          </a:xfrm>
          <a:prstGeom prst="rect">
            <a:avLst/>
          </a:prstGeom>
        </p:spPr>
      </p:pic>
      <p:pic>
        <p:nvPicPr>
          <p:cNvPr id="113" name="Grafik 112" descr="Frau mit einfarbiger Füllung">
            <a:extLst>
              <a:ext uri="{FF2B5EF4-FFF2-40B4-BE49-F238E27FC236}">
                <a16:creationId xmlns:a16="http://schemas.microsoft.com/office/drawing/2014/main" id="{F037804F-660A-95D4-AE5E-24150207DD0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723465" y="3986066"/>
            <a:ext cx="360000" cy="360000"/>
          </a:xfrm>
          <a:prstGeom prst="rect">
            <a:avLst/>
          </a:prstGeom>
        </p:spPr>
      </p:pic>
      <p:sp>
        <p:nvSpPr>
          <p:cNvPr id="115" name="Pfeil: nach rechts 114">
            <a:extLst>
              <a:ext uri="{FF2B5EF4-FFF2-40B4-BE49-F238E27FC236}">
                <a16:creationId xmlns:a16="http://schemas.microsoft.com/office/drawing/2014/main" id="{14301FBA-0BDD-5033-2625-3422AE86E37F}"/>
              </a:ext>
            </a:extLst>
          </p:cNvPr>
          <p:cNvSpPr/>
          <p:nvPr/>
        </p:nvSpPr>
        <p:spPr>
          <a:xfrm>
            <a:off x="4354480" y="4082008"/>
            <a:ext cx="235974" cy="125270"/>
          </a:xfrm>
          <a:prstGeom prst="rightArrow">
            <a:avLst/>
          </a:prstGeom>
          <a:solidFill>
            <a:schemeClr val="bg1">
              <a:lumMod val="5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7" name="Grafik 116" descr="Frau mit einfarbiger Füllung">
            <a:extLst>
              <a:ext uri="{FF2B5EF4-FFF2-40B4-BE49-F238E27FC236}">
                <a16:creationId xmlns:a16="http://schemas.microsoft.com/office/drawing/2014/main" id="{A4A5CD77-82EC-F557-6980-9F9586CDAFD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643139" y="2817697"/>
            <a:ext cx="360000" cy="360000"/>
          </a:xfrm>
          <a:prstGeom prst="rect">
            <a:avLst/>
          </a:prstGeom>
        </p:spPr>
      </p:pic>
      <p:pic>
        <p:nvPicPr>
          <p:cNvPr id="119" name="Grafik 118" descr="Mann mit einfarbiger Füllung">
            <a:extLst>
              <a:ext uri="{FF2B5EF4-FFF2-40B4-BE49-F238E27FC236}">
                <a16:creationId xmlns:a16="http://schemas.microsoft.com/office/drawing/2014/main" id="{56D020E6-A580-B294-EBF3-9B3D5FF7C92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43139" y="2330024"/>
            <a:ext cx="360000" cy="360000"/>
          </a:xfrm>
          <a:prstGeom prst="rect">
            <a:avLst/>
          </a:prstGeom>
        </p:spPr>
      </p:pic>
      <p:pic>
        <p:nvPicPr>
          <p:cNvPr id="121" name="Grafik 120" descr="Mann mit einfarbiger Füllung">
            <a:extLst>
              <a:ext uri="{FF2B5EF4-FFF2-40B4-BE49-F238E27FC236}">
                <a16:creationId xmlns:a16="http://schemas.microsoft.com/office/drawing/2014/main" id="{8ABE7964-42B4-009C-44DB-B9E2F8590CE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34426" y="3569571"/>
            <a:ext cx="360000" cy="360000"/>
          </a:xfrm>
          <a:prstGeom prst="rect">
            <a:avLst/>
          </a:prstGeom>
        </p:spPr>
      </p:pic>
      <p:pic>
        <p:nvPicPr>
          <p:cNvPr id="123" name="Grafik 122" descr="Frau mit einfarbiger Füllung">
            <a:extLst>
              <a:ext uri="{FF2B5EF4-FFF2-40B4-BE49-F238E27FC236}">
                <a16:creationId xmlns:a16="http://schemas.microsoft.com/office/drawing/2014/main" id="{E9C91396-CADD-FBFB-9709-8149220D933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22902" y="3986066"/>
            <a:ext cx="360000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92554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560233-BE62-8D7C-8D2A-41D7E974C7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Gerade Verbindung 9">
            <a:extLst>
              <a:ext uri="{FF2B5EF4-FFF2-40B4-BE49-F238E27FC236}">
                <a16:creationId xmlns:a16="http://schemas.microsoft.com/office/drawing/2014/main" id="{E1077600-5D9A-367A-24A5-624D446FFA98}"/>
              </a:ext>
            </a:extLst>
          </p:cNvPr>
          <p:cNvCxnSpPr/>
          <p:nvPr/>
        </p:nvCxnSpPr>
        <p:spPr>
          <a:xfrm>
            <a:off x="340096" y="359248"/>
            <a:ext cx="346895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feld 11">
            <a:extLst>
              <a:ext uri="{FF2B5EF4-FFF2-40B4-BE49-F238E27FC236}">
                <a16:creationId xmlns:a16="http://schemas.microsoft.com/office/drawing/2014/main" id="{7918435F-10DA-0397-B6F8-5A1C45DDECBB}"/>
              </a:ext>
            </a:extLst>
          </p:cNvPr>
          <p:cNvSpPr txBox="1"/>
          <p:nvPr/>
        </p:nvSpPr>
        <p:spPr>
          <a:xfrm>
            <a:off x="338269" y="440204"/>
            <a:ext cx="5748206" cy="27245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de-DE" dirty="0" err="1">
                <a:solidFill>
                  <a:schemeClr val="tx2"/>
                </a:solidFill>
              </a:rPr>
              <a:t>What</a:t>
            </a:r>
            <a:r>
              <a:rPr lang="de-DE" dirty="0">
                <a:solidFill>
                  <a:schemeClr val="tx2"/>
                </a:solidFill>
              </a:rPr>
              <a:t> </a:t>
            </a:r>
            <a:r>
              <a:rPr lang="de-DE" dirty="0" err="1">
                <a:solidFill>
                  <a:schemeClr val="tx2"/>
                </a:solidFill>
              </a:rPr>
              <a:t>would</a:t>
            </a:r>
            <a:r>
              <a:rPr lang="de-DE" dirty="0">
                <a:solidFill>
                  <a:schemeClr val="tx2"/>
                </a:solidFill>
              </a:rPr>
              <a:t> happen WITHOUT gender-</a:t>
            </a:r>
            <a:r>
              <a:rPr lang="de-DE" dirty="0" err="1">
                <a:solidFill>
                  <a:schemeClr val="tx2"/>
                </a:solidFill>
              </a:rPr>
              <a:t>specific</a:t>
            </a:r>
            <a:r>
              <a:rPr lang="de-DE" dirty="0">
                <a:solidFill>
                  <a:schemeClr val="tx2"/>
                </a:solidFill>
              </a:rPr>
              <a:t> </a:t>
            </a:r>
            <a:r>
              <a:rPr lang="de-DE" dirty="0" err="1">
                <a:solidFill>
                  <a:schemeClr val="tx2"/>
                </a:solidFill>
              </a:rPr>
              <a:t>adaptation</a:t>
            </a:r>
            <a:r>
              <a:rPr lang="de-DE" dirty="0">
                <a:solidFill>
                  <a:schemeClr val="tx2"/>
                </a:solidFill>
              </a:rPr>
              <a:t>?</a:t>
            </a:r>
            <a:endParaRPr lang="en-US" dirty="0">
              <a:solidFill>
                <a:schemeClr val="tx2"/>
              </a:solidFill>
            </a:endParaRPr>
          </a:p>
        </p:txBody>
      </p:sp>
      <p:pic>
        <p:nvPicPr>
          <p:cNvPr id="5" name="Grafik 4" descr="Mann mit einfarbiger Füllung">
            <a:extLst>
              <a:ext uri="{FF2B5EF4-FFF2-40B4-BE49-F238E27FC236}">
                <a16:creationId xmlns:a16="http://schemas.microsoft.com/office/drawing/2014/main" id="{FF47B4AF-FD49-FAB6-F279-DDBBB7ECA85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5686" y="828357"/>
            <a:ext cx="396000" cy="396000"/>
          </a:xfrm>
          <a:prstGeom prst="rect">
            <a:avLst/>
          </a:prstGeom>
        </p:spPr>
      </p:pic>
      <p:pic>
        <p:nvPicPr>
          <p:cNvPr id="7" name="Grafik 6" descr="Frau mit einfarbiger Füllung">
            <a:extLst>
              <a:ext uri="{FF2B5EF4-FFF2-40B4-BE49-F238E27FC236}">
                <a16:creationId xmlns:a16="http://schemas.microsoft.com/office/drawing/2014/main" id="{BBF469EF-C404-5D4C-2FF7-96A00E7EF17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104027" y="867040"/>
            <a:ext cx="396000" cy="396000"/>
          </a:xfrm>
          <a:prstGeom prst="rect">
            <a:avLst/>
          </a:prstGeom>
        </p:spPr>
      </p:pic>
      <p:pic>
        <p:nvPicPr>
          <p:cNvPr id="21" name="Grafik 20" descr="Mann mit einfarbiger Füllung">
            <a:extLst>
              <a:ext uri="{FF2B5EF4-FFF2-40B4-BE49-F238E27FC236}">
                <a16:creationId xmlns:a16="http://schemas.microsoft.com/office/drawing/2014/main" id="{4C88FED6-9E15-0F55-8555-3CCB52B235B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902857" y="867040"/>
            <a:ext cx="396000" cy="396000"/>
          </a:xfrm>
          <a:prstGeom prst="rect">
            <a:avLst/>
          </a:prstGeom>
        </p:spPr>
      </p:pic>
      <p:pic>
        <p:nvPicPr>
          <p:cNvPr id="23" name="Grafik 22" descr="Frau mit einfarbiger Füllung">
            <a:extLst>
              <a:ext uri="{FF2B5EF4-FFF2-40B4-BE49-F238E27FC236}">
                <a16:creationId xmlns:a16="http://schemas.microsoft.com/office/drawing/2014/main" id="{629BD940-9DED-1F5F-C4FF-868370DCACA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42077" y="837544"/>
            <a:ext cx="396000" cy="396000"/>
          </a:xfrm>
          <a:prstGeom prst="rect">
            <a:avLst/>
          </a:prstGeom>
        </p:spPr>
      </p:pic>
      <p:pic>
        <p:nvPicPr>
          <p:cNvPr id="25" name="Grafik 24">
            <a:extLst>
              <a:ext uri="{FF2B5EF4-FFF2-40B4-BE49-F238E27FC236}">
                <a16:creationId xmlns:a16="http://schemas.microsoft.com/office/drawing/2014/main" id="{1054626B-F74A-AF8E-5793-C0FE4AFB86E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t="51595" r="19646"/>
          <a:stretch>
            <a:fillRect/>
          </a:stretch>
        </p:blipFill>
        <p:spPr>
          <a:xfrm>
            <a:off x="930499" y="1322574"/>
            <a:ext cx="4415951" cy="513499"/>
          </a:xfrm>
          <a:prstGeom prst="rect">
            <a:avLst/>
          </a:prstGeom>
        </p:spPr>
      </p:pic>
      <p:pic>
        <p:nvPicPr>
          <p:cNvPr id="27" name="Grafik 26" descr="Mann mit einfarbiger Füllung">
            <a:extLst>
              <a:ext uri="{FF2B5EF4-FFF2-40B4-BE49-F238E27FC236}">
                <a16:creationId xmlns:a16="http://schemas.microsoft.com/office/drawing/2014/main" id="{22D3BE9E-94C5-CA3E-1CF6-906CC4B2EAF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855681" y="860132"/>
            <a:ext cx="396000" cy="396000"/>
          </a:xfrm>
          <a:prstGeom prst="rect">
            <a:avLst/>
          </a:prstGeom>
        </p:spPr>
      </p:pic>
      <p:pic>
        <p:nvPicPr>
          <p:cNvPr id="29" name="Grafik 28" descr="Frau mit einfarbiger Füllung">
            <a:extLst>
              <a:ext uri="{FF2B5EF4-FFF2-40B4-BE49-F238E27FC236}">
                <a16:creationId xmlns:a16="http://schemas.microsoft.com/office/drawing/2014/main" id="{424C5B80-B117-A53F-75A1-1692DAD4EBF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050511" y="865030"/>
            <a:ext cx="396000" cy="396000"/>
          </a:xfrm>
          <a:prstGeom prst="rect">
            <a:avLst/>
          </a:prstGeom>
        </p:spPr>
      </p:pic>
      <p:sp>
        <p:nvSpPr>
          <p:cNvPr id="31" name="Rechteck 30">
            <a:extLst>
              <a:ext uri="{FF2B5EF4-FFF2-40B4-BE49-F238E27FC236}">
                <a16:creationId xmlns:a16="http://schemas.microsoft.com/office/drawing/2014/main" id="{34546F76-8967-2174-F433-405437DAA71D}"/>
              </a:ext>
            </a:extLst>
          </p:cNvPr>
          <p:cNvSpPr/>
          <p:nvPr/>
        </p:nvSpPr>
        <p:spPr>
          <a:xfrm>
            <a:off x="2855681" y="3309312"/>
            <a:ext cx="1420755" cy="1088219"/>
          </a:xfrm>
          <a:prstGeom prst="rect">
            <a:avLst/>
          </a:prstGeom>
          <a:solidFill>
            <a:schemeClr val="accent6">
              <a:lumMod val="95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just"/>
            <a:r>
              <a:rPr lang="de-DE" sz="1400" dirty="0">
                <a:solidFill>
                  <a:schemeClr val="bg1">
                    <a:lumMod val="50000"/>
                  </a:schemeClr>
                </a:solidFill>
              </a:rPr>
              <a:t>Response Phase</a:t>
            </a:r>
            <a:endParaRPr lang="en-US" sz="14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3" name="Rechteck 32">
            <a:extLst>
              <a:ext uri="{FF2B5EF4-FFF2-40B4-BE49-F238E27FC236}">
                <a16:creationId xmlns:a16="http://schemas.microsoft.com/office/drawing/2014/main" id="{711EAA4A-9EAB-F161-C493-61380366049E}"/>
              </a:ext>
            </a:extLst>
          </p:cNvPr>
          <p:cNvSpPr/>
          <p:nvPr/>
        </p:nvSpPr>
        <p:spPr>
          <a:xfrm>
            <a:off x="2841529" y="2115818"/>
            <a:ext cx="1420755" cy="1089992"/>
          </a:xfrm>
          <a:prstGeom prst="rect">
            <a:avLst/>
          </a:prstGeom>
          <a:solidFill>
            <a:schemeClr val="accent6">
              <a:lumMod val="95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just"/>
            <a:r>
              <a:rPr lang="de-DE" sz="1400" dirty="0">
                <a:solidFill>
                  <a:schemeClr val="bg1">
                    <a:lumMod val="50000"/>
                  </a:schemeClr>
                </a:solidFill>
              </a:rPr>
              <a:t>Response Phase</a:t>
            </a:r>
            <a:endParaRPr lang="en-US" sz="14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5" name="Rechteck 34">
            <a:extLst>
              <a:ext uri="{FF2B5EF4-FFF2-40B4-BE49-F238E27FC236}">
                <a16:creationId xmlns:a16="http://schemas.microsoft.com/office/drawing/2014/main" id="{D894853C-7B91-71EA-4717-7915FAA2F0BA}"/>
              </a:ext>
            </a:extLst>
          </p:cNvPr>
          <p:cNvSpPr/>
          <p:nvPr/>
        </p:nvSpPr>
        <p:spPr>
          <a:xfrm>
            <a:off x="403420" y="3309313"/>
            <a:ext cx="2094271" cy="1088220"/>
          </a:xfrm>
          <a:prstGeom prst="rect">
            <a:avLst/>
          </a:prstGeom>
          <a:solidFill>
            <a:schemeClr val="accent6">
              <a:lumMod val="95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just"/>
            <a:r>
              <a:rPr lang="de-DE" sz="1400" dirty="0">
                <a:solidFill>
                  <a:schemeClr val="bg1">
                    <a:lumMod val="50000"/>
                  </a:schemeClr>
                </a:solidFill>
              </a:rPr>
              <a:t>Adaptation Phase 2</a:t>
            </a:r>
            <a:endParaRPr lang="en-US" sz="14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7" name="Rechteck 36">
            <a:extLst>
              <a:ext uri="{FF2B5EF4-FFF2-40B4-BE49-F238E27FC236}">
                <a16:creationId xmlns:a16="http://schemas.microsoft.com/office/drawing/2014/main" id="{7393C879-DCFF-4ADB-7D1C-64F8039EE8D6}"/>
              </a:ext>
            </a:extLst>
          </p:cNvPr>
          <p:cNvSpPr/>
          <p:nvPr/>
        </p:nvSpPr>
        <p:spPr>
          <a:xfrm>
            <a:off x="403420" y="2117590"/>
            <a:ext cx="2094271" cy="1088220"/>
          </a:xfrm>
          <a:prstGeom prst="rect">
            <a:avLst/>
          </a:prstGeom>
          <a:solidFill>
            <a:schemeClr val="accent6">
              <a:lumMod val="95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just"/>
            <a:r>
              <a:rPr lang="de-DE" sz="1400" dirty="0">
                <a:solidFill>
                  <a:schemeClr val="bg1">
                    <a:lumMod val="50000"/>
                  </a:schemeClr>
                </a:solidFill>
              </a:rPr>
              <a:t>Adaptation Phase 1</a:t>
            </a:r>
            <a:endParaRPr lang="en-US" sz="14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9" name="Textfeld 38">
            <a:extLst>
              <a:ext uri="{FF2B5EF4-FFF2-40B4-BE49-F238E27FC236}">
                <a16:creationId xmlns:a16="http://schemas.microsoft.com/office/drawing/2014/main" id="{F0EBF879-5EFC-0E0F-7C1B-2154ED9BF9C4}"/>
              </a:ext>
            </a:extLst>
          </p:cNvPr>
          <p:cNvSpPr txBox="1"/>
          <p:nvPr/>
        </p:nvSpPr>
        <p:spPr>
          <a:xfrm>
            <a:off x="5167290" y="2795937"/>
            <a:ext cx="1540323" cy="66521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US" sz="1600" i="1" dirty="0">
                <a:solidFill>
                  <a:schemeClr val="tx2"/>
                </a:solidFill>
              </a:rPr>
              <a:t>Adaptation would cancel each other out</a:t>
            </a:r>
          </a:p>
        </p:txBody>
      </p:sp>
      <p:sp>
        <p:nvSpPr>
          <p:cNvPr id="61" name="Pfeil: nach rechts 60">
            <a:extLst>
              <a:ext uri="{FF2B5EF4-FFF2-40B4-BE49-F238E27FC236}">
                <a16:creationId xmlns:a16="http://schemas.microsoft.com/office/drawing/2014/main" id="{06AABFD2-170D-5C3E-354E-AF13DFBC1F9B}"/>
              </a:ext>
            </a:extLst>
          </p:cNvPr>
          <p:cNvSpPr/>
          <p:nvPr/>
        </p:nvSpPr>
        <p:spPr>
          <a:xfrm>
            <a:off x="4377977" y="2923029"/>
            <a:ext cx="235974" cy="125270"/>
          </a:xfrm>
          <a:prstGeom prst="rightArrow">
            <a:avLst/>
          </a:prstGeom>
          <a:solidFill>
            <a:schemeClr val="bg1">
              <a:lumMod val="5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Pfeil: nach rechts 62">
            <a:extLst>
              <a:ext uri="{FF2B5EF4-FFF2-40B4-BE49-F238E27FC236}">
                <a16:creationId xmlns:a16="http://schemas.microsoft.com/office/drawing/2014/main" id="{F7061B5E-9473-6855-CC2F-5E5403A54F18}"/>
              </a:ext>
            </a:extLst>
          </p:cNvPr>
          <p:cNvSpPr/>
          <p:nvPr/>
        </p:nvSpPr>
        <p:spPr>
          <a:xfrm>
            <a:off x="4354480" y="3688206"/>
            <a:ext cx="235974" cy="125270"/>
          </a:xfrm>
          <a:prstGeom prst="rightArrow">
            <a:avLst/>
          </a:prstGeom>
          <a:solidFill>
            <a:schemeClr val="bg1">
              <a:lumMod val="5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5" name="Grafik 64" descr="Mann mit einfarbiger Füllung">
            <a:extLst>
              <a:ext uri="{FF2B5EF4-FFF2-40B4-BE49-F238E27FC236}">
                <a16:creationId xmlns:a16="http://schemas.microsoft.com/office/drawing/2014/main" id="{B185618C-1040-3041-426A-3FB804DB7AD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3839" y="2362804"/>
            <a:ext cx="360000" cy="360000"/>
          </a:xfrm>
          <a:prstGeom prst="rect">
            <a:avLst/>
          </a:prstGeom>
        </p:spPr>
      </p:pic>
      <p:pic>
        <p:nvPicPr>
          <p:cNvPr id="67" name="Grafik 66" descr="Mann mit einfarbiger Füllung">
            <a:extLst>
              <a:ext uri="{FF2B5EF4-FFF2-40B4-BE49-F238E27FC236}">
                <a16:creationId xmlns:a16="http://schemas.microsoft.com/office/drawing/2014/main" id="{BB90A3E8-3F8E-A4CE-5ED9-D0B52E3E202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25665" y="2403049"/>
            <a:ext cx="360000" cy="360000"/>
          </a:xfrm>
          <a:prstGeom prst="rect">
            <a:avLst/>
          </a:prstGeom>
        </p:spPr>
      </p:pic>
      <p:pic>
        <p:nvPicPr>
          <p:cNvPr id="69" name="Grafik 68" descr="Mann mit einfarbiger Füllung">
            <a:extLst>
              <a:ext uri="{FF2B5EF4-FFF2-40B4-BE49-F238E27FC236}">
                <a16:creationId xmlns:a16="http://schemas.microsoft.com/office/drawing/2014/main" id="{E57FE4B1-78FA-936D-212B-A464A82B7D1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668482" y="2368335"/>
            <a:ext cx="360000" cy="360000"/>
          </a:xfrm>
          <a:prstGeom prst="rect">
            <a:avLst/>
          </a:prstGeom>
        </p:spPr>
      </p:pic>
      <p:pic>
        <p:nvPicPr>
          <p:cNvPr id="71" name="Grafik 70" descr="Frau mit einfarbiger Füllung">
            <a:extLst>
              <a:ext uri="{FF2B5EF4-FFF2-40B4-BE49-F238E27FC236}">
                <a16:creationId xmlns:a16="http://schemas.microsoft.com/office/drawing/2014/main" id="{9429AFE8-166D-62C0-2532-E6449EA8AD0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51797" y="2710219"/>
            <a:ext cx="360000" cy="360000"/>
          </a:xfrm>
          <a:prstGeom prst="rect">
            <a:avLst/>
          </a:prstGeom>
        </p:spPr>
      </p:pic>
      <p:pic>
        <p:nvPicPr>
          <p:cNvPr id="73" name="Grafik 72" descr="Frau mit einfarbiger Füllung">
            <a:extLst>
              <a:ext uri="{FF2B5EF4-FFF2-40B4-BE49-F238E27FC236}">
                <a16:creationId xmlns:a16="http://schemas.microsoft.com/office/drawing/2014/main" id="{7E06A566-31F5-F236-C73C-789312A5BE1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029996" y="2624997"/>
            <a:ext cx="360000" cy="360000"/>
          </a:xfrm>
          <a:prstGeom prst="rect">
            <a:avLst/>
          </a:prstGeom>
        </p:spPr>
      </p:pic>
      <p:pic>
        <p:nvPicPr>
          <p:cNvPr id="75" name="Grafik 74" descr="Frau mit einfarbiger Füllung">
            <a:extLst>
              <a:ext uri="{FF2B5EF4-FFF2-40B4-BE49-F238E27FC236}">
                <a16:creationId xmlns:a16="http://schemas.microsoft.com/office/drawing/2014/main" id="{F9438402-0702-74B4-B24F-57E8CF67319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426494" y="2671590"/>
            <a:ext cx="360000" cy="360000"/>
          </a:xfrm>
          <a:prstGeom prst="rect">
            <a:avLst/>
          </a:prstGeom>
        </p:spPr>
      </p:pic>
      <p:pic>
        <p:nvPicPr>
          <p:cNvPr id="77" name="Grafik 76" descr="Frau mit einfarbiger Füllung">
            <a:extLst>
              <a:ext uri="{FF2B5EF4-FFF2-40B4-BE49-F238E27FC236}">
                <a16:creationId xmlns:a16="http://schemas.microsoft.com/office/drawing/2014/main" id="{FC3C8319-84D4-FE46-F03A-9DB09D9D41B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03420" y="3813476"/>
            <a:ext cx="360000" cy="360000"/>
          </a:xfrm>
          <a:prstGeom prst="rect">
            <a:avLst/>
          </a:prstGeom>
        </p:spPr>
      </p:pic>
      <p:pic>
        <p:nvPicPr>
          <p:cNvPr id="79" name="Grafik 78" descr="Frau mit einfarbiger Füllung">
            <a:extLst>
              <a:ext uri="{FF2B5EF4-FFF2-40B4-BE49-F238E27FC236}">
                <a16:creationId xmlns:a16="http://schemas.microsoft.com/office/drawing/2014/main" id="{E497946C-F564-AD41-E7DE-88949C0A8EA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976274" y="3468669"/>
            <a:ext cx="360000" cy="360000"/>
          </a:xfrm>
          <a:prstGeom prst="rect">
            <a:avLst/>
          </a:prstGeom>
        </p:spPr>
      </p:pic>
      <p:pic>
        <p:nvPicPr>
          <p:cNvPr id="81" name="Grafik 80" descr="Frau mit einfarbiger Füllung">
            <a:extLst>
              <a:ext uri="{FF2B5EF4-FFF2-40B4-BE49-F238E27FC236}">
                <a16:creationId xmlns:a16="http://schemas.microsoft.com/office/drawing/2014/main" id="{E4984835-3BF9-2508-53F3-9024DF980D9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65964" y="3902008"/>
            <a:ext cx="360000" cy="360000"/>
          </a:xfrm>
          <a:prstGeom prst="rect">
            <a:avLst/>
          </a:prstGeom>
        </p:spPr>
      </p:pic>
      <p:pic>
        <p:nvPicPr>
          <p:cNvPr id="83" name="Grafik 82" descr="Mann mit einfarbiger Füllung">
            <a:extLst>
              <a:ext uri="{FF2B5EF4-FFF2-40B4-BE49-F238E27FC236}">
                <a16:creationId xmlns:a16="http://schemas.microsoft.com/office/drawing/2014/main" id="{033542CC-0AE8-4321-13AC-1504916B7C2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61410" y="3662914"/>
            <a:ext cx="360000" cy="360000"/>
          </a:xfrm>
          <a:prstGeom prst="rect">
            <a:avLst/>
          </a:prstGeom>
        </p:spPr>
      </p:pic>
      <p:pic>
        <p:nvPicPr>
          <p:cNvPr id="85" name="Grafik 84" descr="Mann mit einfarbiger Füllung">
            <a:extLst>
              <a:ext uri="{FF2B5EF4-FFF2-40B4-BE49-F238E27FC236}">
                <a16:creationId xmlns:a16="http://schemas.microsoft.com/office/drawing/2014/main" id="{E506B851-A138-2230-0E4F-AC8A56D189A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748991" y="3853420"/>
            <a:ext cx="374777" cy="374777"/>
          </a:xfrm>
          <a:prstGeom prst="rect">
            <a:avLst/>
          </a:prstGeom>
        </p:spPr>
      </p:pic>
      <p:pic>
        <p:nvPicPr>
          <p:cNvPr id="87" name="Grafik 86" descr="Mann mit einfarbiger Füllung">
            <a:extLst>
              <a:ext uri="{FF2B5EF4-FFF2-40B4-BE49-F238E27FC236}">
                <a16:creationId xmlns:a16="http://schemas.microsoft.com/office/drawing/2014/main" id="{A0EFE5B6-2BC0-B892-A9B3-B47F60559E3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466579" y="3572172"/>
            <a:ext cx="360000" cy="360000"/>
          </a:xfrm>
          <a:prstGeom prst="rect">
            <a:avLst/>
          </a:prstGeom>
        </p:spPr>
      </p:pic>
      <p:pic>
        <p:nvPicPr>
          <p:cNvPr id="89" name="Grafik 88" descr="Mann mit einfarbiger Füllung">
            <a:extLst>
              <a:ext uri="{FF2B5EF4-FFF2-40B4-BE49-F238E27FC236}">
                <a16:creationId xmlns:a16="http://schemas.microsoft.com/office/drawing/2014/main" id="{0FC21C8E-350C-0A34-60AD-8B017570D4E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395878" y="2391750"/>
            <a:ext cx="360000" cy="360000"/>
          </a:xfrm>
          <a:prstGeom prst="rect">
            <a:avLst/>
          </a:prstGeom>
        </p:spPr>
      </p:pic>
      <p:pic>
        <p:nvPicPr>
          <p:cNvPr id="91" name="Grafik 90" descr="Frau mit einfarbiger Füllung">
            <a:extLst>
              <a:ext uri="{FF2B5EF4-FFF2-40B4-BE49-F238E27FC236}">
                <a16:creationId xmlns:a16="http://schemas.microsoft.com/office/drawing/2014/main" id="{A431498A-51D3-D158-29B2-98297BF7F85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391065" y="2800513"/>
            <a:ext cx="360000" cy="360000"/>
          </a:xfrm>
          <a:prstGeom prst="rect">
            <a:avLst/>
          </a:prstGeom>
        </p:spPr>
      </p:pic>
      <p:pic>
        <p:nvPicPr>
          <p:cNvPr id="93" name="Grafik 92" descr="Mann mit einfarbiger Füllung">
            <a:extLst>
              <a:ext uri="{FF2B5EF4-FFF2-40B4-BE49-F238E27FC236}">
                <a16:creationId xmlns:a16="http://schemas.microsoft.com/office/drawing/2014/main" id="{A0B73704-4AF9-2E54-BCBB-E20181FA208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086511" y="2391750"/>
            <a:ext cx="360000" cy="360000"/>
          </a:xfrm>
          <a:prstGeom prst="rect">
            <a:avLst/>
          </a:prstGeom>
        </p:spPr>
      </p:pic>
      <p:pic>
        <p:nvPicPr>
          <p:cNvPr id="95" name="Grafik 94" descr="Mann mit einfarbiger Füllung">
            <a:extLst>
              <a:ext uri="{FF2B5EF4-FFF2-40B4-BE49-F238E27FC236}">
                <a16:creationId xmlns:a16="http://schemas.microsoft.com/office/drawing/2014/main" id="{E10A37E6-C5CD-0E40-54FC-B6ACCCEB9D0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732383" y="2397439"/>
            <a:ext cx="360000" cy="360000"/>
          </a:xfrm>
          <a:prstGeom prst="rect">
            <a:avLst/>
          </a:prstGeom>
        </p:spPr>
      </p:pic>
      <p:pic>
        <p:nvPicPr>
          <p:cNvPr id="97" name="Grafik 96" descr="Frau mit einfarbiger Füllung">
            <a:extLst>
              <a:ext uri="{FF2B5EF4-FFF2-40B4-BE49-F238E27FC236}">
                <a16:creationId xmlns:a16="http://schemas.microsoft.com/office/drawing/2014/main" id="{A3EB8141-C88D-AA7E-D4F5-26EBBFAFCC4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086511" y="2794824"/>
            <a:ext cx="360000" cy="360000"/>
          </a:xfrm>
          <a:prstGeom prst="rect">
            <a:avLst/>
          </a:prstGeom>
        </p:spPr>
      </p:pic>
      <p:pic>
        <p:nvPicPr>
          <p:cNvPr id="99" name="Grafik 98" descr="Frau mit einfarbiger Füllung">
            <a:extLst>
              <a:ext uri="{FF2B5EF4-FFF2-40B4-BE49-F238E27FC236}">
                <a16:creationId xmlns:a16="http://schemas.microsoft.com/office/drawing/2014/main" id="{73C5452C-7605-0B26-9744-3195603F887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732383" y="2806975"/>
            <a:ext cx="360000" cy="360000"/>
          </a:xfrm>
          <a:prstGeom prst="rect">
            <a:avLst/>
          </a:prstGeom>
        </p:spPr>
      </p:pic>
      <p:sp>
        <p:nvSpPr>
          <p:cNvPr id="101" name="Pfeil: nach rechts 100">
            <a:extLst>
              <a:ext uri="{FF2B5EF4-FFF2-40B4-BE49-F238E27FC236}">
                <a16:creationId xmlns:a16="http://schemas.microsoft.com/office/drawing/2014/main" id="{F30EF3A8-FED9-E9E0-2AA7-17B9F925B79B}"/>
              </a:ext>
            </a:extLst>
          </p:cNvPr>
          <p:cNvSpPr/>
          <p:nvPr/>
        </p:nvSpPr>
        <p:spPr>
          <a:xfrm>
            <a:off x="4347404" y="2479864"/>
            <a:ext cx="235974" cy="125270"/>
          </a:xfrm>
          <a:prstGeom prst="rightArrow">
            <a:avLst/>
          </a:prstGeom>
          <a:solidFill>
            <a:schemeClr val="bg1">
              <a:lumMod val="5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3" name="Grafik 102" descr="Mann mit einfarbiger Füllung">
            <a:extLst>
              <a:ext uri="{FF2B5EF4-FFF2-40B4-BE49-F238E27FC236}">
                <a16:creationId xmlns:a16="http://schemas.microsoft.com/office/drawing/2014/main" id="{4C31F7EA-FBAB-3E64-DCC9-ECE4A34EE7C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386960" y="3570841"/>
            <a:ext cx="360000" cy="360000"/>
          </a:xfrm>
          <a:prstGeom prst="rect">
            <a:avLst/>
          </a:prstGeom>
        </p:spPr>
      </p:pic>
      <p:pic>
        <p:nvPicPr>
          <p:cNvPr id="105" name="Grafik 104" descr="Frau mit einfarbiger Füllung">
            <a:extLst>
              <a:ext uri="{FF2B5EF4-FFF2-40B4-BE49-F238E27FC236}">
                <a16:creationId xmlns:a16="http://schemas.microsoft.com/office/drawing/2014/main" id="{B15A5620-7BF2-1B2B-532E-7D3D20528FB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382147" y="3979604"/>
            <a:ext cx="360000" cy="360000"/>
          </a:xfrm>
          <a:prstGeom prst="rect">
            <a:avLst/>
          </a:prstGeom>
        </p:spPr>
      </p:pic>
      <p:pic>
        <p:nvPicPr>
          <p:cNvPr id="107" name="Grafik 106" descr="Mann mit einfarbiger Füllung">
            <a:extLst>
              <a:ext uri="{FF2B5EF4-FFF2-40B4-BE49-F238E27FC236}">
                <a16:creationId xmlns:a16="http://schemas.microsoft.com/office/drawing/2014/main" id="{38DAF6C2-616A-E997-6A5F-AB3565B92F6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077593" y="3570841"/>
            <a:ext cx="360000" cy="360000"/>
          </a:xfrm>
          <a:prstGeom prst="rect">
            <a:avLst/>
          </a:prstGeom>
        </p:spPr>
      </p:pic>
      <p:pic>
        <p:nvPicPr>
          <p:cNvPr id="109" name="Grafik 108" descr="Mann mit einfarbiger Füllung">
            <a:extLst>
              <a:ext uri="{FF2B5EF4-FFF2-40B4-BE49-F238E27FC236}">
                <a16:creationId xmlns:a16="http://schemas.microsoft.com/office/drawing/2014/main" id="{9EE02E54-5130-139B-16AF-64C1366CF49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723465" y="3576530"/>
            <a:ext cx="360000" cy="360000"/>
          </a:xfrm>
          <a:prstGeom prst="rect">
            <a:avLst/>
          </a:prstGeom>
        </p:spPr>
      </p:pic>
      <p:pic>
        <p:nvPicPr>
          <p:cNvPr id="111" name="Grafik 110" descr="Frau mit einfarbiger Füllung">
            <a:extLst>
              <a:ext uri="{FF2B5EF4-FFF2-40B4-BE49-F238E27FC236}">
                <a16:creationId xmlns:a16="http://schemas.microsoft.com/office/drawing/2014/main" id="{C73A001D-46B7-95F8-38FF-AF027D62F38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077593" y="3973915"/>
            <a:ext cx="360000" cy="360000"/>
          </a:xfrm>
          <a:prstGeom prst="rect">
            <a:avLst/>
          </a:prstGeom>
        </p:spPr>
      </p:pic>
      <p:pic>
        <p:nvPicPr>
          <p:cNvPr id="113" name="Grafik 112" descr="Frau mit einfarbiger Füllung">
            <a:extLst>
              <a:ext uri="{FF2B5EF4-FFF2-40B4-BE49-F238E27FC236}">
                <a16:creationId xmlns:a16="http://schemas.microsoft.com/office/drawing/2014/main" id="{DE9DE8A4-738D-28B9-6C6E-1A0595F4BE2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723465" y="3986066"/>
            <a:ext cx="360000" cy="360000"/>
          </a:xfrm>
          <a:prstGeom prst="rect">
            <a:avLst/>
          </a:prstGeom>
        </p:spPr>
      </p:pic>
      <p:sp>
        <p:nvSpPr>
          <p:cNvPr id="115" name="Pfeil: nach rechts 114">
            <a:extLst>
              <a:ext uri="{FF2B5EF4-FFF2-40B4-BE49-F238E27FC236}">
                <a16:creationId xmlns:a16="http://schemas.microsoft.com/office/drawing/2014/main" id="{588F9F83-3C6E-6DC7-F061-55A03F38718E}"/>
              </a:ext>
            </a:extLst>
          </p:cNvPr>
          <p:cNvSpPr/>
          <p:nvPr/>
        </p:nvSpPr>
        <p:spPr>
          <a:xfrm>
            <a:off x="4354480" y="4082008"/>
            <a:ext cx="235974" cy="125270"/>
          </a:xfrm>
          <a:prstGeom prst="rightArrow">
            <a:avLst/>
          </a:prstGeom>
          <a:solidFill>
            <a:schemeClr val="bg1">
              <a:lumMod val="5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7" name="Grafik 116" descr="Frau mit einfarbiger Füllung">
            <a:extLst>
              <a:ext uri="{FF2B5EF4-FFF2-40B4-BE49-F238E27FC236}">
                <a16:creationId xmlns:a16="http://schemas.microsoft.com/office/drawing/2014/main" id="{2C908C0D-4242-37B1-25D0-3BFF1E0DA5E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643139" y="2817697"/>
            <a:ext cx="360000" cy="360000"/>
          </a:xfrm>
          <a:prstGeom prst="rect">
            <a:avLst/>
          </a:prstGeom>
        </p:spPr>
      </p:pic>
      <p:pic>
        <p:nvPicPr>
          <p:cNvPr id="119" name="Grafik 118" descr="Mann mit einfarbiger Füllung">
            <a:extLst>
              <a:ext uri="{FF2B5EF4-FFF2-40B4-BE49-F238E27FC236}">
                <a16:creationId xmlns:a16="http://schemas.microsoft.com/office/drawing/2014/main" id="{D7A9DD0F-7B1D-0FFD-F404-94BE367F43E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643139" y="2330024"/>
            <a:ext cx="360000" cy="360000"/>
          </a:xfrm>
          <a:prstGeom prst="rect">
            <a:avLst/>
          </a:prstGeom>
        </p:spPr>
      </p:pic>
      <p:pic>
        <p:nvPicPr>
          <p:cNvPr id="121" name="Grafik 120" descr="Mann mit einfarbiger Füllung">
            <a:extLst>
              <a:ext uri="{FF2B5EF4-FFF2-40B4-BE49-F238E27FC236}">
                <a16:creationId xmlns:a16="http://schemas.microsoft.com/office/drawing/2014/main" id="{E1361938-D32B-0304-4CEA-4FE6D767244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634426" y="3569571"/>
            <a:ext cx="360000" cy="360000"/>
          </a:xfrm>
          <a:prstGeom prst="rect">
            <a:avLst/>
          </a:prstGeom>
        </p:spPr>
      </p:pic>
      <p:pic>
        <p:nvPicPr>
          <p:cNvPr id="123" name="Grafik 122" descr="Frau mit einfarbiger Füllung">
            <a:extLst>
              <a:ext uri="{FF2B5EF4-FFF2-40B4-BE49-F238E27FC236}">
                <a16:creationId xmlns:a16="http://schemas.microsoft.com/office/drawing/2014/main" id="{2768CBA3-9ACF-F9AC-C25D-7794581B6F3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622902" y="3986066"/>
            <a:ext cx="360000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796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4C7480-F8C4-C05A-DCB8-865648C4DC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Gerade Verbindung 9">
            <a:extLst>
              <a:ext uri="{FF2B5EF4-FFF2-40B4-BE49-F238E27FC236}">
                <a16:creationId xmlns:a16="http://schemas.microsoft.com/office/drawing/2014/main" id="{DF666974-6FD9-CE24-1C62-4A4FD60C73E4}"/>
              </a:ext>
            </a:extLst>
          </p:cNvPr>
          <p:cNvCxnSpPr/>
          <p:nvPr/>
        </p:nvCxnSpPr>
        <p:spPr>
          <a:xfrm>
            <a:off x="340096" y="359248"/>
            <a:ext cx="346895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feld 11">
            <a:extLst>
              <a:ext uri="{FF2B5EF4-FFF2-40B4-BE49-F238E27FC236}">
                <a16:creationId xmlns:a16="http://schemas.microsoft.com/office/drawing/2014/main" id="{02A51DEF-1EC1-7FC5-1F5F-ADDCDD7A5F6C}"/>
              </a:ext>
            </a:extLst>
          </p:cNvPr>
          <p:cNvSpPr txBox="1"/>
          <p:nvPr/>
        </p:nvSpPr>
        <p:spPr>
          <a:xfrm>
            <a:off x="910861" y="1026269"/>
            <a:ext cx="5036278" cy="216516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US" sz="1600" dirty="0">
                <a:solidFill>
                  <a:schemeClr val="tx2"/>
                </a:solidFill>
              </a:rPr>
              <a:t>Is vocal emotional processing </a:t>
            </a:r>
            <a:r>
              <a:rPr lang="en-US" sz="1600" i="1" dirty="0">
                <a:solidFill>
                  <a:srgbClr val="C00000"/>
                </a:solidFill>
              </a:rPr>
              <a:t>fine-tuned</a:t>
            </a:r>
            <a:r>
              <a:rPr lang="en-US" sz="1600" i="1" dirty="0">
                <a:solidFill>
                  <a:schemeClr val="tx2"/>
                </a:solidFill>
              </a:rPr>
              <a:t> </a:t>
            </a:r>
            <a:r>
              <a:rPr lang="en-US" sz="1600" dirty="0">
                <a:solidFill>
                  <a:schemeClr val="tx2"/>
                </a:solidFill>
              </a:rPr>
              <a:t>to characteristics of </a:t>
            </a:r>
            <a:br>
              <a:rPr lang="en-US" sz="1600" dirty="0">
                <a:solidFill>
                  <a:schemeClr val="tx2"/>
                </a:solidFill>
              </a:rPr>
            </a:br>
            <a:r>
              <a:rPr lang="en-US" sz="1600" dirty="0">
                <a:solidFill>
                  <a:schemeClr val="tx2"/>
                </a:solidFill>
              </a:rPr>
              <a:t>the </a:t>
            </a:r>
            <a:r>
              <a:rPr lang="en-US" sz="1600" b="1" dirty="0">
                <a:solidFill>
                  <a:schemeClr val="tx2"/>
                </a:solidFill>
              </a:rPr>
              <a:t>speaker </a:t>
            </a:r>
            <a:r>
              <a:rPr lang="en-US" sz="1600" dirty="0">
                <a:solidFill>
                  <a:schemeClr val="tx2"/>
                </a:solidFill>
              </a:rPr>
              <a:t>and the </a:t>
            </a:r>
            <a:r>
              <a:rPr lang="en-US" sz="1600" b="1" dirty="0">
                <a:solidFill>
                  <a:schemeClr val="tx2"/>
                </a:solidFill>
              </a:rPr>
              <a:t>speech</a:t>
            </a:r>
            <a:r>
              <a:rPr lang="en-US" sz="1600" dirty="0">
                <a:solidFill>
                  <a:schemeClr val="tx2"/>
                </a:solidFill>
              </a:rPr>
              <a:t>?</a:t>
            </a:r>
          </a:p>
          <a:p>
            <a:pPr algn="ctr"/>
            <a:r>
              <a:rPr lang="en-US" sz="2800" dirty="0"/>
              <a:t>=</a:t>
            </a:r>
          </a:p>
          <a:p>
            <a:pPr algn="ctr"/>
            <a:r>
              <a:rPr lang="en-US" dirty="0"/>
              <a:t> </a:t>
            </a:r>
            <a:r>
              <a:rPr lang="en-US" sz="1600" dirty="0"/>
              <a:t>Is vocal emotional processing fine-tuned to </a:t>
            </a:r>
            <a:r>
              <a:rPr lang="en-US" sz="1600" b="1" dirty="0"/>
              <a:t>speaker gender</a:t>
            </a:r>
            <a:r>
              <a:rPr lang="en-US" sz="1600" dirty="0"/>
              <a:t>, </a:t>
            </a:r>
            <a:r>
              <a:rPr lang="en-US" sz="1600" b="1" dirty="0"/>
              <a:t>identity</a:t>
            </a:r>
            <a:r>
              <a:rPr lang="en-US" sz="1600" dirty="0"/>
              <a:t> and </a:t>
            </a:r>
            <a:r>
              <a:rPr lang="en-US" sz="1600" b="1" dirty="0"/>
              <a:t>phonetic content</a:t>
            </a:r>
            <a:r>
              <a:rPr lang="en-US" sz="1600" dirty="0"/>
              <a:t>? </a:t>
            </a:r>
          </a:p>
          <a:p>
            <a:pPr algn="ctr"/>
            <a:r>
              <a:rPr lang="en-US" sz="2800" dirty="0"/>
              <a:t>=</a:t>
            </a:r>
            <a:endParaRPr lang="en-US" dirty="0"/>
          </a:p>
          <a:p>
            <a:pPr algn="ctr"/>
            <a:r>
              <a:rPr lang="en-US" dirty="0"/>
              <a:t> </a:t>
            </a:r>
            <a:r>
              <a:rPr lang="en-US" sz="1600" dirty="0"/>
              <a:t>Do we see evidence from </a:t>
            </a:r>
            <a:r>
              <a:rPr lang="en-US" sz="1600" b="1" dirty="0"/>
              <a:t>simultaneous opposite adaptation</a:t>
            </a:r>
            <a:r>
              <a:rPr lang="en-US" sz="1600" dirty="0"/>
              <a:t>?</a:t>
            </a:r>
            <a:endParaRPr lang="en-US" sz="16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254293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Gerade Verbindung 9">
            <a:extLst>
              <a:ext uri="{FF2B5EF4-FFF2-40B4-BE49-F238E27FC236}">
                <a16:creationId xmlns:a16="http://schemas.microsoft.com/office/drawing/2014/main" id="{5A4CBE88-6C5D-4FB8-9316-1A0A18DD7B01}"/>
              </a:ext>
            </a:extLst>
          </p:cNvPr>
          <p:cNvCxnSpPr/>
          <p:nvPr/>
        </p:nvCxnSpPr>
        <p:spPr>
          <a:xfrm>
            <a:off x="340096" y="359248"/>
            <a:ext cx="346895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hteck: abgerundete Ecken 7">
            <a:extLst>
              <a:ext uri="{FF2B5EF4-FFF2-40B4-BE49-F238E27FC236}">
                <a16:creationId xmlns:a16="http://schemas.microsoft.com/office/drawing/2014/main" id="{70E09D2C-C786-4D3D-AE1C-60DC3C27C6C6}"/>
              </a:ext>
            </a:extLst>
          </p:cNvPr>
          <p:cNvSpPr/>
          <p:nvPr/>
        </p:nvSpPr>
        <p:spPr>
          <a:xfrm>
            <a:off x="458122" y="2295529"/>
            <a:ext cx="1738735" cy="1047354"/>
          </a:xfrm>
          <a:prstGeom prst="roundRect">
            <a:avLst>
              <a:gd name="adj" fmla="val 13837"/>
            </a:avLst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buClr>
                <a:schemeClr val="accent1"/>
              </a:buClr>
            </a:pPr>
            <a:r>
              <a:rPr lang="en-US" sz="1000" dirty="0"/>
              <a:t>I expected to find simultaneous opposite aftereffects for </a:t>
            </a:r>
            <a:r>
              <a:rPr lang="en-US" sz="1000" b="1" dirty="0"/>
              <a:t>male and female speakers </a:t>
            </a:r>
            <a:endParaRPr lang="de-DE" sz="1000" b="1" dirty="0"/>
          </a:p>
        </p:txBody>
      </p:sp>
      <p:sp>
        <p:nvSpPr>
          <p:cNvPr id="9" name="Rechteck: abgerundete Ecken 8">
            <a:extLst>
              <a:ext uri="{FF2B5EF4-FFF2-40B4-BE49-F238E27FC236}">
                <a16:creationId xmlns:a16="http://schemas.microsoft.com/office/drawing/2014/main" id="{020E3E13-13C9-495D-96B2-A3F572E3E987}"/>
              </a:ext>
            </a:extLst>
          </p:cNvPr>
          <p:cNvSpPr/>
          <p:nvPr/>
        </p:nvSpPr>
        <p:spPr>
          <a:xfrm>
            <a:off x="2618644" y="2311278"/>
            <a:ext cx="1738735" cy="1047354"/>
          </a:xfrm>
          <a:prstGeom prst="roundRect">
            <a:avLst>
              <a:gd name="adj" fmla="val 13837"/>
            </a:avLst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buClr>
                <a:schemeClr val="accent1"/>
              </a:buClr>
            </a:pPr>
            <a:r>
              <a:rPr lang="en-US" sz="1000" dirty="0"/>
              <a:t>I expected to find simultaneous opposite aftereffects</a:t>
            </a:r>
          </a:p>
          <a:p>
            <a:pPr algn="ctr">
              <a:buClr>
                <a:schemeClr val="accent1"/>
              </a:buClr>
            </a:pPr>
            <a:r>
              <a:rPr lang="en-US" sz="1000" dirty="0"/>
              <a:t>for </a:t>
            </a:r>
            <a:r>
              <a:rPr lang="en-US" sz="1000" b="1" dirty="0"/>
              <a:t>different speaker identities</a:t>
            </a:r>
          </a:p>
        </p:txBody>
      </p:sp>
      <p:sp>
        <p:nvSpPr>
          <p:cNvPr id="10" name="Rechteck: abgerundete Ecken 9">
            <a:extLst>
              <a:ext uri="{FF2B5EF4-FFF2-40B4-BE49-F238E27FC236}">
                <a16:creationId xmlns:a16="http://schemas.microsoft.com/office/drawing/2014/main" id="{A0E1A2DF-780F-40D4-A737-271F6301F70F}"/>
              </a:ext>
            </a:extLst>
          </p:cNvPr>
          <p:cNvSpPr/>
          <p:nvPr/>
        </p:nvSpPr>
        <p:spPr>
          <a:xfrm>
            <a:off x="4718447" y="2295529"/>
            <a:ext cx="1738735" cy="1047354"/>
          </a:xfrm>
          <a:prstGeom prst="roundRect">
            <a:avLst>
              <a:gd name="adj" fmla="val 13837"/>
            </a:avLst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buClr>
                <a:schemeClr val="accent1"/>
              </a:buClr>
            </a:pPr>
            <a:r>
              <a:rPr lang="en-US" sz="1000" dirty="0"/>
              <a:t>I expected to find </a:t>
            </a:r>
            <a:r>
              <a:rPr lang="en-US" sz="1000" b="1" dirty="0"/>
              <a:t>NO</a:t>
            </a:r>
            <a:r>
              <a:rPr lang="en-US" sz="1000" dirty="0"/>
              <a:t> simultaneous opposite aftereffects for </a:t>
            </a:r>
            <a:r>
              <a:rPr lang="en-US" sz="1000" b="1" dirty="0"/>
              <a:t>different pseudowords</a:t>
            </a:r>
          </a:p>
        </p:txBody>
      </p:sp>
      <p:sp>
        <p:nvSpPr>
          <p:cNvPr id="11" name="Rechteck: abgerundete Ecken 10">
            <a:extLst>
              <a:ext uri="{FF2B5EF4-FFF2-40B4-BE49-F238E27FC236}">
                <a16:creationId xmlns:a16="http://schemas.microsoft.com/office/drawing/2014/main" id="{A31A2EC2-51BE-4D9E-87A2-4CBA48732A40}"/>
              </a:ext>
            </a:extLst>
          </p:cNvPr>
          <p:cNvSpPr/>
          <p:nvPr/>
        </p:nvSpPr>
        <p:spPr>
          <a:xfrm>
            <a:off x="400818" y="593772"/>
            <a:ext cx="6056364" cy="469103"/>
          </a:xfrm>
          <a:prstGeom prst="roundRect">
            <a:avLst>
              <a:gd name="adj" fmla="val 13837"/>
            </a:avLst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ts val="1650"/>
              </a:lnSpc>
              <a:buClr>
                <a:schemeClr val="accent1"/>
              </a:buClr>
            </a:pPr>
            <a:r>
              <a:rPr lang="de-DE" sz="1200" b="1" dirty="0">
                <a:solidFill>
                  <a:schemeClr val="tx1"/>
                </a:solidFill>
              </a:rPr>
              <a:t>Experiments and </a:t>
            </a:r>
            <a:r>
              <a:rPr lang="de-DE" sz="1200" b="1" dirty="0" err="1">
                <a:solidFill>
                  <a:schemeClr val="tx1"/>
                </a:solidFill>
              </a:rPr>
              <a:t>Predictions</a:t>
            </a:r>
            <a:endParaRPr lang="de-DE" sz="1200" b="1" dirty="0">
              <a:solidFill>
                <a:schemeClr val="tx1"/>
              </a:solidFill>
            </a:endParaRPr>
          </a:p>
        </p:txBody>
      </p:sp>
      <p:sp>
        <p:nvSpPr>
          <p:cNvPr id="12" name="Rechteck: abgerundete Ecken 11">
            <a:extLst>
              <a:ext uri="{FF2B5EF4-FFF2-40B4-BE49-F238E27FC236}">
                <a16:creationId xmlns:a16="http://schemas.microsoft.com/office/drawing/2014/main" id="{355D0FB8-6A60-4747-85F3-E73A2842ED05}"/>
              </a:ext>
            </a:extLst>
          </p:cNvPr>
          <p:cNvSpPr/>
          <p:nvPr/>
        </p:nvSpPr>
        <p:spPr>
          <a:xfrm>
            <a:off x="461540" y="1548222"/>
            <a:ext cx="1738735" cy="654657"/>
          </a:xfrm>
          <a:prstGeom prst="roundRect">
            <a:avLst>
              <a:gd name="adj" fmla="val 13837"/>
            </a:avLst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buClr>
                <a:schemeClr val="accent1"/>
              </a:buClr>
            </a:pPr>
            <a:r>
              <a:rPr lang="en-US" sz="1000" b="1" dirty="0"/>
              <a:t>Speaker gender</a:t>
            </a:r>
            <a:endParaRPr lang="de-DE" sz="1000" b="1" dirty="0"/>
          </a:p>
        </p:txBody>
      </p:sp>
      <p:sp>
        <p:nvSpPr>
          <p:cNvPr id="13" name="Rechteck: abgerundete Ecken 12">
            <a:extLst>
              <a:ext uri="{FF2B5EF4-FFF2-40B4-BE49-F238E27FC236}">
                <a16:creationId xmlns:a16="http://schemas.microsoft.com/office/drawing/2014/main" id="{F6C7DD90-91A1-4011-9A7A-51E6903EE53B}"/>
              </a:ext>
            </a:extLst>
          </p:cNvPr>
          <p:cNvSpPr/>
          <p:nvPr/>
        </p:nvSpPr>
        <p:spPr>
          <a:xfrm>
            <a:off x="2620354" y="1536317"/>
            <a:ext cx="1738735" cy="654658"/>
          </a:xfrm>
          <a:prstGeom prst="roundRect">
            <a:avLst>
              <a:gd name="adj" fmla="val 13837"/>
            </a:avLst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buClr>
                <a:schemeClr val="accent1"/>
              </a:buClr>
            </a:pPr>
            <a:r>
              <a:rPr lang="en-US" sz="1000" b="1" dirty="0"/>
              <a:t>Speaker identity</a:t>
            </a:r>
          </a:p>
        </p:txBody>
      </p:sp>
      <p:sp>
        <p:nvSpPr>
          <p:cNvPr id="14" name="Rechteck: abgerundete Ecken 13">
            <a:extLst>
              <a:ext uri="{FF2B5EF4-FFF2-40B4-BE49-F238E27FC236}">
                <a16:creationId xmlns:a16="http://schemas.microsoft.com/office/drawing/2014/main" id="{A557CBFF-5293-4247-AD94-81F51117B17C}"/>
              </a:ext>
            </a:extLst>
          </p:cNvPr>
          <p:cNvSpPr/>
          <p:nvPr/>
        </p:nvSpPr>
        <p:spPr>
          <a:xfrm>
            <a:off x="4718447" y="1548221"/>
            <a:ext cx="1738735" cy="642753"/>
          </a:xfrm>
          <a:prstGeom prst="roundRect">
            <a:avLst>
              <a:gd name="adj" fmla="val 13837"/>
            </a:avLst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buClr>
                <a:schemeClr val="accent1"/>
              </a:buClr>
            </a:pPr>
            <a:r>
              <a:rPr lang="en-US" sz="1000" b="1" dirty="0"/>
              <a:t>Phonetic content</a:t>
            </a:r>
          </a:p>
        </p:txBody>
      </p:sp>
      <p:sp>
        <p:nvSpPr>
          <p:cNvPr id="6" name="Rechteck: abgerundete Ecken 5">
            <a:extLst>
              <a:ext uri="{FF2B5EF4-FFF2-40B4-BE49-F238E27FC236}">
                <a16:creationId xmlns:a16="http://schemas.microsoft.com/office/drawing/2014/main" id="{9D7097F5-B189-80F7-ED68-D01176539E6D}"/>
              </a:ext>
            </a:extLst>
          </p:cNvPr>
          <p:cNvSpPr/>
          <p:nvPr/>
        </p:nvSpPr>
        <p:spPr>
          <a:xfrm>
            <a:off x="472259" y="3616179"/>
            <a:ext cx="3899256" cy="384321"/>
          </a:xfrm>
          <a:prstGeom prst="roundRect">
            <a:avLst>
              <a:gd name="adj" fmla="val 13837"/>
            </a:avLst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buClr>
                <a:schemeClr val="accent1"/>
              </a:buClr>
            </a:pPr>
            <a:r>
              <a:rPr lang="en-US" sz="1050" i="1" dirty="0"/>
              <a:t>Extralinguistic cues</a:t>
            </a:r>
            <a:endParaRPr lang="de-DE" sz="1050" b="1" i="1" dirty="0"/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3E6AA42C-EDAC-7243-2750-6ED4437FBD44}"/>
              </a:ext>
            </a:extLst>
          </p:cNvPr>
          <p:cNvSpPr/>
          <p:nvPr/>
        </p:nvSpPr>
        <p:spPr>
          <a:xfrm>
            <a:off x="315076" y="1366776"/>
            <a:ext cx="396934" cy="353716"/>
          </a:xfrm>
          <a:prstGeom prst="ellipse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dirty="0"/>
              <a:t>1</a:t>
            </a:r>
          </a:p>
        </p:txBody>
      </p:sp>
      <p:sp>
        <p:nvSpPr>
          <p:cNvPr id="18" name="Ellipse 17">
            <a:extLst>
              <a:ext uri="{FF2B5EF4-FFF2-40B4-BE49-F238E27FC236}">
                <a16:creationId xmlns:a16="http://schemas.microsoft.com/office/drawing/2014/main" id="{0A100C42-C8CB-128B-6EB2-E608FE4F3BD6}"/>
              </a:ext>
            </a:extLst>
          </p:cNvPr>
          <p:cNvSpPr/>
          <p:nvPr/>
        </p:nvSpPr>
        <p:spPr>
          <a:xfrm>
            <a:off x="2421887" y="1403784"/>
            <a:ext cx="396934" cy="353716"/>
          </a:xfrm>
          <a:prstGeom prst="ellipse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dirty="0"/>
              <a:t>2</a:t>
            </a:r>
          </a:p>
        </p:txBody>
      </p:sp>
      <p:sp>
        <p:nvSpPr>
          <p:cNvPr id="19" name="Ellipse 18">
            <a:extLst>
              <a:ext uri="{FF2B5EF4-FFF2-40B4-BE49-F238E27FC236}">
                <a16:creationId xmlns:a16="http://schemas.microsoft.com/office/drawing/2014/main" id="{E663DEBB-6C47-40EC-E6A1-90EBE5629E98}"/>
              </a:ext>
            </a:extLst>
          </p:cNvPr>
          <p:cNvSpPr/>
          <p:nvPr/>
        </p:nvSpPr>
        <p:spPr>
          <a:xfrm>
            <a:off x="4519980" y="1366776"/>
            <a:ext cx="396934" cy="353716"/>
          </a:xfrm>
          <a:prstGeom prst="ellipse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dirty="0"/>
              <a:t>3</a:t>
            </a:r>
          </a:p>
        </p:txBody>
      </p:sp>
      <p:sp>
        <p:nvSpPr>
          <p:cNvPr id="15" name="Rechteck: abgerundete Ecken 14">
            <a:extLst>
              <a:ext uri="{FF2B5EF4-FFF2-40B4-BE49-F238E27FC236}">
                <a16:creationId xmlns:a16="http://schemas.microsoft.com/office/drawing/2014/main" id="{4DCCBABE-EBA4-301D-0536-FEC3D420EF7D}"/>
              </a:ext>
            </a:extLst>
          </p:cNvPr>
          <p:cNvSpPr/>
          <p:nvPr/>
        </p:nvSpPr>
        <p:spPr>
          <a:xfrm>
            <a:off x="4718447" y="3625891"/>
            <a:ext cx="1738735" cy="384321"/>
          </a:xfrm>
          <a:prstGeom prst="roundRect">
            <a:avLst>
              <a:gd name="adj" fmla="val 13837"/>
            </a:avLst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buClr>
                <a:schemeClr val="accent1"/>
              </a:buClr>
            </a:pPr>
            <a:r>
              <a:rPr lang="en-US" sz="1050" i="1" dirty="0"/>
              <a:t>Linguistic cues</a:t>
            </a:r>
            <a:endParaRPr lang="de-DE" sz="1050" b="1" i="1" dirty="0"/>
          </a:p>
        </p:txBody>
      </p:sp>
    </p:spTree>
    <p:extLst>
      <p:ext uri="{BB962C8B-B14F-4D97-AF65-F5344CB8AC3E}">
        <p14:creationId xmlns:p14="http://schemas.microsoft.com/office/powerpoint/2010/main" val="201404629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 descr="Ein Bild, das dunkel, Vorhang, groß, Uhr enthält.&#10;&#10;Automatisch generierte Beschreibung">
            <a:extLst>
              <a:ext uri="{FF2B5EF4-FFF2-40B4-BE49-F238E27FC236}">
                <a16:creationId xmlns:a16="http://schemas.microsoft.com/office/drawing/2014/main" id="{E35DBA12-3FC0-4D4B-B842-1224C3B5CD3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6858000" cy="4500000"/>
          </a:xfrm>
          <a:prstGeom prst="rect">
            <a:avLst/>
          </a:prstGeom>
        </p:spPr>
      </p:pic>
      <p:sp>
        <p:nvSpPr>
          <p:cNvPr id="6" name="Rechteck 5">
            <a:extLst>
              <a:ext uri="{FF2B5EF4-FFF2-40B4-BE49-F238E27FC236}">
                <a16:creationId xmlns:a16="http://schemas.microsoft.com/office/drawing/2014/main" id="{6D3D9EC9-4FA3-43F8-8E13-AA007EB8A74F}"/>
              </a:ext>
            </a:extLst>
          </p:cNvPr>
          <p:cNvSpPr/>
          <p:nvPr/>
        </p:nvSpPr>
        <p:spPr>
          <a:xfrm>
            <a:off x="343697" y="3242457"/>
            <a:ext cx="5413047" cy="595313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350" dirty="0"/>
          </a:p>
        </p:txBody>
      </p:sp>
      <p:cxnSp>
        <p:nvCxnSpPr>
          <p:cNvPr id="8" name="Gerade Verbindung 11">
            <a:extLst>
              <a:ext uri="{FF2B5EF4-FFF2-40B4-BE49-F238E27FC236}">
                <a16:creationId xmlns:a16="http://schemas.microsoft.com/office/drawing/2014/main" id="{7E2A05C0-8925-4517-918F-A77612754D04}"/>
              </a:ext>
            </a:extLst>
          </p:cNvPr>
          <p:cNvCxnSpPr/>
          <p:nvPr/>
        </p:nvCxnSpPr>
        <p:spPr>
          <a:xfrm>
            <a:off x="536683" y="3419900"/>
            <a:ext cx="2700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feld 10">
            <a:extLst>
              <a:ext uri="{FF2B5EF4-FFF2-40B4-BE49-F238E27FC236}">
                <a16:creationId xmlns:a16="http://schemas.microsoft.com/office/drawing/2014/main" id="{C9F15947-D0F7-4D11-A2DA-21A11CD07B42}"/>
              </a:ext>
            </a:extLst>
          </p:cNvPr>
          <p:cNvSpPr txBox="1"/>
          <p:nvPr/>
        </p:nvSpPr>
        <p:spPr>
          <a:xfrm>
            <a:off x="536683" y="3483202"/>
            <a:ext cx="4989474" cy="26545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n-US" sz="1200" dirty="0"/>
              <a:t>Experiment 1: speaker gender</a:t>
            </a:r>
            <a:endParaRPr lang="de-DE" sz="1200" b="1" dirty="0"/>
          </a:p>
        </p:txBody>
      </p:sp>
    </p:spTree>
    <p:extLst>
      <p:ext uri="{BB962C8B-B14F-4D97-AF65-F5344CB8AC3E}">
        <p14:creationId xmlns:p14="http://schemas.microsoft.com/office/powerpoint/2010/main" val="47957195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Gerade Verbindung 9">
            <a:extLst>
              <a:ext uri="{FF2B5EF4-FFF2-40B4-BE49-F238E27FC236}">
                <a16:creationId xmlns:a16="http://schemas.microsoft.com/office/drawing/2014/main" id="{86D11335-F57A-4960-9D91-22D011F9DFB3}"/>
              </a:ext>
            </a:extLst>
          </p:cNvPr>
          <p:cNvCxnSpPr/>
          <p:nvPr/>
        </p:nvCxnSpPr>
        <p:spPr>
          <a:xfrm>
            <a:off x="340096" y="359248"/>
            <a:ext cx="346895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feld 4">
            <a:extLst>
              <a:ext uri="{FF2B5EF4-FFF2-40B4-BE49-F238E27FC236}">
                <a16:creationId xmlns:a16="http://schemas.microsoft.com/office/drawing/2014/main" id="{2BBF6CAB-08B8-4314-A619-0377B3868FF0}"/>
              </a:ext>
            </a:extLst>
          </p:cNvPr>
          <p:cNvSpPr txBox="1"/>
          <p:nvPr/>
        </p:nvSpPr>
        <p:spPr>
          <a:xfrm>
            <a:off x="338268" y="440204"/>
            <a:ext cx="6162545" cy="30274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de-DE" sz="1600" dirty="0">
                <a:solidFill>
                  <a:srgbClr val="002350"/>
                </a:solidFill>
              </a:rPr>
              <a:t>Experiment 1: Design</a:t>
            </a:r>
            <a:endParaRPr lang="de-DE" sz="1500" dirty="0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61D5E485-21B8-0C62-48E9-C6B56B4F6A0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334415" y="307554"/>
            <a:ext cx="3166398" cy="727356"/>
          </a:xfrm>
          <a:prstGeom prst="rect">
            <a:avLst/>
          </a:prstGeom>
        </p:spPr>
      </p:pic>
      <p:pic>
        <p:nvPicPr>
          <p:cNvPr id="10" name="Grafik 9">
            <a:extLst>
              <a:ext uri="{FF2B5EF4-FFF2-40B4-BE49-F238E27FC236}">
                <a16:creationId xmlns:a16="http://schemas.microsoft.com/office/drawing/2014/main" id="{80C902F8-F9D0-C041-F92F-8D58BD312C5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20568" y="1334901"/>
            <a:ext cx="4036960" cy="940548"/>
          </a:xfrm>
          <a:prstGeom prst="rect">
            <a:avLst/>
          </a:prstGeom>
        </p:spPr>
      </p:pic>
      <p:pic>
        <p:nvPicPr>
          <p:cNvPr id="12" name="Grafik 11">
            <a:extLst>
              <a:ext uri="{FF2B5EF4-FFF2-40B4-BE49-F238E27FC236}">
                <a16:creationId xmlns:a16="http://schemas.microsoft.com/office/drawing/2014/main" id="{576CC9A9-5870-9010-C134-EFB361AC97B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412916" y="1350964"/>
            <a:ext cx="2159120" cy="1848970"/>
          </a:xfrm>
          <a:prstGeom prst="rect">
            <a:avLst/>
          </a:prstGeom>
        </p:spPr>
      </p:pic>
      <p:pic>
        <p:nvPicPr>
          <p:cNvPr id="16" name="Grafik 15">
            <a:extLst>
              <a:ext uri="{FF2B5EF4-FFF2-40B4-BE49-F238E27FC236}">
                <a16:creationId xmlns:a16="http://schemas.microsoft.com/office/drawing/2014/main" id="{458BA3B0-EF60-8DEB-D780-64B6D31CCB5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20568" y="2496261"/>
            <a:ext cx="2154520" cy="1812436"/>
          </a:xfrm>
          <a:prstGeom prst="rect">
            <a:avLst/>
          </a:prstGeom>
        </p:spPr>
      </p:pic>
      <p:pic>
        <p:nvPicPr>
          <p:cNvPr id="18" name="Grafik 17">
            <a:extLst>
              <a:ext uri="{FF2B5EF4-FFF2-40B4-BE49-F238E27FC236}">
                <a16:creationId xmlns:a16="http://schemas.microsoft.com/office/drawing/2014/main" id="{AE47E0E0-D16A-5109-0CB7-8FF89F3F2F6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552860" y="3141790"/>
            <a:ext cx="4019176" cy="1140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578669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5B1ED1-3668-896C-8659-AC6631A32B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Gerade Verbindung 9">
            <a:extLst>
              <a:ext uri="{FF2B5EF4-FFF2-40B4-BE49-F238E27FC236}">
                <a16:creationId xmlns:a16="http://schemas.microsoft.com/office/drawing/2014/main" id="{54949A95-6AAA-5264-7C1A-79F022EAB832}"/>
              </a:ext>
            </a:extLst>
          </p:cNvPr>
          <p:cNvCxnSpPr/>
          <p:nvPr/>
        </p:nvCxnSpPr>
        <p:spPr>
          <a:xfrm>
            <a:off x="340096" y="359248"/>
            <a:ext cx="346895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feld 11">
            <a:extLst>
              <a:ext uri="{FF2B5EF4-FFF2-40B4-BE49-F238E27FC236}">
                <a16:creationId xmlns:a16="http://schemas.microsoft.com/office/drawing/2014/main" id="{0F9DCBC8-EB8D-2570-8381-0892518B083E}"/>
              </a:ext>
            </a:extLst>
          </p:cNvPr>
          <p:cNvSpPr txBox="1"/>
          <p:nvPr/>
        </p:nvSpPr>
        <p:spPr>
          <a:xfrm>
            <a:off x="338269" y="440204"/>
            <a:ext cx="5748206" cy="27245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de-DE" dirty="0">
                <a:solidFill>
                  <a:srgbClr val="002350"/>
                </a:solidFill>
              </a:rPr>
              <a:t>Experiment 1: Design</a:t>
            </a:r>
            <a:endParaRPr lang="de-DE" dirty="0"/>
          </a:p>
        </p:txBody>
      </p:sp>
      <p:pic>
        <p:nvPicPr>
          <p:cNvPr id="5" name="Grafik 4" descr="Mann mit einfarbiger Füllung">
            <a:extLst>
              <a:ext uri="{FF2B5EF4-FFF2-40B4-BE49-F238E27FC236}">
                <a16:creationId xmlns:a16="http://schemas.microsoft.com/office/drawing/2014/main" id="{33E590BE-4BA5-866F-A81F-C03645BB710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1797" y="842153"/>
            <a:ext cx="495915" cy="495915"/>
          </a:xfrm>
          <a:prstGeom prst="rect">
            <a:avLst/>
          </a:prstGeom>
        </p:spPr>
      </p:pic>
      <p:pic>
        <p:nvPicPr>
          <p:cNvPr id="7" name="Grafik 6" descr="Frau mit einfarbiger Füllung">
            <a:extLst>
              <a:ext uri="{FF2B5EF4-FFF2-40B4-BE49-F238E27FC236}">
                <a16:creationId xmlns:a16="http://schemas.microsoft.com/office/drawing/2014/main" id="{BFA20C03-7919-9802-0C7D-2276B1BB7BF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104027" y="867040"/>
            <a:ext cx="495915" cy="495915"/>
          </a:xfrm>
          <a:prstGeom prst="rect">
            <a:avLst/>
          </a:prstGeom>
        </p:spPr>
      </p:pic>
      <p:pic>
        <p:nvPicPr>
          <p:cNvPr id="21" name="Grafik 20" descr="Mann mit einfarbiger Füllung">
            <a:extLst>
              <a:ext uri="{FF2B5EF4-FFF2-40B4-BE49-F238E27FC236}">
                <a16:creationId xmlns:a16="http://schemas.microsoft.com/office/drawing/2014/main" id="{9C83DA4F-6FE9-5EFC-559A-E1F050B1930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813747" y="849527"/>
            <a:ext cx="495915" cy="495915"/>
          </a:xfrm>
          <a:prstGeom prst="rect">
            <a:avLst/>
          </a:prstGeom>
        </p:spPr>
      </p:pic>
      <p:pic>
        <p:nvPicPr>
          <p:cNvPr id="23" name="Grafik 22" descr="Frau mit einfarbiger Füllung">
            <a:extLst>
              <a:ext uri="{FF2B5EF4-FFF2-40B4-BE49-F238E27FC236}">
                <a16:creationId xmlns:a16="http://schemas.microsoft.com/office/drawing/2014/main" id="{58B05ADF-7E12-2775-2149-DCFE0A1BE19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42077" y="837544"/>
            <a:ext cx="495915" cy="495915"/>
          </a:xfrm>
          <a:prstGeom prst="rect">
            <a:avLst/>
          </a:prstGeom>
        </p:spPr>
      </p:pic>
      <p:pic>
        <p:nvPicPr>
          <p:cNvPr id="25" name="Grafik 24">
            <a:extLst>
              <a:ext uri="{FF2B5EF4-FFF2-40B4-BE49-F238E27FC236}">
                <a16:creationId xmlns:a16="http://schemas.microsoft.com/office/drawing/2014/main" id="{4B78B739-EE4D-F0C7-E3B2-FC2F6CE2B81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t="51595" r="19646"/>
          <a:stretch>
            <a:fillRect/>
          </a:stretch>
        </p:blipFill>
        <p:spPr>
          <a:xfrm>
            <a:off x="967531" y="1424192"/>
            <a:ext cx="4415951" cy="513499"/>
          </a:xfrm>
          <a:prstGeom prst="rect">
            <a:avLst/>
          </a:prstGeom>
        </p:spPr>
      </p:pic>
      <p:pic>
        <p:nvPicPr>
          <p:cNvPr id="27" name="Grafik 26" descr="Mann mit einfarbiger Füllung">
            <a:extLst>
              <a:ext uri="{FF2B5EF4-FFF2-40B4-BE49-F238E27FC236}">
                <a16:creationId xmlns:a16="http://schemas.microsoft.com/office/drawing/2014/main" id="{A4310794-F0F9-92C4-5CC2-D44BC01E847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789683" y="923668"/>
            <a:ext cx="495915" cy="495915"/>
          </a:xfrm>
          <a:prstGeom prst="rect">
            <a:avLst/>
          </a:prstGeom>
        </p:spPr>
      </p:pic>
      <p:pic>
        <p:nvPicPr>
          <p:cNvPr id="29" name="Grafik 28" descr="Frau mit einfarbiger Füllung">
            <a:extLst>
              <a:ext uri="{FF2B5EF4-FFF2-40B4-BE49-F238E27FC236}">
                <a16:creationId xmlns:a16="http://schemas.microsoft.com/office/drawing/2014/main" id="{DB84EA88-629D-DA42-E02A-0F23F7FD01D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079963" y="919059"/>
            <a:ext cx="495915" cy="495915"/>
          </a:xfrm>
          <a:prstGeom prst="rect">
            <a:avLst/>
          </a:prstGeom>
        </p:spPr>
      </p:pic>
      <p:sp>
        <p:nvSpPr>
          <p:cNvPr id="31" name="Rechteck 30">
            <a:extLst>
              <a:ext uri="{FF2B5EF4-FFF2-40B4-BE49-F238E27FC236}">
                <a16:creationId xmlns:a16="http://schemas.microsoft.com/office/drawing/2014/main" id="{0A64685D-1606-8C27-FC03-614B22D48E8D}"/>
              </a:ext>
            </a:extLst>
          </p:cNvPr>
          <p:cNvSpPr/>
          <p:nvPr/>
        </p:nvSpPr>
        <p:spPr>
          <a:xfrm>
            <a:off x="2855681" y="3309312"/>
            <a:ext cx="1420755" cy="1088219"/>
          </a:xfrm>
          <a:prstGeom prst="rect">
            <a:avLst/>
          </a:prstGeom>
          <a:solidFill>
            <a:schemeClr val="accent6">
              <a:lumMod val="95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just"/>
            <a:r>
              <a:rPr lang="de-DE" sz="1400" dirty="0">
                <a:solidFill>
                  <a:schemeClr val="bg1">
                    <a:lumMod val="50000"/>
                  </a:schemeClr>
                </a:solidFill>
              </a:rPr>
              <a:t>Response Phase</a:t>
            </a:r>
            <a:endParaRPr lang="en-US" sz="14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3" name="Rechteck 32">
            <a:extLst>
              <a:ext uri="{FF2B5EF4-FFF2-40B4-BE49-F238E27FC236}">
                <a16:creationId xmlns:a16="http://schemas.microsoft.com/office/drawing/2014/main" id="{5405B7D9-1103-2953-A5E2-8ADFF10A71A2}"/>
              </a:ext>
            </a:extLst>
          </p:cNvPr>
          <p:cNvSpPr/>
          <p:nvPr/>
        </p:nvSpPr>
        <p:spPr>
          <a:xfrm>
            <a:off x="2841529" y="2115818"/>
            <a:ext cx="1420755" cy="1089992"/>
          </a:xfrm>
          <a:prstGeom prst="rect">
            <a:avLst/>
          </a:prstGeom>
          <a:solidFill>
            <a:schemeClr val="accent6">
              <a:lumMod val="95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just"/>
            <a:r>
              <a:rPr lang="de-DE" sz="1400" dirty="0">
                <a:solidFill>
                  <a:schemeClr val="bg1">
                    <a:lumMod val="50000"/>
                  </a:schemeClr>
                </a:solidFill>
              </a:rPr>
              <a:t>Response Phase</a:t>
            </a:r>
            <a:endParaRPr lang="en-US" sz="14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5" name="Rechteck 34">
            <a:extLst>
              <a:ext uri="{FF2B5EF4-FFF2-40B4-BE49-F238E27FC236}">
                <a16:creationId xmlns:a16="http://schemas.microsoft.com/office/drawing/2014/main" id="{5287AAA9-32CC-9E7F-03B7-90F1A7B7430C}"/>
              </a:ext>
            </a:extLst>
          </p:cNvPr>
          <p:cNvSpPr/>
          <p:nvPr/>
        </p:nvSpPr>
        <p:spPr>
          <a:xfrm>
            <a:off x="403420" y="3309313"/>
            <a:ext cx="2094271" cy="1088220"/>
          </a:xfrm>
          <a:prstGeom prst="rect">
            <a:avLst/>
          </a:prstGeom>
          <a:solidFill>
            <a:schemeClr val="accent6">
              <a:lumMod val="95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just"/>
            <a:r>
              <a:rPr lang="de-DE" sz="1400" dirty="0">
                <a:solidFill>
                  <a:schemeClr val="bg1">
                    <a:lumMod val="50000"/>
                  </a:schemeClr>
                </a:solidFill>
              </a:rPr>
              <a:t>Adaptation Phase 2</a:t>
            </a:r>
            <a:endParaRPr lang="en-US" sz="14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7" name="Rechteck 36">
            <a:extLst>
              <a:ext uri="{FF2B5EF4-FFF2-40B4-BE49-F238E27FC236}">
                <a16:creationId xmlns:a16="http://schemas.microsoft.com/office/drawing/2014/main" id="{985EB018-82DF-3B0E-9AAA-CC2AF9FBE4B8}"/>
              </a:ext>
            </a:extLst>
          </p:cNvPr>
          <p:cNvSpPr/>
          <p:nvPr/>
        </p:nvSpPr>
        <p:spPr>
          <a:xfrm>
            <a:off x="403420" y="2117590"/>
            <a:ext cx="2094271" cy="1088220"/>
          </a:xfrm>
          <a:prstGeom prst="rect">
            <a:avLst/>
          </a:prstGeom>
          <a:solidFill>
            <a:schemeClr val="accent6">
              <a:lumMod val="95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just"/>
            <a:r>
              <a:rPr lang="de-DE" sz="1400" dirty="0">
                <a:solidFill>
                  <a:schemeClr val="bg1">
                    <a:lumMod val="50000"/>
                  </a:schemeClr>
                </a:solidFill>
              </a:rPr>
              <a:t>Adaptation Phase 1</a:t>
            </a:r>
            <a:endParaRPr lang="en-US" sz="14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61" name="Pfeil: nach rechts 60">
            <a:extLst>
              <a:ext uri="{FF2B5EF4-FFF2-40B4-BE49-F238E27FC236}">
                <a16:creationId xmlns:a16="http://schemas.microsoft.com/office/drawing/2014/main" id="{9B0A8021-D671-24FA-58D0-10F3CA98D0B3}"/>
              </a:ext>
            </a:extLst>
          </p:cNvPr>
          <p:cNvSpPr/>
          <p:nvPr/>
        </p:nvSpPr>
        <p:spPr>
          <a:xfrm>
            <a:off x="4377977" y="2923029"/>
            <a:ext cx="235974" cy="125270"/>
          </a:xfrm>
          <a:prstGeom prst="rightArrow">
            <a:avLst/>
          </a:prstGeom>
          <a:solidFill>
            <a:schemeClr val="bg1">
              <a:lumMod val="5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Pfeil: nach rechts 62">
            <a:extLst>
              <a:ext uri="{FF2B5EF4-FFF2-40B4-BE49-F238E27FC236}">
                <a16:creationId xmlns:a16="http://schemas.microsoft.com/office/drawing/2014/main" id="{7CC68526-3578-A8C6-4B99-1383140D0D4F}"/>
              </a:ext>
            </a:extLst>
          </p:cNvPr>
          <p:cNvSpPr/>
          <p:nvPr/>
        </p:nvSpPr>
        <p:spPr>
          <a:xfrm>
            <a:off x="4354480" y="3688206"/>
            <a:ext cx="235974" cy="125270"/>
          </a:xfrm>
          <a:prstGeom prst="rightArrow">
            <a:avLst/>
          </a:prstGeom>
          <a:solidFill>
            <a:schemeClr val="bg1">
              <a:lumMod val="5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5" name="Grafik 64" descr="Mann mit einfarbiger Füllung">
            <a:extLst>
              <a:ext uri="{FF2B5EF4-FFF2-40B4-BE49-F238E27FC236}">
                <a16:creationId xmlns:a16="http://schemas.microsoft.com/office/drawing/2014/main" id="{C45B02BE-A828-2AEB-3105-DE9CABE7D34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3839" y="2362804"/>
            <a:ext cx="360000" cy="360000"/>
          </a:xfrm>
          <a:prstGeom prst="rect">
            <a:avLst/>
          </a:prstGeom>
        </p:spPr>
      </p:pic>
      <p:pic>
        <p:nvPicPr>
          <p:cNvPr id="67" name="Grafik 66" descr="Mann mit einfarbiger Füllung">
            <a:extLst>
              <a:ext uri="{FF2B5EF4-FFF2-40B4-BE49-F238E27FC236}">
                <a16:creationId xmlns:a16="http://schemas.microsoft.com/office/drawing/2014/main" id="{7D502FD2-06E7-745A-7C3E-C9DF08C5090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25665" y="2403049"/>
            <a:ext cx="360000" cy="360000"/>
          </a:xfrm>
          <a:prstGeom prst="rect">
            <a:avLst/>
          </a:prstGeom>
        </p:spPr>
      </p:pic>
      <p:pic>
        <p:nvPicPr>
          <p:cNvPr id="69" name="Grafik 68" descr="Mann mit einfarbiger Füllung">
            <a:extLst>
              <a:ext uri="{FF2B5EF4-FFF2-40B4-BE49-F238E27FC236}">
                <a16:creationId xmlns:a16="http://schemas.microsoft.com/office/drawing/2014/main" id="{18850D72-F951-E13F-78CD-A4382C7E379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668482" y="2368335"/>
            <a:ext cx="360000" cy="360000"/>
          </a:xfrm>
          <a:prstGeom prst="rect">
            <a:avLst/>
          </a:prstGeom>
        </p:spPr>
      </p:pic>
      <p:pic>
        <p:nvPicPr>
          <p:cNvPr id="71" name="Grafik 70" descr="Frau mit einfarbiger Füllung">
            <a:extLst>
              <a:ext uri="{FF2B5EF4-FFF2-40B4-BE49-F238E27FC236}">
                <a16:creationId xmlns:a16="http://schemas.microsoft.com/office/drawing/2014/main" id="{2CE2D5C9-D9C2-1864-89A7-B513A6AA640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51797" y="2710219"/>
            <a:ext cx="360000" cy="360000"/>
          </a:xfrm>
          <a:prstGeom prst="rect">
            <a:avLst/>
          </a:prstGeom>
        </p:spPr>
      </p:pic>
      <p:pic>
        <p:nvPicPr>
          <p:cNvPr id="73" name="Grafik 72" descr="Frau mit einfarbiger Füllung">
            <a:extLst>
              <a:ext uri="{FF2B5EF4-FFF2-40B4-BE49-F238E27FC236}">
                <a16:creationId xmlns:a16="http://schemas.microsoft.com/office/drawing/2014/main" id="{DA5C0B28-020A-C760-F121-EF8D47CA72F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029996" y="2624997"/>
            <a:ext cx="360000" cy="360000"/>
          </a:xfrm>
          <a:prstGeom prst="rect">
            <a:avLst/>
          </a:prstGeom>
        </p:spPr>
      </p:pic>
      <p:pic>
        <p:nvPicPr>
          <p:cNvPr id="75" name="Grafik 74" descr="Frau mit einfarbiger Füllung">
            <a:extLst>
              <a:ext uri="{FF2B5EF4-FFF2-40B4-BE49-F238E27FC236}">
                <a16:creationId xmlns:a16="http://schemas.microsoft.com/office/drawing/2014/main" id="{83935ECD-6558-97E4-5031-1147651A771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426494" y="2671590"/>
            <a:ext cx="360000" cy="360000"/>
          </a:xfrm>
          <a:prstGeom prst="rect">
            <a:avLst/>
          </a:prstGeom>
        </p:spPr>
      </p:pic>
      <p:pic>
        <p:nvPicPr>
          <p:cNvPr id="77" name="Grafik 76" descr="Frau mit einfarbiger Füllung">
            <a:extLst>
              <a:ext uri="{FF2B5EF4-FFF2-40B4-BE49-F238E27FC236}">
                <a16:creationId xmlns:a16="http://schemas.microsoft.com/office/drawing/2014/main" id="{5FBBFEEE-34C5-F8C9-65F8-55A69DA0BDA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03420" y="3813476"/>
            <a:ext cx="360000" cy="360000"/>
          </a:xfrm>
          <a:prstGeom prst="rect">
            <a:avLst/>
          </a:prstGeom>
        </p:spPr>
      </p:pic>
      <p:pic>
        <p:nvPicPr>
          <p:cNvPr id="79" name="Grafik 78" descr="Frau mit einfarbiger Füllung">
            <a:extLst>
              <a:ext uri="{FF2B5EF4-FFF2-40B4-BE49-F238E27FC236}">
                <a16:creationId xmlns:a16="http://schemas.microsoft.com/office/drawing/2014/main" id="{0CB58F0B-AED0-CE3F-A5AD-F2F84F50676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976274" y="3468669"/>
            <a:ext cx="360000" cy="360000"/>
          </a:xfrm>
          <a:prstGeom prst="rect">
            <a:avLst/>
          </a:prstGeom>
        </p:spPr>
      </p:pic>
      <p:pic>
        <p:nvPicPr>
          <p:cNvPr id="81" name="Grafik 80" descr="Frau mit einfarbiger Füllung">
            <a:extLst>
              <a:ext uri="{FF2B5EF4-FFF2-40B4-BE49-F238E27FC236}">
                <a16:creationId xmlns:a16="http://schemas.microsoft.com/office/drawing/2014/main" id="{205F967F-7293-FCA1-D31E-379059A208F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65964" y="3902008"/>
            <a:ext cx="360000" cy="360000"/>
          </a:xfrm>
          <a:prstGeom prst="rect">
            <a:avLst/>
          </a:prstGeom>
        </p:spPr>
      </p:pic>
      <p:pic>
        <p:nvPicPr>
          <p:cNvPr id="83" name="Grafik 82" descr="Mann mit einfarbiger Füllung">
            <a:extLst>
              <a:ext uri="{FF2B5EF4-FFF2-40B4-BE49-F238E27FC236}">
                <a16:creationId xmlns:a16="http://schemas.microsoft.com/office/drawing/2014/main" id="{16A56CC0-202E-3164-9945-A47BABAA3E0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61410" y="3662914"/>
            <a:ext cx="360000" cy="360000"/>
          </a:xfrm>
          <a:prstGeom prst="rect">
            <a:avLst/>
          </a:prstGeom>
        </p:spPr>
      </p:pic>
      <p:pic>
        <p:nvPicPr>
          <p:cNvPr id="85" name="Grafik 84" descr="Mann mit einfarbiger Füllung">
            <a:extLst>
              <a:ext uri="{FF2B5EF4-FFF2-40B4-BE49-F238E27FC236}">
                <a16:creationId xmlns:a16="http://schemas.microsoft.com/office/drawing/2014/main" id="{F3960435-B98D-D3ED-22DC-4E1442E2B0D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748991" y="3853420"/>
            <a:ext cx="374777" cy="374777"/>
          </a:xfrm>
          <a:prstGeom prst="rect">
            <a:avLst/>
          </a:prstGeom>
        </p:spPr>
      </p:pic>
      <p:pic>
        <p:nvPicPr>
          <p:cNvPr id="87" name="Grafik 86" descr="Mann mit einfarbiger Füllung">
            <a:extLst>
              <a:ext uri="{FF2B5EF4-FFF2-40B4-BE49-F238E27FC236}">
                <a16:creationId xmlns:a16="http://schemas.microsoft.com/office/drawing/2014/main" id="{6EEFFCCC-F47E-BCED-2146-33B9E63D10D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466579" y="3572172"/>
            <a:ext cx="360000" cy="360000"/>
          </a:xfrm>
          <a:prstGeom prst="rect">
            <a:avLst/>
          </a:prstGeom>
        </p:spPr>
      </p:pic>
      <p:pic>
        <p:nvPicPr>
          <p:cNvPr id="89" name="Grafik 88" descr="Mann mit einfarbiger Füllung">
            <a:extLst>
              <a:ext uri="{FF2B5EF4-FFF2-40B4-BE49-F238E27FC236}">
                <a16:creationId xmlns:a16="http://schemas.microsoft.com/office/drawing/2014/main" id="{FDEFBF43-C68A-DDD1-15B6-7F8E94973A1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395878" y="2391750"/>
            <a:ext cx="360000" cy="360000"/>
          </a:xfrm>
          <a:prstGeom prst="rect">
            <a:avLst/>
          </a:prstGeom>
        </p:spPr>
      </p:pic>
      <p:pic>
        <p:nvPicPr>
          <p:cNvPr id="91" name="Grafik 90" descr="Frau mit einfarbiger Füllung">
            <a:extLst>
              <a:ext uri="{FF2B5EF4-FFF2-40B4-BE49-F238E27FC236}">
                <a16:creationId xmlns:a16="http://schemas.microsoft.com/office/drawing/2014/main" id="{0371E464-0E00-1E5E-818C-048044C8389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391065" y="2800513"/>
            <a:ext cx="360000" cy="360000"/>
          </a:xfrm>
          <a:prstGeom prst="rect">
            <a:avLst/>
          </a:prstGeom>
        </p:spPr>
      </p:pic>
      <p:pic>
        <p:nvPicPr>
          <p:cNvPr id="93" name="Grafik 92" descr="Mann mit einfarbiger Füllung">
            <a:extLst>
              <a:ext uri="{FF2B5EF4-FFF2-40B4-BE49-F238E27FC236}">
                <a16:creationId xmlns:a16="http://schemas.microsoft.com/office/drawing/2014/main" id="{E6E39752-2CC3-61CE-98F9-C92EC9DAB62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086511" y="2391750"/>
            <a:ext cx="360000" cy="360000"/>
          </a:xfrm>
          <a:prstGeom prst="rect">
            <a:avLst/>
          </a:prstGeom>
        </p:spPr>
      </p:pic>
      <p:pic>
        <p:nvPicPr>
          <p:cNvPr id="95" name="Grafik 94" descr="Mann mit einfarbiger Füllung">
            <a:extLst>
              <a:ext uri="{FF2B5EF4-FFF2-40B4-BE49-F238E27FC236}">
                <a16:creationId xmlns:a16="http://schemas.microsoft.com/office/drawing/2014/main" id="{8F88D102-7CE2-0248-8448-BC573AFB7ED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732383" y="2397439"/>
            <a:ext cx="360000" cy="360000"/>
          </a:xfrm>
          <a:prstGeom prst="rect">
            <a:avLst/>
          </a:prstGeom>
        </p:spPr>
      </p:pic>
      <p:pic>
        <p:nvPicPr>
          <p:cNvPr id="97" name="Grafik 96" descr="Frau mit einfarbiger Füllung">
            <a:extLst>
              <a:ext uri="{FF2B5EF4-FFF2-40B4-BE49-F238E27FC236}">
                <a16:creationId xmlns:a16="http://schemas.microsoft.com/office/drawing/2014/main" id="{4FF5ABFC-31E3-AB6F-C21C-0F9930F35BB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086511" y="2794824"/>
            <a:ext cx="360000" cy="360000"/>
          </a:xfrm>
          <a:prstGeom prst="rect">
            <a:avLst/>
          </a:prstGeom>
        </p:spPr>
      </p:pic>
      <p:pic>
        <p:nvPicPr>
          <p:cNvPr id="99" name="Grafik 98" descr="Frau mit einfarbiger Füllung">
            <a:extLst>
              <a:ext uri="{FF2B5EF4-FFF2-40B4-BE49-F238E27FC236}">
                <a16:creationId xmlns:a16="http://schemas.microsoft.com/office/drawing/2014/main" id="{CD18270F-42E6-F381-5929-C0D7E5E8C5E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732383" y="2806975"/>
            <a:ext cx="360000" cy="360000"/>
          </a:xfrm>
          <a:prstGeom prst="rect">
            <a:avLst/>
          </a:prstGeom>
        </p:spPr>
      </p:pic>
      <p:sp>
        <p:nvSpPr>
          <p:cNvPr id="101" name="Pfeil: nach rechts 100">
            <a:extLst>
              <a:ext uri="{FF2B5EF4-FFF2-40B4-BE49-F238E27FC236}">
                <a16:creationId xmlns:a16="http://schemas.microsoft.com/office/drawing/2014/main" id="{A382DCF2-3420-C194-1198-C09EB0D37FCA}"/>
              </a:ext>
            </a:extLst>
          </p:cNvPr>
          <p:cNvSpPr/>
          <p:nvPr/>
        </p:nvSpPr>
        <p:spPr>
          <a:xfrm>
            <a:off x="4347404" y="2479864"/>
            <a:ext cx="235974" cy="125270"/>
          </a:xfrm>
          <a:prstGeom prst="rightArrow">
            <a:avLst/>
          </a:prstGeom>
          <a:solidFill>
            <a:schemeClr val="bg1">
              <a:lumMod val="5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3" name="Grafik 102" descr="Mann mit einfarbiger Füllung">
            <a:extLst>
              <a:ext uri="{FF2B5EF4-FFF2-40B4-BE49-F238E27FC236}">
                <a16:creationId xmlns:a16="http://schemas.microsoft.com/office/drawing/2014/main" id="{33F3FB75-B0D4-AA9C-21F1-8801467685C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386960" y="3570841"/>
            <a:ext cx="360000" cy="360000"/>
          </a:xfrm>
          <a:prstGeom prst="rect">
            <a:avLst/>
          </a:prstGeom>
        </p:spPr>
      </p:pic>
      <p:pic>
        <p:nvPicPr>
          <p:cNvPr id="105" name="Grafik 104" descr="Frau mit einfarbiger Füllung">
            <a:extLst>
              <a:ext uri="{FF2B5EF4-FFF2-40B4-BE49-F238E27FC236}">
                <a16:creationId xmlns:a16="http://schemas.microsoft.com/office/drawing/2014/main" id="{4AB9D87A-14FF-273C-CE80-7F36476A78E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382147" y="3979604"/>
            <a:ext cx="360000" cy="360000"/>
          </a:xfrm>
          <a:prstGeom prst="rect">
            <a:avLst/>
          </a:prstGeom>
        </p:spPr>
      </p:pic>
      <p:pic>
        <p:nvPicPr>
          <p:cNvPr id="107" name="Grafik 106" descr="Mann mit einfarbiger Füllung">
            <a:extLst>
              <a:ext uri="{FF2B5EF4-FFF2-40B4-BE49-F238E27FC236}">
                <a16:creationId xmlns:a16="http://schemas.microsoft.com/office/drawing/2014/main" id="{398E0DB2-D399-A8FF-B7CE-4F79EC43A31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077593" y="3570841"/>
            <a:ext cx="360000" cy="360000"/>
          </a:xfrm>
          <a:prstGeom prst="rect">
            <a:avLst/>
          </a:prstGeom>
        </p:spPr>
      </p:pic>
      <p:pic>
        <p:nvPicPr>
          <p:cNvPr id="109" name="Grafik 108" descr="Mann mit einfarbiger Füllung">
            <a:extLst>
              <a:ext uri="{FF2B5EF4-FFF2-40B4-BE49-F238E27FC236}">
                <a16:creationId xmlns:a16="http://schemas.microsoft.com/office/drawing/2014/main" id="{C644A6FF-0BEC-28CC-2AF2-A7D291EFB60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723465" y="3576530"/>
            <a:ext cx="360000" cy="360000"/>
          </a:xfrm>
          <a:prstGeom prst="rect">
            <a:avLst/>
          </a:prstGeom>
        </p:spPr>
      </p:pic>
      <p:pic>
        <p:nvPicPr>
          <p:cNvPr id="111" name="Grafik 110" descr="Frau mit einfarbiger Füllung">
            <a:extLst>
              <a:ext uri="{FF2B5EF4-FFF2-40B4-BE49-F238E27FC236}">
                <a16:creationId xmlns:a16="http://schemas.microsoft.com/office/drawing/2014/main" id="{9B5F68CF-BFB8-9EDA-B483-80375BF3545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077593" y="3973915"/>
            <a:ext cx="360000" cy="360000"/>
          </a:xfrm>
          <a:prstGeom prst="rect">
            <a:avLst/>
          </a:prstGeom>
        </p:spPr>
      </p:pic>
      <p:pic>
        <p:nvPicPr>
          <p:cNvPr id="113" name="Grafik 112" descr="Frau mit einfarbiger Füllung">
            <a:extLst>
              <a:ext uri="{FF2B5EF4-FFF2-40B4-BE49-F238E27FC236}">
                <a16:creationId xmlns:a16="http://schemas.microsoft.com/office/drawing/2014/main" id="{1A826562-C672-5F86-3FCE-DD28EDE2924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723465" y="3986066"/>
            <a:ext cx="360000" cy="360000"/>
          </a:xfrm>
          <a:prstGeom prst="rect">
            <a:avLst/>
          </a:prstGeom>
        </p:spPr>
      </p:pic>
      <p:sp>
        <p:nvSpPr>
          <p:cNvPr id="115" name="Pfeil: nach rechts 114">
            <a:extLst>
              <a:ext uri="{FF2B5EF4-FFF2-40B4-BE49-F238E27FC236}">
                <a16:creationId xmlns:a16="http://schemas.microsoft.com/office/drawing/2014/main" id="{60CA4278-E8BE-DCFE-629C-4EDE54369D9A}"/>
              </a:ext>
            </a:extLst>
          </p:cNvPr>
          <p:cNvSpPr/>
          <p:nvPr/>
        </p:nvSpPr>
        <p:spPr>
          <a:xfrm>
            <a:off x="4354480" y="4082008"/>
            <a:ext cx="235974" cy="125270"/>
          </a:xfrm>
          <a:prstGeom prst="rightArrow">
            <a:avLst/>
          </a:prstGeom>
          <a:solidFill>
            <a:schemeClr val="bg1">
              <a:lumMod val="5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Grafik 3" descr="Fragezeichen mit einfarbiger Füllung">
            <a:extLst>
              <a:ext uri="{FF2B5EF4-FFF2-40B4-BE49-F238E27FC236}">
                <a16:creationId xmlns:a16="http://schemas.microsoft.com/office/drawing/2014/main" id="{0ECDE46A-0275-091F-06F3-6F0FB89E64B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622902" y="2344534"/>
            <a:ext cx="360000" cy="360000"/>
          </a:xfrm>
          <a:prstGeom prst="rect">
            <a:avLst/>
          </a:prstGeom>
        </p:spPr>
      </p:pic>
      <p:pic>
        <p:nvPicPr>
          <p:cNvPr id="8" name="Grafik 7" descr="Fragezeichen mit einfarbiger Füllung">
            <a:extLst>
              <a:ext uri="{FF2B5EF4-FFF2-40B4-BE49-F238E27FC236}">
                <a16:creationId xmlns:a16="http://schemas.microsoft.com/office/drawing/2014/main" id="{DF0FD8E9-96CA-FE52-B31B-A2E0F3B5EEB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622902" y="2800513"/>
            <a:ext cx="360000" cy="360000"/>
          </a:xfrm>
          <a:prstGeom prst="rect">
            <a:avLst/>
          </a:prstGeom>
        </p:spPr>
      </p:pic>
      <p:pic>
        <p:nvPicPr>
          <p:cNvPr id="10" name="Grafik 9" descr="Fragezeichen mit einfarbiger Füllung">
            <a:extLst>
              <a:ext uri="{FF2B5EF4-FFF2-40B4-BE49-F238E27FC236}">
                <a16:creationId xmlns:a16="http://schemas.microsoft.com/office/drawing/2014/main" id="{161C6A8F-438F-2183-2197-833437EBBB8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613951" y="3542008"/>
            <a:ext cx="360000" cy="360000"/>
          </a:xfrm>
          <a:prstGeom prst="rect">
            <a:avLst/>
          </a:prstGeom>
        </p:spPr>
      </p:pic>
      <p:pic>
        <p:nvPicPr>
          <p:cNvPr id="13" name="Grafik 12" descr="Fragezeichen mit einfarbiger Füllung">
            <a:extLst>
              <a:ext uri="{FF2B5EF4-FFF2-40B4-BE49-F238E27FC236}">
                <a16:creationId xmlns:a16="http://schemas.microsoft.com/office/drawing/2014/main" id="{9A8848CE-803B-C375-90A5-B91E01465F8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621428" y="3964643"/>
            <a:ext cx="360000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046095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92B2FE-2E2B-4180-3E52-4E31A0A607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Gerade Verbindung 9">
            <a:extLst>
              <a:ext uri="{FF2B5EF4-FFF2-40B4-BE49-F238E27FC236}">
                <a16:creationId xmlns:a16="http://schemas.microsoft.com/office/drawing/2014/main" id="{3720B024-9EBA-2AC5-E12B-23F94080AF88}"/>
              </a:ext>
            </a:extLst>
          </p:cNvPr>
          <p:cNvCxnSpPr/>
          <p:nvPr/>
        </p:nvCxnSpPr>
        <p:spPr>
          <a:xfrm>
            <a:off x="340096" y="359248"/>
            <a:ext cx="346895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feld 11">
            <a:extLst>
              <a:ext uri="{FF2B5EF4-FFF2-40B4-BE49-F238E27FC236}">
                <a16:creationId xmlns:a16="http://schemas.microsoft.com/office/drawing/2014/main" id="{756C6E10-95CF-ACC8-D696-337F853FC6BF}"/>
              </a:ext>
            </a:extLst>
          </p:cNvPr>
          <p:cNvSpPr txBox="1"/>
          <p:nvPr/>
        </p:nvSpPr>
        <p:spPr>
          <a:xfrm>
            <a:off x="338269" y="440204"/>
            <a:ext cx="5748206" cy="27245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de-DE" dirty="0">
                <a:solidFill>
                  <a:srgbClr val="002350"/>
                </a:solidFill>
              </a:rPr>
              <a:t>Experiment 1:</a:t>
            </a:r>
            <a:br>
              <a:rPr lang="de-DE" dirty="0">
                <a:solidFill>
                  <a:srgbClr val="002350"/>
                </a:solidFill>
              </a:rPr>
            </a:br>
            <a:r>
              <a:rPr lang="de-DE" dirty="0" err="1">
                <a:solidFill>
                  <a:srgbClr val="002350"/>
                </a:solidFill>
              </a:rPr>
              <a:t>Results</a:t>
            </a:r>
            <a:endParaRPr lang="de-DE" dirty="0"/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70CF61B7-EC4F-21E9-C33C-121CD841D2F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4869" y="119902"/>
            <a:ext cx="4318002" cy="4318002"/>
          </a:xfrm>
          <a:prstGeom prst="rect">
            <a:avLst/>
          </a:prstGeom>
        </p:spPr>
      </p:pic>
      <p:sp>
        <p:nvSpPr>
          <p:cNvPr id="15" name="Textfeld 14">
            <a:extLst>
              <a:ext uri="{FF2B5EF4-FFF2-40B4-BE49-F238E27FC236}">
                <a16:creationId xmlns:a16="http://schemas.microsoft.com/office/drawing/2014/main" id="{B2FA00B8-B3DA-9FDF-E6DD-083E73285BAE}"/>
              </a:ext>
            </a:extLst>
          </p:cNvPr>
          <p:cNvSpPr txBox="1"/>
          <p:nvPr/>
        </p:nvSpPr>
        <p:spPr>
          <a:xfrm>
            <a:off x="338269" y="2140599"/>
            <a:ext cx="1540323" cy="66521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US" sz="1600" i="1" dirty="0">
                <a:solidFill>
                  <a:schemeClr val="tx2"/>
                </a:solidFill>
              </a:rPr>
              <a:t>Simultaneous</a:t>
            </a:r>
          </a:p>
          <a:p>
            <a:pPr algn="ctr"/>
            <a:r>
              <a:rPr lang="en-US" sz="1600" i="1" dirty="0">
                <a:solidFill>
                  <a:schemeClr val="tx2"/>
                </a:solidFill>
              </a:rPr>
              <a:t>opposite</a:t>
            </a:r>
          </a:p>
          <a:p>
            <a:pPr algn="ctr"/>
            <a:r>
              <a:rPr lang="en-US" sz="1600" i="1" dirty="0">
                <a:solidFill>
                  <a:schemeClr val="tx2"/>
                </a:solidFill>
              </a:rPr>
              <a:t>Adaptation</a:t>
            </a:r>
          </a:p>
          <a:p>
            <a:pPr algn="ctr"/>
            <a:endParaRPr lang="en-US" sz="1600" i="1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9275942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A24AF9-5A25-D34E-DA6E-B8F3D57EA9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Gerade Verbindung 9">
            <a:extLst>
              <a:ext uri="{FF2B5EF4-FFF2-40B4-BE49-F238E27FC236}">
                <a16:creationId xmlns:a16="http://schemas.microsoft.com/office/drawing/2014/main" id="{0D675711-3FC5-2F48-6A8A-E3084B1E33B7}"/>
              </a:ext>
            </a:extLst>
          </p:cNvPr>
          <p:cNvCxnSpPr/>
          <p:nvPr/>
        </p:nvCxnSpPr>
        <p:spPr>
          <a:xfrm>
            <a:off x="340096" y="359248"/>
            <a:ext cx="346895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hteck: abgerundete Ecken 7">
            <a:extLst>
              <a:ext uri="{FF2B5EF4-FFF2-40B4-BE49-F238E27FC236}">
                <a16:creationId xmlns:a16="http://schemas.microsoft.com/office/drawing/2014/main" id="{4EA7C1C0-DFEC-FCE2-B640-F726C7E89B88}"/>
              </a:ext>
            </a:extLst>
          </p:cNvPr>
          <p:cNvSpPr/>
          <p:nvPr/>
        </p:nvSpPr>
        <p:spPr>
          <a:xfrm>
            <a:off x="458122" y="2295529"/>
            <a:ext cx="1738735" cy="1047354"/>
          </a:xfrm>
          <a:prstGeom prst="roundRect">
            <a:avLst>
              <a:gd name="adj" fmla="val 13837"/>
            </a:avLst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buClr>
                <a:schemeClr val="accent1"/>
              </a:buClr>
            </a:pPr>
            <a:r>
              <a:rPr lang="en-US" sz="1000" dirty="0"/>
              <a:t>I expected to find simultaneous opposite aftereffects for </a:t>
            </a:r>
            <a:r>
              <a:rPr lang="en-US" sz="1000" b="1" dirty="0"/>
              <a:t>male and female speakers </a:t>
            </a:r>
            <a:endParaRPr lang="de-DE" sz="1000" b="1" dirty="0"/>
          </a:p>
        </p:txBody>
      </p:sp>
      <p:sp>
        <p:nvSpPr>
          <p:cNvPr id="9" name="Rechteck: abgerundete Ecken 8">
            <a:extLst>
              <a:ext uri="{FF2B5EF4-FFF2-40B4-BE49-F238E27FC236}">
                <a16:creationId xmlns:a16="http://schemas.microsoft.com/office/drawing/2014/main" id="{E67B3930-8736-BC0A-615E-D8DF101BDDE5}"/>
              </a:ext>
            </a:extLst>
          </p:cNvPr>
          <p:cNvSpPr/>
          <p:nvPr/>
        </p:nvSpPr>
        <p:spPr>
          <a:xfrm>
            <a:off x="2618644" y="2311278"/>
            <a:ext cx="1738735" cy="1047354"/>
          </a:xfrm>
          <a:prstGeom prst="roundRect">
            <a:avLst>
              <a:gd name="adj" fmla="val 13837"/>
            </a:avLst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buClr>
                <a:schemeClr val="accent1"/>
              </a:buClr>
            </a:pPr>
            <a:r>
              <a:rPr lang="en-US" sz="1000" dirty="0"/>
              <a:t>I expected to find simultaneous opposite aftereffects</a:t>
            </a:r>
          </a:p>
          <a:p>
            <a:pPr algn="ctr">
              <a:buClr>
                <a:schemeClr val="accent1"/>
              </a:buClr>
            </a:pPr>
            <a:r>
              <a:rPr lang="en-US" sz="1000" dirty="0"/>
              <a:t>for </a:t>
            </a:r>
            <a:r>
              <a:rPr lang="en-US" sz="1000" b="1" dirty="0"/>
              <a:t>different speaker identities</a:t>
            </a:r>
          </a:p>
        </p:txBody>
      </p:sp>
      <p:sp>
        <p:nvSpPr>
          <p:cNvPr id="10" name="Rechteck: abgerundete Ecken 9">
            <a:extLst>
              <a:ext uri="{FF2B5EF4-FFF2-40B4-BE49-F238E27FC236}">
                <a16:creationId xmlns:a16="http://schemas.microsoft.com/office/drawing/2014/main" id="{2DC5FF5B-1383-ADD7-EC9B-46D98540B2DE}"/>
              </a:ext>
            </a:extLst>
          </p:cNvPr>
          <p:cNvSpPr/>
          <p:nvPr/>
        </p:nvSpPr>
        <p:spPr>
          <a:xfrm>
            <a:off x="4718447" y="2295529"/>
            <a:ext cx="1738735" cy="1047354"/>
          </a:xfrm>
          <a:prstGeom prst="roundRect">
            <a:avLst>
              <a:gd name="adj" fmla="val 13837"/>
            </a:avLst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buClr>
                <a:schemeClr val="accent1"/>
              </a:buClr>
            </a:pPr>
            <a:r>
              <a:rPr lang="en-US" sz="1000" dirty="0"/>
              <a:t>I expected to find </a:t>
            </a:r>
            <a:r>
              <a:rPr lang="en-US" sz="1000" b="1" dirty="0"/>
              <a:t>NO</a:t>
            </a:r>
            <a:r>
              <a:rPr lang="en-US" sz="1000" dirty="0"/>
              <a:t> simultaneous opposite aftereffects for </a:t>
            </a:r>
            <a:r>
              <a:rPr lang="en-US" sz="1000" b="1" dirty="0"/>
              <a:t>different pseudowords</a:t>
            </a:r>
          </a:p>
        </p:txBody>
      </p:sp>
      <p:sp>
        <p:nvSpPr>
          <p:cNvPr id="11" name="Rechteck: abgerundete Ecken 10">
            <a:extLst>
              <a:ext uri="{FF2B5EF4-FFF2-40B4-BE49-F238E27FC236}">
                <a16:creationId xmlns:a16="http://schemas.microsoft.com/office/drawing/2014/main" id="{B3E8CD05-D05D-8CA3-E7E5-8160EC7DD8E5}"/>
              </a:ext>
            </a:extLst>
          </p:cNvPr>
          <p:cNvSpPr/>
          <p:nvPr/>
        </p:nvSpPr>
        <p:spPr>
          <a:xfrm>
            <a:off x="400818" y="593772"/>
            <a:ext cx="6056364" cy="469103"/>
          </a:xfrm>
          <a:prstGeom prst="roundRect">
            <a:avLst>
              <a:gd name="adj" fmla="val 13837"/>
            </a:avLst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ts val="1650"/>
              </a:lnSpc>
              <a:buClr>
                <a:schemeClr val="accent1"/>
              </a:buClr>
            </a:pPr>
            <a:r>
              <a:rPr lang="de-DE" sz="1200" b="1" dirty="0">
                <a:solidFill>
                  <a:schemeClr val="tx1"/>
                </a:solidFill>
              </a:rPr>
              <a:t>Experiments and </a:t>
            </a:r>
            <a:r>
              <a:rPr lang="de-DE" sz="1200" b="1" dirty="0" err="1">
                <a:solidFill>
                  <a:schemeClr val="tx1"/>
                </a:solidFill>
              </a:rPr>
              <a:t>Predictions</a:t>
            </a:r>
            <a:endParaRPr lang="de-DE" sz="1200" b="1" dirty="0">
              <a:solidFill>
                <a:schemeClr val="tx1"/>
              </a:solidFill>
            </a:endParaRPr>
          </a:p>
        </p:txBody>
      </p:sp>
      <p:sp>
        <p:nvSpPr>
          <p:cNvPr id="12" name="Rechteck: abgerundete Ecken 11">
            <a:extLst>
              <a:ext uri="{FF2B5EF4-FFF2-40B4-BE49-F238E27FC236}">
                <a16:creationId xmlns:a16="http://schemas.microsoft.com/office/drawing/2014/main" id="{797218D6-D13C-6B13-05AD-0629E62CD7EF}"/>
              </a:ext>
            </a:extLst>
          </p:cNvPr>
          <p:cNvSpPr/>
          <p:nvPr/>
        </p:nvSpPr>
        <p:spPr>
          <a:xfrm>
            <a:off x="461540" y="1548222"/>
            <a:ext cx="1738735" cy="654657"/>
          </a:xfrm>
          <a:prstGeom prst="roundRect">
            <a:avLst>
              <a:gd name="adj" fmla="val 13837"/>
            </a:avLst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buClr>
                <a:schemeClr val="accent1"/>
              </a:buClr>
            </a:pPr>
            <a:r>
              <a:rPr lang="en-US" sz="1000" b="1" dirty="0"/>
              <a:t>Speaker gender</a:t>
            </a:r>
            <a:endParaRPr lang="de-DE" sz="1000" b="1" dirty="0"/>
          </a:p>
        </p:txBody>
      </p:sp>
      <p:sp>
        <p:nvSpPr>
          <p:cNvPr id="13" name="Rechteck: abgerundete Ecken 12">
            <a:extLst>
              <a:ext uri="{FF2B5EF4-FFF2-40B4-BE49-F238E27FC236}">
                <a16:creationId xmlns:a16="http://schemas.microsoft.com/office/drawing/2014/main" id="{0C2202E2-EB82-C5F5-311B-CC0419EC56E3}"/>
              </a:ext>
            </a:extLst>
          </p:cNvPr>
          <p:cNvSpPr/>
          <p:nvPr/>
        </p:nvSpPr>
        <p:spPr>
          <a:xfrm>
            <a:off x="2620354" y="1536317"/>
            <a:ext cx="1738735" cy="654658"/>
          </a:xfrm>
          <a:prstGeom prst="roundRect">
            <a:avLst>
              <a:gd name="adj" fmla="val 13837"/>
            </a:avLst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buClr>
                <a:schemeClr val="accent1"/>
              </a:buClr>
            </a:pPr>
            <a:r>
              <a:rPr lang="en-US" sz="1000" b="1" dirty="0"/>
              <a:t>Speaker identity</a:t>
            </a:r>
          </a:p>
        </p:txBody>
      </p:sp>
      <p:sp>
        <p:nvSpPr>
          <p:cNvPr id="14" name="Rechteck: abgerundete Ecken 13">
            <a:extLst>
              <a:ext uri="{FF2B5EF4-FFF2-40B4-BE49-F238E27FC236}">
                <a16:creationId xmlns:a16="http://schemas.microsoft.com/office/drawing/2014/main" id="{02037DA8-A601-D125-A161-6167AECF90D5}"/>
              </a:ext>
            </a:extLst>
          </p:cNvPr>
          <p:cNvSpPr/>
          <p:nvPr/>
        </p:nvSpPr>
        <p:spPr>
          <a:xfrm>
            <a:off x="4718447" y="1548221"/>
            <a:ext cx="1738735" cy="642753"/>
          </a:xfrm>
          <a:prstGeom prst="roundRect">
            <a:avLst>
              <a:gd name="adj" fmla="val 13837"/>
            </a:avLst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buClr>
                <a:schemeClr val="accent1"/>
              </a:buClr>
            </a:pPr>
            <a:r>
              <a:rPr lang="en-US" sz="1000" b="1" dirty="0"/>
              <a:t>Phonetic content</a:t>
            </a:r>
          </a:p>
        </p:txBody>
      </p:sp>
      <p:sp>
        <p:nvSpPr>
          <p:cNvPr id="6" name="Rechteck: abgerundete Ecken 5">
            <a:extLst>
              <a:ext uri="{FF2B5EF4-FFF2-40B4-BE49-F238E27FC236}">
                <a16:creationId xmlns:a16="http://schemas.microsoft.com/office/drawing/2014/main" id="{9A9DE637-E84D-0E56-FCF4-ED2115045D80}"/>
              </a:ext>
            </a:extLst>
          </p:cNvPr>
          <p:cNvSpPr/>
          <p:nvPr/>
        </p:nvSpPr>
        <p:spPr>
          <a:xfrm>
            <a:off x="472259" y="3616179"/>
            <a:ext cx="3899256" cy="384321"/>
          </a:xfrm>
          <a:prstGeom prst="roundRect">
            <a:avLst>
              <a:gd name="adj" fmla="val 13837"/>
            </a:avLst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buClr>
                <a:schemeClr val="accent1"/>
              </a:buClr>
            </a:pPr>
            <a:r>
              <a:rPr lang="en-US" sz="1050" i="1" dirty="0"/>
              <a:t>Extralinguistic cues</a:t>
            </a:r>
            <a:endParaRPr lang="de-DE" sz="1050" b="1" i="1" dirty="0"/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DABA9294-05A2-16DB-6C7B-499A76FB6E4E}"/>
              </a:ext>
            </a:extLst>
          </p:cNvPr>
          <p:cNvSpPr/>
          <p:nvPr/>
        </p:nvSpPr>
        <p:spPr>
          <a:xfrm>
            <a:off x="315076" y="1366776"/>
            <a:ext cx="396934" cy="353716"/>
          </a:xfrm>
          <a:prstGeom prst="ellipse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dirty="0"/>
              <a:t>1</a:t>
            </a:r>
          </a:p>
        </p:txBody>
      </p:sp>
      <p:sp>
        <p:nvSpPr>
          <p:cNvPr id="18" name="Ellipse 17">
            <a:extLst>
              <a:ext uri="{FF2B5EF4-FFF2-40B4-BE49-F238E27FC236}">
                <a16:creationId xmlns:a16="http://schemas.microsoft.com/office/drawing/2014/main" id="{ADCB93B8-46F0-FA67-2E65-4DEB95190598}"/>
              </a:ext>
            </a:extLst>
          </p:cNvPr>
          <p:cNvSpPr/>
          <p:nvPr/>
        </p:nvSpPr>
        <p:spPr>
          <a:xfrm>
            <a:off x="2421887" y="1403784"/>
            <a:ext cx="396934" cy="353716"/>
          </a:xfrm>
          <a:prstGeom prst="ellipse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dirty="0"/>
              <a:t>2</a:t>
            </a:r>
          </a:p>
        </p:txBody>
      </p:sp>
      <p:sp>
        <p:nvSpPr>
          <p:cNvPr id="19" name="Ellipse 18">
            <a:extLst>
              <a:ext uri="{FF2B5EF4-FFF2-40B4-BE49-F238E27FC236}">
                <a16:creationId xmlns:a16="http://schemas.microsoft.com/office/drawing/2014/main" id="{D40004B7-FA89-1A8B-9A60-28EFE0435D2E}"/>
              </a:ext>
            </a:extLst>
          </p:cNvPr>
          <p:cNvSpPr/>
          <p:nvPr/>
        </p:nvSpPr>
        <p:spPr>
          <a:xfrm>
            <a:off x="4519980" y="1366776"/>
            <a:ext cx="396934" cy="353716"/>
          </a:xfrm>
          <a:prstGeom prst="ellipse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dirty="0"/>
              <a:t>3</a:t>
            </a:r>
          </a:p>
        </p:txBody>
      </p:sp>
      <p:sp>
        <p:nvSpPr>
          <p:cNvPr id="15" name="Rechteck: abgerundete Ecken 14">
            <a:extLst>
              <a:ext uri="{FF2B5EF4-FFF2-40B4-BE49-F238E27FC236}">
                <a16:creationId xmlns:a16="http://schemas.microsoft.com/office/drawing/2014/main" id="{A73A4D91-F3F6-F2EC-32D9-461702798F1B}"/>
              </a:ext>
            </a:extLst>
          </p:cNvPr>
          <p:cNvSpPr/>
          <p:nvPr/>
        </p:nvSpPr>
        <p:spPr>
          <a:xfrm>
            <a:off x="4718447" y="3625891"/>
            <a:ext cx="1738735" cy="384321"/>
          </a:xfrm>
          <a:prstGeom prst="roundRect">
            <a:avLst>
              <a:gd name="adj" fmla="val 13837"/>
            </a:avLst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buClr>
                <a:schemeClr val="accent1"/>
              </a:buClr>
            </a:pPr>
            <a:r>
              <a:rPr lang="en-US" sz="1050" i="1" dirty="0"/>
              <a:t>Linguistic cues</a:t>
            </a:r>
            <a:endParaRPr lang="de-DE" sz="1050" b="1" i="1" dirty="0"/>
          </a:p>
        </p:txBody>
      </p:sp>
      <p:pic>
        <p:nvPicPr>
          <p:cNvPr id="4" name="Grafik 3" descr="Häkchen mit einfarbiger Füllung">
            <a:extLst>
              <a:ext uri="{FF2B5EF4-FFF2-40B4-BE49-F238E27FC236}">
                <a16:creationId xmlns:a16="http://schemas.microsoft.com/office/drawing/2014/main" id="{710A2379-BBA9-68BE-F21D-D08ADB81EEC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844172" y="2954188"/>
            <a:ext cx="533220" cy="533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060645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8647B1-C741-6511-46EC-2272BC3E5F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 descr="Ein Bild, das dunkel, Vorhang, groß, Uhr enthält.&#10;&#10;Automatisch generierte Beschreibung">
            <a:extLst>
              <a:ext uri="{FF2B5EF4-FFF2-40B4-BE49-F238E27FC236}">
                <a16:creationId xmlns:a16="http://schemas.microsoft.com/office/drawing/2014/main" id="{017EDE7B-D571-7DF7-01B4-EBD91D146E3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6858000" cy="4500000"/>
          </a:xfrm>
          <a:prstGeom prst="rect">
            <a:avLst/>
          </a:prstGeom>
        </p:spPr>
      </p:pic>
      <p:sp>
        <p:nvSpPr>
          <p:cNvPr id="6" name="Rechteck 5">
            <a:extLst>
              <a:ext uri="{FF2B5EF4-FFF2-40B4-BE49-F238E27FC236}">
                <a16:creationId xmlns:a16="http://schemas.microsoft.com/office/drawing/2014/main" id="{A431E9B4-9C46-751E-061D-069D3A0EEFCA}"/>
              </a:ext>
            </a:extLst>
          </p:cNvPr>
          <p:cNvSpPr/>
          <p:nvPr/>
        </p:nvSpPr>
        <p:spPr>
          <a:xfrm>
            <a:off x="343697" y="3242457"/>
            <a:ext cx="5413047" cy="595313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350" dirty="0"/>
          </a:p>
        </p:txBody>
      </p:sp>
      <p:cxnSp>
        <p:nvCxnSpPr>
          <p:cNvPr id="8" name="Gerade Verbindung 11">
            <a:extLst>
              <a:ext uri="{FF2B5EF4-FFF2-40B4-BE49-F238E27FC236}">
                <a16:creationId xmlns:a16="http://schemas.microsoft.com/office/drawing/2014/main" id="{C2A7B9B4-CB1D-F491-AE47-5750AACEABCB}"/>
              </a:ext>
            </a:extLst>
          </p:cNvPr>
          <p:cNvCxnSpPr/>
          <p:nvPr/>
        </p:nvCxnSpPr>
        <p:spPr>
          <a:xfrm>
            <a:off x="536683" y="3419900"/>
            <a:ext cx="2700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feld 10">
            <a:extLst>
              <a:ext uri="{FF2B5EF4-FFF2-40B4-BE49-F238E27FC236}">
                <a16:creationId xmlns:a16="http://schemas.microsoft.com/office/drawing/2014/main" id="{BFEDB312-369A-BFF8-E8AE-F050CDD6C032}"/>
              </a:ext>
            </a:extLst>
          </p:cNvPr>
          <p:cNvSpPr txBox="1"/>
          <p:nvPr/>
        </p:nvSpPr>
        <p:spPr>
          <a:xfrm>
            <a:off x="536683" y="3483202"/>
            <a:ext cx="4989474" cy="26545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n-US" sz="1200" dirty="0"/>
              <a:t>Experiment 2: speaker identity</a:t>
            </a:r>
            <a:endParaRPr lang="de-DE" sz="1200" b="1" dirty="0"/>
          </a:p>
        </p:txBody>
      </p:sp>
    </p:spTree>
    <p:extLst>
      <p:ext uri="{BB962C8B-B14F-4D97-AF65-F5344CB8AC3E}">
        <p14:creationId xmlns:p14="http://schemas.microsoft.com/office/powerpoint/2010/main" val="311764323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255DFA-E4BE-C8FB-88B9-1FF92592A5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Gerade Verbindung 9">
            <a:extLst>
              <a:ext uri="{FF2B5EF4-FFF2-40B4-BE49-F238E27FC236}">
                <a16:creationId xmlns:a16="http://schemas.microsoft.com/office/drawing/2014/main" id="{7EE510EF-0400-65F0-D906-1B6C4CE9E7A8}"/>
              </a:ext>
            </a:extLst>
          </p:cNvPr>
          <p:cNvCxnSpPr/>
          <p:nvPr/>
        </p:nvCxnSpPr>
        <p:spPr>
          <a:xfrm>
            <a:off x="340096" y="359248"/>
            <a:ext cx="346895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feld 4">
            <a:extLst>
              <a:ext uri="{FF2B5EF4-FFF2-40B4-BE49-F238E27FC236}">
                <a16:creationId xmlns:a16="http://schemas.microsoft.com/office/drawing/2014/main" id="{75DEF071-FDD7-E8E9-2B86-2C54C2C202F9}"/>
              </a:ext>
            </a:extLst>
          </p:cNvPr>
          <p:cNvSpPr txBox="1"/>
          <p:nvPr/>
        </p:nvSpPr>
        <p:spPr>
          <a:xfrm>
            <a:off x="338268" y="440204"/>
            <a:ext cx="6162545" cy="30274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de-DE" sz="1600" dirty="0">
                <a:solidFill>
                  <a:srgbClr val="002350"/>
                </a:solidFill>
              </a:rPr>
              <a:t>Experiment 2: Design</a:t>
            </a:r>
            <a:endParaRPr lang="de-DE" sz="1500" dirty="0"/>
          </a:p>
        </p:txBody>
      </p:sp>
      <p:pic>
        <p:nvPicPr>
          <p:cNvPr id="16" name="Grafik 15">
            <a:extLst>
              <a:ext uri="{FF2B5EF4-FFF2-40B4-BE49-F238E27FC236}">
                <a16:creationId xmlns:a16="http://schemas.microsoft.com/office/drawing/2014/main" id="{E498F40B-8AC0-2D8F-972F-14AE66A56A8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14244" y="2886292"/>
            <a:ext cx="1767168" cy="1486586"/>
          </a:xfrm>
          <a:prstGeom prst="rect">
            <a:avLst/>
          </a:prstGeom>
        </p:spPr>
      </p:pic>
      <p:pic>
        <p:nvPicPr>
          <p:cNvPr id="18" name="Grafik 17">
            <a:extLst>
              <a:ext uri="{FF2B5EF4-FFF2-40B4-BE49-F238E27FC236}">
                <a16:creationId xmlns:a16="http://schemas.microsoft.com/office/drawing/2014/main" id="{FFAE2E09-D892-7D1D-8CE1-1BF04959FCC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681140" y="3178178"/>
            <a:ext cx="3762616" cy="1067304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E87A6224-24E6-8FE4-7D92-F1462D5530B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18166" y="898018"/>
            <a:ext cx="5033348" cy="1981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164205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5D5234-4020-7F68-E283-99F68EEAAC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Gerade Verbindung 9">
            <a:extLst>
              <a:ext uri="{FF2B5EF4-FFF2-40B4-BE49-F238E27FC236}">
                <a16:creationId xmlns:a16="http://schemas.microsoft.com/office/drawing/2014/main" id="{62DB9D0E-03FC-CBC9-6BD8-B0F16BE8E3F9}"/>
              </a:ext>
            </a:extLst>
          </p:cNvPr>
          <p:cNvCxnSpPr/>
          <p:nvPr/>
        </p:nvCxnSpPr>
        <p:spPr>
          <a:xfrm>
            <a:off x="340096" y="359248"/>
            <a:ext cx="346895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feld 11">
            <a:extLst>
              <a:ext uri="{FF2B5EF4-FFF2-40B4-BE49-F238E27FC236}">
                <a16:creationId xmlns:a16="http://schemas.microsoft.com/office/drawing/2014/main" id="{605BEFD1-D9A1-CCD7-574E-658E1EE474C5}"/>
              </a:ext>
            </a:extLst>
          </p:cNvPr>
          <p:cNvSpPr txBox="1"/>
          <p:nvPr/>
        </p:nvSpPr>
        <p:spPr>
          <a:xfrm>
            <a:off x="338269" y="440204"/>
            <a:ext cx="5748206" cy="27245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de-DE" dirty="0">
                <a:solidFill>
                  <a:srgbClr val="002350"/>
                </a:solidFill>
              </a:rPr>
              <a:t>Experiment 2:</a:t>
            </a:r>
            <a:br>
              <a:rPr lang="de-DE" dirty="0">
                <a:solidFill>
                  <a:srgbClr val="002350"/>
                </a:solidFill>
              </a:rPr>
            </a:br>
            <a:r>
              <a:rPr lang="de-DE" dirty="0">
                <a:solidFill>
                  <a:srgbClr val="002350"/>
                </a:solidFill>
              </a:rPr>
              <a:t>Female Identities</a:t>
            </a:r>
            <a:endParaRPr lang="de-DE" dirty="0"/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C2BD5D00-B3CF-65A4-D083-5C6792CAC309}"/>
              </a:ext>
            </a:extLst>
          </p:cNvPr>
          <p:cNvSpPr txBox="1"/>
          <p:nvPr/>
        </p:nvSpPr>
        <p:spPr>
          <a:xfrm>
            <a:off x="338269" y="2140599"/>
            <a:ext cx="1540323" cy="66521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US" sz="1600" i="1" dirty="0">
                <a:solidFill>
                  <a:schemeClr val="tx2"/>
                </a:solidFill>
              </a:rPr>
              <a:t>Partly evidence, </a:t>
            </a:r>
          </a:p>
          <a:p>
            <a:pPr algn="ctr"/>
            <a:r>
              <a:rPr lang="en-US" sz="1600" i="1" dirty="0">
                <a:solidFill>
                  <a:schemeClr val="tx2"/>
                </a:solidFill>
              </a:rPr>
              <a:t>but overall inconclusive</a:t>
            </a:r>
          </a:p>
          <a:p>
            <a:pPr algn="ctr"/>
            <a:endParaRPr lang="en-US" sz="1600" i="1" dirty="0">
              <a:solidFill>
                <a:schemeClr val="tx2"/>
              </a:solidFill>
            </a:endParaRP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A640B5A7-1CAF-BAE4-B137-42F59F6233E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5342" y="2473207"/>
            <a:ext cx="4652682" cy="1861072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6C090B8C-6DCD-0E94-4EEC-ACE88B8713F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5342" y="505721"/>
            <a:ext cx="4748194" cy="1899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732180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691B20-1074-03F9-1269-9826EB7A7C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Gerade Verbindung 9">
            <a:extLst>
              <a:ext uri="{FF2B5EF4-FFF2-40B4-BE49-F238E27FC236}">
                <a16:creationId xmlns:a16="http://schemas.microsoft.com/office/drawing/2014/main" id="{F81E22A7-9AA3-7554-F92C-95903F1EB9DA}"/>
              </a:ext>
            </a:extLst>
          </p:cNvPr>
          <p:cNvCxnSpPr/>
          <p:nvPr/>
        </p:nvCxnSpPr>
        <p:spPr>
          <a:xfrm>
            <a:off x="340096" y="359248"/>
            <a:ext cx="346895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feld 11">
            <a:extLst>
              <a:ext uri="{FF2B5EF4-FFF2-40B4-BE49-F238E27FC236}">
                <a16:creationId xmlns:a16="http://schemas.microsoft.com/office/drawing/2014/main" id="{E306A3AA-CAF3-FAC6-9E6D-FFCEAE8240B5}"/>
              </a:ext>
            </a:extLst>
          </p:cNvPr>
          <p:cNvSpPr txBox="1"/>
          <p:nvPr/>
        </p:nvSpPr>
        <p:spPr>
          <a:xfrm>
            <a:off x="338269" y="440204"/>
            <a:ext cx="5748206" cy="27245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de-DE" dirty="0">
                <a:solidFill>
                  <a:srgbClr val="002350"/>
                </a:solidFill>
              </a:rPr>
              <a:t>Experiment 2:</a:t>
            </a:r>
            <a:br>
              <a:rPr lang="de-DE" dirty="0">
                <a:solidFill>
                  <a:srgbClr val="002350"/>
                </a:solidFill>
              </a:rPr>
            </a:br>
            <a:r>
              <a:rPr lang="de-DE" dirty="0">
                <a:solidFill>
                  <a:srgbClr val="002350"/>
                </a:solidFill>
              </a:rPr>
              <a:t>Male Identities</a:t>
            </a:r>
            <a:endParaRPr lang="de-DE" dirty="0"/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1103DF11-6E0B-FCB5-FC20-9672CF0100FA}"/>
              </a:ext>
            </a:extLst>
          </p:cNvPr>
          <p:cNvSpPr txBox="1"/>
          <p:nvPr/>
        </p:nvSpPr>
        <p:spPr>
          <a:xfrm>
            <a:off x="338269" y="2140599"/>
            <a:ext cx="1540323" cy="66521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US" sz="1600" i="1" dirty="0">
                <a:solidFill>
                  <a:schemeClr val="tx2"/>
                </a:solidFill>
              </a:rPr>
              <a:t>NO evidence for</a:t>
            </a:r>
          </a:p>
          <a:p>
            <a:pPr algn="ctr"/>
            <a:r>
              <a:rPr lang="en-US" sz="1600" i="1" dirty="0">
                <a:solidFill>
                  <a:schemeClr val="tx2"/>
                </a:solidFill>
              </a:rPr>
              <a:t>Simultaneous</a:t>
            </a:r>
          </a:p>
          <a:p>
            <a:pPr algn="ctr"/>
            <a:r>
              <a:rPr lang="en-US" sz="1600" i="1" dirty="0">
                <a:solidFill>
                  <a:schemeClr val="tx2"/>
                </a:solidFill>
              </a:rPr>
              <a:t>opposite</a:t>
            </a:r>
          </a:p>
          <a:p>
            <a:pPr algn="ctr"/>
            <a:r>
              <a:rPr lang="en-US" sz="1600" i="1" dirty="0">
                <a:solidFill>
                  <a:schemeClr val="tx2"/>
                </a:solidFill>
              </a:rPr>
              <a:t>Adaptation</a:t>
            </a:r>
          </a:p>
          <a:p>
            <a:pPr algn="ctr"/>
            <a:endParaRPr lang="en-US" sz="1600" i="1" dirty="0">
              <a:solidFill>
                <a:schemeClr val="tx2"/>
              </a:solidFill>
            </a:endParaRPr>
          </a:p>
          <a:p>
            <a:pPr algn="ctr"/>
            <a:endParaRPr lang="en-US" sz="1600" i="1" dirty="0">
              <a:solidFill>
                <a:schemeClr val="tx2"/>
              </a:solidFill>
            </a:endParaRP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6422556B-789C-B8BF-4E5F-4EFEF7DD354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945343" y="2473207"/>
            <a:ext cx="4652680" cy="1861072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BC1A8948-120B-881B-6228-3513CCE6A8A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945342" y="505721"/>
            <a:ext cx="4748194" cy="18992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189176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87131E-4A73-FFA6-D965-843B08E0AD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Gerade Verbindung 9">
            <a:extLst>
              <a:ext uri="{FF2B5EF4-FFF2-40B4-BE49-F238E27FC236}">
                <a16:creationId xmlns:a16="http://schemas.microsoft.com/office/drawing/2014/main" id="{DE3FE61B-41A3-5D11-4B07-28B61D08562F}"/>
              </a:ext>
            </a:extLst>
          </p:cNvPr>
          <p:cNvCxnSpPr/>
          <p:nvPr/>
        </p:nvCxnSpPr>
        <p:spPr>
          <a:xfrm>
            <a:off x="340096" y="359248"/>
            <a:ext cx="346895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hteck: abgerundete Ecken 7">
            <a:extLst>
              <a:ext uri="{FF2B5EF4-FFF2-40B4-BE49-F238E27FC236}">
                <a16:creationId xmlns:a16="http://schemas.microsoft.com/office/drawing/2014/main" id="{F10F315B-81FC-A12D-FF10-A316A7D5AD1D}"/>
              </a:ext>
            </a:extLst>
          </p:cNvPr>
          <p:cNvSpPr/>
          <p:nvPr/>
        </p:nvSpPr>
        <p:spPr>
          <a:xfrm>
            <a:off x="458122" y="2295529"/>
            <a:ext cx="1738735" cy="1047354"/>
          </a:xfrm>
          <a:prstGeom prst="roundRect">
            <a:avLst>
              <a:gd name="adj" fmla="val 13837"/>
            </a:avLst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buClr>
                <a:schemeClr val="accent1"/>
              </a:buClr>
            </a:pPr>
            <a:r>
              <a:rPr lang="en-US" sz="1000" dirty="0"/>
              <a:t>I expected to find simultaneous opposite aftereffects for </a:t>
            </a:r>
            <a:r>
              <a:rPr lang="en-US" sz="1000" b="1" dirty="0"/>
              <a:t>male and female speakers </a:t>
            </a:r>
            <a:endParaRPr lang="de-DE" sz="1000" b="1" dirty="0"/>
          </a:p>
        </p:txBody>
      </p:sp>
      <p:sp>
        <p:nvSpPr>
          <p:cNvPr id="9" name="Rechteck: abgerundete Ecken 8">
            <a:extLst>
              <a:ext uri="{FF2B5EF4-FFF2-40B4-BE49-F238E27FC236}">
                <a16:creationId xmlns:a16="http://schemas.microsoft.com/office/drawing/2014/main" id="{0F2068AC-3AE9-67D1-8E85-C7DDCF8C33E2}"/>
              </a:ext>
            </a:extLst>
          </p:cNvPr>
          <p:cNvSpPr/>
          <p:nvPr/>
        </p:nvSpPr>
        <p:spPr>
          <a:xfrm>
            <a:off x="2618644" y="2311278"/>
            <a:ext cx="1738735" cy="1047354"/>
          </a:xfrm>
          <a:prstGeom prst="roundRect">
            <a:avLst>
              <a:gd name="adj" fmla="val 13837"/>
            </a:avLst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buClr>
                <a:schemeClr val="accent1"/>
              </a:buClr>
            </a:pPr>
            <a:r>
              <a:rPr lang="en-US" sz="1000" dirty="0"/>
              <a:t>I expected to find simultaneous opposite aftereffects</a:t>
            </a:r>
          </a:p>
          <a:p>
            <a:pPr algn="ctr">
              <a:buClr>
                <a:schemeClr val="accent1"/>
              </a:buClr>
            </a:pPr>
            <a:r>
              <a:rPr lang="en-US" sz="1000" dirty="0"/>
              <a:t>for </a:t>
            </a:r>
            <a:r>
              <a:rPr lang="en-US" sz="1000" b="1" dirty="0"/>
              <a:t>different speaker identities</a:t>
            </a:r>
          </a:p>
        </p:txBody>
      </p:sp>
      <p:sp>
        <p:nvSpPr>
          <p:cNvPr id="10" name="Rechteck: abgerundete Ecken 9">
            <a:extLst>
              <a:ext uri="{FF2B5EF4-FFF2-40B4-BE49-F238E27FC236}">
                <a16:creationId xmlns:a16="http://schemas.microsoft.com/office/drawing/2014/main" id="{9F7CCA1D-891A-C2F0-9C7A-45DBBCA6D47D}"/>
              </a:ext>
            </a:extLst>
          </p:cNvPr>
          <p:cNvSpPr/>
          <p:nvPr/>
        </p:nvSpPr>
        <p:spPr>
          <a:xfrm>
            <a:off x="4718447" y="2295529"/>
            <a:ext cx="1738735" cy="1047354"/>
          </a:xfrm>
          <a:prstGeom prst="roundRect">
            <a:avLst>
              <a:gd name="adj" fmla="val 13837"/>
            </a:avLst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buClr>
                <a:schemeClr val="accent1"/>
              </a:buClr>
            </a:pPr>
            <a:r>
              <a:rPr lang="en-US" sz="1000" dirty="0"/>
              <a:t>I expected to find </a:t>
            </a:r>
            <a:r>
              <a:rPr lang="en-US" sz="1000" b="1" dirty="0"/>
              <a:t>NO</a:t>
            </a:r>
            <a:r>
              <a:rPr lang="en-US" sz="1000" dirty="0"/>
              <a:t> simultaneous opposite aftereffects for </a:t>
            </a:r>
            <a:r>
              <a:rPr lang="en-US" sz="1000" b="1" dirty="0"/>
              <a:t>different pseudowords</a:t>
            </a:r>
          </a:p>
        </p:txBody>
      </p:sp>
      <p:sp>
        <p:nvSpPr>
          <p:cNvPr id="11" name="Rechteck: abgerundete Ecken 10">
            <a:extLst>
              <a:ext uri="{FF2B5EF4-FFF2-40B4-BE49-F238E27FC236}">
                <a16:creationId xmlns:a16="http://schemas.microsoft.com/office/drawing/2014/main" id="{31BB1D5E-CC80-EBE4-4748-474FB89A3DCE}"/>
              </a:ext>
            </a:extLst>
          </p:cNvPr>
          <p:cNvSpPr/>
          <p:nvPr/>
        </p:nvSpPr>
        <p:spPr>
          <a:xfrm>
            <a:off x="400818" y="593772"/>
            <a:ext cx="6056364" cy="469103"/>
          </a:xfrm>
          <a:prstGeom prst="roundRect">
            <a:avLst>
              <a:gd name="adj" fmla="val 13837"/>
            </a:avLst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ts val="1650"/>
              </a:lnSpc>
              <a:buClr>
                <a:schemeClr val="accent1"/>
              </a:buClr>
            </a:pPr>
            <a:r>
              <a:rPr lang="de-DE" sz="1200" b="1" dirty="0">
                <a:solidFill>
                  <a:schemeClr val="tx1"/>
                </a:solidFill>
              </a:rPr>
              <a:t>Experiments and </a:t>
            </a:r>
            <a:r>
              <a:rPr lang="de-DE" sz="1200" b="1" dirty="0" err="1">
                <a:solidFill>
                  <a:schemeClr val="tx1"/>
                </a:solidFill>
              </a:rPr>
              <a:t>Predictions</a:t>
            </a:r>
            <a:endParaRPr lang="de-DE" sz="1200" b="1" dirty="0">
              <a:solidFill>
                <a:schemeClr val="tx1"/>
              </a:solidFill>
            </a:endParaRPr>
          </a:p>
        </p:txBody>
      </p:sp>
      <p:sp>
        <p:nvSpPr>
          <p:cNvPr id="12" name="Rechteck: abgerundete Ecken 11">
            <a:extLst>
              <a:ext uri="{FF2B5EF4-FFF2-40B4-BE49-F238E27FC236}">
                <a16:creationId xmlns:a16="http://schemas.microsoft.com/office/drawing/2014/main" id="{5A4B4E15-6320-EDC1-E9DD-AFCD9E939BAD}"/>
              </a:ext>
            </a:extLst>
          </p:cNvPr>
          <p:cNvSpPr/>
          <p:nvPr/>
        </p:nvSpPr>
        <p:spPr>
          <a:xfrm>
            <a:off x="461540" y="1548222"/>
            <a:ext cx="1738735" cy="654657"/>
          </a:xfrm>
          <a:prstGeom prst="roundRect">
            <a:avLst>
              <a:gd name="adj" fmla="val 13837"/>
            </a:avLst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buClr>
                <a:schemeClr val="accent1"/>
              </a:buClr>
            </a:pPr>
            <a:r>
              <a:rPr lang="en-US" sz="1000" b="1" dirty="0"/>
              <a:t>Speaker gender</a:t>
            </a:r>
            <a:endParaRPr lang="de-DE" sz="1000" b="1" dirty="0"/>
          </a:p>
        </p:txBody>
      </p:sp>
      <p:sp>
        <p:nvSpPr>
          <p:cNvPr id="13" name="Rechteck: abgerundete Ecken 12">
            <a:extLst>
              <a:ext uri="{FF2B5EF4-FFF2-40B4-BE49-F238E27FC236}">
                <a16:creationId xmlns:a16="http://schemas.microsoft.com/office/drawing/2014/main" id="{98CD9FB2-675C-5147-B457-E4C8F625F554}"/>
              </a:ext>
            </a:extLst>
          </p:cNvPr>
          <p:cNvSpPr/>
          <p:nvPr/>
        </p:nvSpPr>
        <p:spPr>
          <a:xfrm>
            <a:off x="2620354" y="1536317"/>
            <a:ext cx="1738735" cy="654658"/>
          </a:xfrm>
          <a:prstGeom prst="roundRect">
            <a:avLst>
              <a:gd name="adj" fmla="val 13837"/>
            </a:avLst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buClr>
                <a:schemeClr val="accent1"/>
              </a:buClr>
            </a:pPr>
            <a:r>
              <a:rPr lang="en-US" sz="1000" b="1" dirty="0"/>
              <a:t>Speaker identity</a:t>
            </a:r>
          </a:p>
        </p:txBody>
      </p:sp>
      <p:sp>
        <p:nvSpPr>
          <p:cNvPr id="14" name="Rechteck: abgerundete Ecken 13">
            <a:extLst>
              <a:ext uri="{FF2B5EF4-FFF2-40B4-BE49-F238E27FC236}">
                <a16:creationId xmlns:a16="http://schemas.microsoft.com/office/drawing/2014/main" id="{31112859-0F06-C5BA-C3BA-01B791672058}"/>
              </a:ext>
            </a:extLst>
          </p:cNvPr>
          <p:cNvSpPr/>
          <p:nvPr/>
        </p:nvSpPr>
        <p:spPr>
          <a:xfrm>
            <a:off x="4718447" y="1548221"/>
            <a:ext cx="1738735" cy="642753"/>
          </a:xfrm>
          <a:prstGeom prst="roundRect">
            <a:avLst>
              <a:gd name="adj" fmla="val 13837"/>
            </a:avLst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buClr>
                <a:schemeClr val="accent1"/>
              </a:buClr>
            </a:pPr>
            <a:r>
              <a:rPr lang="en-US" sz="1000" b="1" dirty="0"/>
              <a:t>Phonetic content</a:t>
            </a:r>
          </a:p>
        </p:txBody>
      </p:sp>
      <p:sp>
        <p:nvSpPr>
          <p:cNvPr id="6" name="Rechteck: abgerundete Ecken 5">
            <a:extLst>
              <a:ext uri="{FF2B5EF4-FFF2-40B4-BE49-F238E27FC236}">
                <a16:creationId xmlns:a16="http://schemas.microsoft.com/office/drawing/2014/main" id="{61EE7EE3-3BC6-E42B-8120-DDFD6EFD3D1A}"/>
              </a:ext>
            </a:extLst>
          </p:cNvPr>
          <p:cNvSpPr/>
          <p:nvPr/>
        </p:nvSpPr>
        <p:spPr>
          <a:xfrm>
            <a:off x="472259" y="3616179"/>
            <a:ext cx="3899256" cy="384321"/>
          </a:xfrm>
          <a:prstGeom prst="roundRect">
            <a:avLst>
              <a:gd name="adj" fmla="val 13837"/>
            </a:avLst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buClr>
                <a:schemeClr val="accent1"/>
              </a:buClr>
            </a:pPr>
            <a:r>
              <a:rPr lang="en-US" sz="1050" i="1" dirty="0"/>
              <a:t>Extralinguistic cues</a:t>
            </a:r>
            <a:endParaRPr lang="de-DE" sz="1050" b="1" i="1" dirty="0"/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EC577BB0-DD8A-B702-6B60-84CB2A149E40}"/>
              </a:ext>
            </a:extLst>
          </p:cNvPr>
          <p:cNvSpPr/>
          <p:nvPr/>
        </p:nvSpPr>
        <p:spPr>
          <a:xfrm>
            <a:off x="315076" y="1366776"/>
            <a:ext cx="396934" cy="353716"/>
          </a:xfrm>
          <a:prstGeom prst="ellipse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dirty="0"/>
              <a:t>1</a:t>
            </a:r>
          </a:p>
        </p:txBody>
      </p:sp>
      <p:sp>
        <p:nvSpPr>
          <p:cNvPr id="18" name="Ellipse 17">
            <a:extLst>
              <a:ext uri="{FF2B5EF4-FFF2-40B4-BE49-F238E27FC236}">
                <a16:creationId xmlns:a16="http://schemas.microsoft.com/office/drawing/2014/main" id="{E0210DCD-486C-A29A-52E8-8211A243A038}"/>
              </a:ext>
            </a:extLst>
          </p:cNvPr>
          <p:cNvSpPr/>
          <p:nvPr/>
        </p:nvSpPr>
        <p:spPr>
          <a:xfrm>
            <a:off x="2421887" y="1403784"/>
            <a:ext cx="396934" cy="353716"/>
          </a:xfrm>
          <a:prstGeom prst="ellipse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dirty="0"/>
              <a:t>2</a:t>
            </a:r>
          </a:p>
        </p:txBody>
      </p:sp>
      <p:sp>
        <p:nvSpPr>
          <p:cNvPr id="19" name="Ellipse 18">
            <a:extLst>
              <a:ext uri="{FF2B5EF4-FFF2-40B4-BE49-F238E27FC236}">
                <a16:creationId xmlns:a16="http://schemas.microsoft.com/office/drawing/2014/main" id="{E3701A88-A90C-22A2-0F20-DAA1596195FE}"/>
              </a:ext>
            </a:extLst>
          </p:cNvPr>
          <p:cNvSpPr/>
          <p:nvPr/>
        </p:nvSpPr>
        <p:spPr>
          <a:xfrm>
            <a:off x="4519980" y="1366776"/>
            <a:ext cx="396934" cy="353716"/>
          </a:xfrm>
          <a:prstGeom prst="ellipse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dirty="0"/>
              <a:t>3</a:t>
            </a:r>
          </a:p>
        </p:txBody>
      </p:sp>
      <p:sp>
        <p:nvSpPr>
          <p:cNvPr id="15" name="Rechteck: abgerundete Ecken 14">
            <a:extLst>
              <a:ext uri="{FF2B5EF4-FFF2-40B4-BE49-F238E27FC236}">
                <a16:creationId xmlns:a16="http://schemas.microsoft.com/office/drawing/2014/main" id="{9885ACA8-9260-55F7-0DB5-956DFDC49085}"/>
              </a:ext>
            </a:extLst>
          </p:cNvPr>
          <p:cNvSpPr/>
          <p:nvPr/>
        </p:nvSpPr>
        <p:spPr>
          <a:xfrm>
            <a:off x="4718447" y="3625891"/>
            <a:ext cx="1738735" cy="384321"/>
          </a:xfrm>
          <a:prstGeom prst="roundRect">
            <a:avLst>
              <a:gd name="adj" fmla="val 13837"/>
            </a:avLst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buClr>
                <a:schemeClr val="accent1"/>
              </a:buClr>
            </a:pPr>
            <a:r>
              <a:rPr lang="en-US" sz="1050" i="1" dirty="0"/>
              <a:t>Linguistic cues</a:t>
            </a:r>
            <a:endParaRPr lang="de-DE" sz="1050" b="1" i="1" dirty="0"/>
          </a:p>
        </p:txBody>
      </p:sp>
      <p:pic>
        <p:nvPicPr>
          <p:cNvPr id="4" name="Grafik 3" descr="Häkchen mit einfarbiger Füllung">
            <a:extLst>
              <a:ext uri="{FF2B5EF4-FFF2-40B4-BE49-F238E27FC236}">
                <a16:creationId xmlns:a16="http://schemas.microsoft.com/office/drawing/2014/main" id="{023FBB53-CEBA-BC36-F6D8-0ECA739CF26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844172" y="2954188"/>
            <a:ext cx="533220" cy="533218"/>
          </a:xfrm>
          <a:prstGeom prst="rect">
            <a:avLst/>
          </a:prstGeom>
        </p:spPr>
      </p:pic>
      <p:pic>
        <p:nvPicPr>
          <p:cNvPr id="5" name="Grafik 4" descr="Schließen mit einfarbiger Füllung">
            <a:extLst>
              <a:ext uri="{FF2B5EF4-FFF2-40B4-BE49-F238E27FC236}">
                <a16:creationId xmlns:a16="http://schemas.microsoft.com/office/drawing/2014/main" id="{B0A24C0D-16E6-6186-3420-F73FC3EBF3B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050877" y="3018303"/>
            <a:ext cx="469103" cy="4691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745224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1F32A9-3ED6-621F-F95C-6BB4C305A6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 descr="Ein Bild, das dunkel, Vorhang, groß, Uhr enthält.&#10;&#10;Automatisch generierte Beschreibung">
            <a:extLst>
              <a:ext uri="{FF2B5EF4-FFF2-40B4-BE49-F238E27FC236}">
                <a16:creationId xmlns:a16="http://schemas.microsoft.com/office/drawing/2014/main" id="{3E564670-0CE8-6556-1C44-B00FF76D206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6858000" cy="4500000"/>
          </a:xfrm>
          <a:prstGeom prst="rect">
            <a:avLst/>
          </a:prstGeom>
        </p:spPr>
      </p:pic>
      <p:sp>
        <p:nvSpPr>
          <p:cNvPr id="6" name="Rechteck 5">
            <a:extLst>
              <a:ext uri="{FF2B5EF4-FFF2-40B4-BE49-F238E27FC236}">
                <a16:creationId xmlns:a16="http://schemas.microsoft.com/office/drawing/2014/main" id="{65A50E26-554D-9327-874E-CE4B308A6B99}"/>
              </a:ext>
            </a:extLst>
          </p:cNvPr>
          <p:cNvSpPr/>
          <p:nvPr/>
        </p:nvSpPr>
        <p:spPr>
          <a:xfrm>
            <a:off x="343697" y="3242457"/>
            <a:ext cx="5413047" cy="595313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350" dirty="0"/>
          </a:p>
        </p:txBody>
      </p:sp>
      <p:cxnSp>
        <p:nvCxnSpPr>
          <p:cNvPr id="8" name="Gerade Verbindung 11">
            <a:extLst>
              <a:ext uri="{FF2B5EF4-FFF2-40B4-BE49-F238E27FC236}">
                <a16:creationId xmlns:a16="http://schemas.microsoft.com/office/drawing/2014/main" id="{13F4A185-2FC0-E365-41A5-77ECB6A28033}"/>
              </a:ext>
            </a:extLst>
          </p:cNvPr>
          <p:cNvCxnSpPr/>
          <p:nvPr/>
        </p:nvCxnSpPr>
        <p:spPr>
          <a:xfrm>
            <a:off x="536683" y="3419900"/>
            <a:ext cx="2700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feld 10">
            <a:extLst>
              <a:ext uri="{FF2B5EF4-FFF2-40B4-BE49-F238E27FC236}">
                <a16:creationId xmlns:a16="http://schemas.microsoft.com/office/drawing/2014/main" id="{CC050B45-1EF3-6B1E-4048-554D4C521D82}"/>
              </a:ext>
            </a:extLst>
          </p:cNvPr>
          <p:cNvSpPr txBox="1"/>
          <p:nvPr/>
        </p:nvSpPr>
        <p:spPr>
          <a:xfrm>
            <a:off x="536683" y="3483202"/>
            <a:ext cx="4989474" cy="26545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n-US" sz="1200" dirty="0"/>
              <a:t>Experiment 3: spoken pseudoword</a:t>
            </a:r>
            <a:endParaRPr lang="de-DE" sz="1200" b="1" dirty="0"/>
          </a:p>
        </p:txBody>
      </p:sp>
    </p:spTree>
    <p:extLst>
      <p:ext uri="{BB962C8B-B14F-4D97-AF65-F5344CB8AC3E}">
        <p14:creationId xmlns:p14="http://schemas.microsoft.com/office/powerpoint/2010/main" val="17753351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3558B1-D5A5-EA17-1DB2-054EB35991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Gerade Verbindung 9">
            <a:extLst>
              <a:ext uri="{FF2B5EF4-FFF2-40B4-BE49-F238E27FC236}">
                <a16:creationId xmlns:a16="http://schemas.microsoft.com/office/drawing/2014/main" id="{5E486727-F686-9B04-DD5F-4B2921B77BA3}"/>
              </a:ext>
            </a:extLst>
          </p:cNvPr>
          <p:cNvCxnSpPr/>
          <p:nvPr/>
        </p:nvCxnSpPr>
        <p:spPr>
          <a:xfrm>
            <a:off x="340096" y="359248"/>
            <a:ext cx="346895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feld 4">
            <a:extLst>
              <a:ext uri="{FF2B5EF4-FFF2-40B4-BE49-F238E27FC236}">
                <a16:creationId xmlns:a16="http://schemas.microsoft.com/office/drawing/2014/main" id="{BC348E60-263A-8432-A30B-6161EAC5AB1C}"/>
              </a:ext>
            </a:extLst>
          </p:cNvPr>
          <p:cNvSpPr txBox="1"/>
          <p:nvPr/>
        </p:nvSpPr>
        <p:spPr>
          <a:xfrm>
            <a:off x="338268" y="440204"/>
            <a:ext cx="6162545" cy="30274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de-DE" sz="1600" dirty="0">
                <a:solidFill>
                  <a:srgbClr val="002350"/>
                </a:solidFill>
              </a:rPr>
              <a:t>Experiment 3: Design</a:t>
            </a:r>
            <a:endParaRPr lang="de-DE" sz="1500" dirty="0"/>
          </a:p>
        </p:txBody>
      </p:sp>
      <p:pic>
        <p:nvPicPr>
          <p:cNvPr id="16" name="Grafik 15">
            <a:extLst>
              <a:ext uri="{FF2B5EF4-FFF2-40B4-BE49-F238E27FC236}">
                <a16:creationId xmlns:a16="http://schemas.microsoft.com/office/drawing/2014/main" id="{7366F362-752F-5381-BD2B-CCB029F9993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14244" y="2886292"/>
            <a:ext cx="1767168" cy="1486586"/>
          </a:xfrm>
          <a:prstGeom prst="rect">
            <a:avLst/>
          </a:prstGeom>
        </p:spPr>
      </p:pic>
      <p:pic>
        <p:nvPicPr>
          <p:cNvPr id="18" name="Grafik 17">
            <a:extLst>
              <a:ext uri="{FF2B5EF4-FFF2-40B4-BE49-F238E27FC236}">
                <a16:creationId xmlns:a16="http://schemas.microsoft.com/office/drawing/2014/main" id="{2C3AD3DE-7C3A-C569-5103-27521EA188B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681140" y="3178178"/>
            <a:ext cx="3762616" cy="1067304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C785D107-BD93-3391-0519-C9282790E1D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26988" y="921581"/>
            <a:ext cx="4353858" cy="17388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178895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A94CDF-7F40-F3D7-3EEC-1885C807FB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Gerade Verbindung 9">
            <a:extLst>
              <a:ext uri="{FF2B5EF4-FFF2-40B4-BE49-F238E27FC236}">
                <a16:creationId xmlns:a16="http://schemas.microsoft.com/office/drawing/2014/main" id="{B122C823-3047-F8FB-11B4-2D32803523C5}"/>
              </a:ext>
            </a:extLst>
          </p:cNvPr>
          <p:cNvCxnSpPr/>
          <p:nvPr/>
        </p:nvCxnSpPr>
        <p:spPr>
          <a:xfrm>
            <a:off x="340096" y="359248"/>
            <a:ext cx="346895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feld 4">
            <a:extLst>
              <a:ext uri="{FF2B5EF4-FFF2-40B4-BE49-F238E27FC236}">
                <a16:creationId xmlns:a16="http://schemas.microsoft.com/office/drawing/2014/main" id="{98F35124-D37F-18E4-5BA3-CF2F58F8DBAE}"/>
              </a:ext>
            </a:extLst>
          </p:cNvPr>
          <p:cNvSpPr txBox="1"/>
          <p:nvPr/>
        </p:nvSpPr>
        <p:spPr>
          <a:xfrm>
            <a:off x="338268" y="440204"/>
            <a:ext cx="6162545" cy="30274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de-DE" sz="1600" dirty="0">
                <a:solidFill>
                  <a:srgbClr val="002350"/>
                </a:solidFill>
              </a:rPr>
              <a:t>Experiment 3: Hypothesis</a:t>
            </a:r>
            <a:endParaRPr lang="de-DE" sz="1500" dirty="0"/>
          </a:p>
        </p:txBody>
      </p:sp>
    </p:spTree>
    <p:extLst>
      <p:ext uri="{BB962C8B-B14F-4D97-AF65-F5344CB8AC3E}">
        <p14:creationId xmlns:p14="http://schemas.microsoft.com/office/powerpoint/2010/main" val="292905076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2D6206-6FC6-6D92-5EBE-EBE2554F18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Gerade Verbindung 9">
            <a:extLst>
              <a:ext uri="{FF2B5EF4-FFF2-40B4-BE49-F238E27FC236}">
                <a16:creationId xmlns:a16="http://schemas.microsoft.com/office/drawing/2014/main" id="{8B2427AE-65A6-2FB0-990F-CA341E3274EF}"/>
              </a:ext>
            </a:extLst>
          </p:cNvPr>
          <p:cNvCxnSpPr/>
          <p:nvPr/>
        </p:nvCxnSpPr>
        <p:spPr>
          <a:xfrm>
            <a:off x="340096" y="359248"/>
            <a:ext cx="346895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feld 4">
            <a:extLst>
              <a:ext uri="{FF2B5EF4-FFF2-40B4-BE49-F238E27FC236}">
                <a16:creationId xmlns:a16="http://schemas.microsoft.com/office/drawing/2014/main" id="{3981AB97-397D-BBAC-320F-B83C82E10EB8}"/>
              </a:ext>
            </a:extLst>
          </p:cNvPr>
          <p:cNvSpPr txBox="1"/>
          <p:nvPr/>
        </p:nvSpPr>
        <p:spPr>
          <a:xfrm>
            <a:off x="338268" y="440204"/>
            <a:ext cx="6162545" cy="30274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de-DE" sz="1600" dirty="0">
                <a:solidFill>
                  <a:srgbClr val="002350"/>
                </a:solidFill>
              </a:rPr>
              <a:t>Little </a:t>
            </a:r>
            <a:r>
              <a:rPr lang="de-DE" sz="1600" dirty="0" err="1">
                <a:solidFill>
                  <a:srgbClr val="002350"/>
                </a:solidFill>
              </a:rPr>
              <a:t>excursion</a:t>
            </a:r>
            <a:r>
              <a:rPr lang="de-DE" sz="1600" dirty="0">
                <a:solidFill>
                  <a:srgbClr val="002350"/>
                </a:solidFill>
              </a:rPr>
              <a:t> </a:t>
            </a:r>
            <a:r>
              <a:rPr lang="de-DE" sz="1600" dirty="0" err="1">
                <a:solidFill>
                  <a:srgbClr val="002350"/>
                </a:solidFill>
              </a:rPr>
              <a:t>into</a:t>
            </a:r>
            <a:r>
              <a:rPr lang="de-DE" sz="1600" dirty="0">
                <a:solidFill>
                  <a:srgbClr val="002350"/>
                </a:solidFill>
              </a:rPr>
              <a:t> </a:t>
            </a:r>
            <a:r>
              <a:rPr lang="de-DE" sz="1600" dirty="0" err="1">
                <a:solidFill>
                  <a:srgbClr val="002350"/>
                </a:solidFill>
              </a:rPr>
              <a:t>Bayesian</a:t>
            </a:r>
            <a:r>
              <a:rPr lang="de-DE" sz="1600" dirty="0">
                <a:solidFill>
                  <a:srgbClr val="002350"/>
                </a:solidFill>
              </a:rPr>
              <a:t> </a:t>
            </a:r>
            <a:r>
              <a:rPr lang="de-DE" sz="1600" dirty="0" err="1">
                <a:solidFill>
                  <a:srgbClr val="002350"/>
                </a:solidFill>
              </a:rPr>
              <a:t>inference</a:t>
            </a:r>
            <a:r>
              <a:rPr lang="de-DE" sz="1600" dirty="0">
                <a:solidFill>
                  <a:srgbClr val="002350"/>
                </a:solidFill>
              </a:rPr>
              <a:t>…</a:t>
            </a:r>
            <a:endParaRPr lang="de-DE" sz="1500" dirty="0"/>
          </a:p>
        </p:txBody>
      </p:sp>
    </p:spTree>
    <p:extLst>
      <p:ext uri="{BB962C8B-B14F-4D97-AF65-F5344CB8AC3E}">
        <p14:creationId xmlns:p14="http://schemas.microsoft.com/office/powerpoint/2010/main" val="80776639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FA309D-6806-ED04-098A-9B287B7A5F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Gerade Verbindung 9">
            <a:extLst>
              <a:ext uri="{FF2B5EF4-FFF2-40B4-BE49-F238E27FC236}">
                <a16:creationId xmlns:a16="http://schemas.microsoft.com/office/drawing/2014/main" id="{921EA995-A9D9-CA9F-8485-C1B4B84E4E6E}"/>
              </a:ext>
            </a:extLst>
          </p:cNvPr>
          <p:cNvCxnSpPr/>
          <p:nvPr/>
        </p:nvCxnSpPr>
        <p:spPr>
          <a:xfrm>
            <a:off x="340096" y="359248"/>
            <a:ext cx="346895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feld 11">
            <a:extLst>
              <a:ext uri="{FF2B5EF4-FFF2-40B4-BE49-F238E27FC236}">
                <a16:creationId xmlns:a16="http://schemas.microsoft.com/office/drawing/2014/main" id="{E093E8CC-C8F5-B502-4095-6BF668F48C47}"/>
              </a:ext>
            </a:extLst>
          </p:cNvPr>
          <p:cNvSpPr txBox="1"/>
          <p:nvPr/>
        </p:nvSpPr>
        <p:spPr>
          <a:xfrm>
            <a:off x="338269" y="440204"/>
            <a:ext cx="5748206" cy="27245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de-DE" dirty="0">
                <a:solidFill>
                  <a:srgbClr val="002350"/>
                </a:solidFill>
              </a:rPr>
              <a:t>Experiment 3:</a:t>
            </a:r>
            <a:br>
              <a:rPr lang="de-DE" dirty="0">
                <a:solidFill>
                  <a:srgbClr val="002350"/>
                </a:solidFill>
              </a:rPr>
            </a:br>
            <a:r>
              <a:rPr lang="de-DE" dirty="0" err="1">
                <a:solidFill>
                  <a:srgbClr val="002350"/>
                </a:solidFill>
              </a:rPr>
              <a:t>Results</a:t>
            </a:r>
            <a:endParaRPr lang="de-DE" dirty="0"/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70DD5E0E-2DBC-3018-FBF9-EF2C3CB3E288}"/>
              </a:ext>
            </a:extLst>
          </p:cNvPr>
          <p:cNvSpPr txBox="1"/>
          <p:nvPr/>
        </p:nvSpPr>
        <p:spPr>
          <a:xfrm>
            <a:off x="338269" y="2140599"/>
            <a:ext cx="1540323" cy="66521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US" sz="1600" i="1" dirty="0">
                <a:solidFill>
                  <a:schemeClr val="tx2"/>
                </a:solidFill>
              </a:rPr>
              <a:t>Evidence for NO</a:t>
            </a:r>
          </a:p>
          <a:p>
            <a:pPr algn="ctr"/>
            <a:r>
              <a:rPr lang="en-US" sz="1600" i="1" dirty="0">
                <a:solidFill>
                  <a:schemeClr val="tx2"/>
                </a:solidFill>
              </a:rPr>
              <a:t>Simultaneous</a:t>
            </a:r>
          </a:p>
          <a:p>
            <a:pPr algn="ctr"/>
            <a:r>
              <a:rPr lang="en-US" sz="1600" i="1" dirty="0">
                <a:solidFill>
                  <a:schemeClr val="tx2"/>
                </a:solidFill>
              </a:rPr>
              <a:t>opposite</a:t>
            </a:r>
          </a:p>
          <a:p>
            <a:pPr algn="ctr"/>
            <a:r>
              <a:rPr lang="en-US" sz="1600" i="1" dirty="0">
                <a:solidFill>
                  <a:schemeClr val="tx2"/>
                </a:solidFill>
              </a:rPr>
              <a:t>Adaptation</a:t>
            </a:r>
          </a:p>
          <a:p>
            <a:pPr algn="ctr"/>
            <a:endParaRPr lang="en-US" sz="1600" i="1" dirty="0">
              <a:solidFill>
                <a:schemeClr val="tx2"/>
              </a:solidFill>
            </a:endParaRPr>
          </a:p>
          <a:p>
            <a:pPr algn="ctr"/>
            <a:endParaRPr lang="en-US" sz="1600" i="1" dirty="0">
              <a:solidFill>
                <a:schemeClr val="tx2"/>
              </a:solidFill>
            </a:endParaRPr>
          </a:p>
          <a:p>
            <a:pPr algn="ctr"/>
            <a:endParaRPr lang="en-US" sz="1600" i="1" dirty="0">
              <a:solidFill>
                <a:schemeClr val="tx2"/>
              </a:solidFill>
            </a:endParaRP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8C17467A-B6DA-FD27-D19C-9DE44A043A0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02436" y="201146"/>
            <a:ext cx="4150658" cy="41506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054133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B91E8A-279D-E635-995B-3826B9C8E7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Gerade Verbindung 9">
            <a:extLst>
              <a:ext uri="{FF2B5EF4-FFF2-40B4-BE49-F238E27FC236}">
                <a16:creationId xmlns:a16="http://schemas.microsoft.com/office/drawing/2014/main" id="{BE7ECA1D-3008-434C-5D6A-F4038DB5BF82}"/>
              </a:ext>
            </a:extLst>
          </p:cNvPr>
          <p:cNvCxnSpPr/>
          <p:nvPr/>
        </p:nvCxnSpPr>
        <p:spPr>
          <a:xfrm>
            <a:off x="340096" y="359248"/>
            <a:ext cx="346895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hteck: abgerundete Ecken 7">
            <a:extLst>
              <a:ext uri="{FF2B5EF4-FFF2-40B4-BE49-F238E27FC236}">
                <a16:creationId xmlns:a16="http://schemas.microsoft.com/office/drawing/2014/main" id="{8E323476-ED10-EF73-36EE-29300C334135}"/>
              </a:ext>
            </a:extLst>
          </p:cNvPr>
          <p:cNvSpPr/>
          <p:nvPr/>
        </p:nvSpPr>
        <p:spPr>
          <a:xfrm>
            <a:off x="458122" y="2295529"/>
            <a:ext cx="1738735" cy="1047354"/>
          </a:xfrm>
          <a:prstGeom prst="roundRect">
            <a:avLst>
              <a:gd name="adj" fmla="val 13837"/>
            </a:avLst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buClr>
                <a:schemeClr val="accent1"/>
              </a:buClr>
            </a:pPr>
            <a:r>
              <a:rPr lang="en-US" sz="1000" dirty="0"/>
              <a:t>I expected to find simultaneous opposite aftereffects for </a:t>
            </a:r>
            <a:r>
              <a:rPr lang="en-US" sz="1000" b="1" dirty="0"/>
              <a:t>male and female speakers </a:t>
            </a:r>
            <a:endParaRPr lang="de-DE" sz="1000" b="1" dirty="0"/>
          </a:p>
        </p:txBody>
      </p:sp>
      <p:sp>
        <p:nvSpPr>
          <p:cNvPr id="9" name="Rechteck: abgerundete Ecken 8">
            <a:extLst>
              <a:ext uri="{FF2B5EF4-FFF2-40B4-BE49-F238E27FC236}">
                <a16:creationId xmlns:a16="http://schemas.microsoft.com/office/drawing/2014/main" id="{CA117BE0-7B4E-2D47-BBA8-C46A83AD15AF}"/>
              </a:ext>
            </a:extLst>
          </p:cNvPr>
          <p:cNvSpPr/>
          <p:nvPr/>
        </p:nvSpPr>
        <p:spPr>
          <a:xfrm>
            <a:off x="2618644" y="2311278"/>
            <a:ext cx="1738735" cy="1047354"/>
          </a:xfrm>
          <a:prstGeom prst="roundRect">
            <a:avLst>
              <a:gd name="adj" fmla="val 13837"/>
            </a:avLst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buClr>
                <a:schemeClr val="accent1"/>
              </a:buClr>
            </a:pPr>
            <a:r>
              <a:rPr lang="en-US" sz="1000" dirty="0"/>
              <a:t>I expected to find simultaneous opposite aftereffects</a:t>
            </a:r>
          </a:p>
          <a:p>
            <a:pPr algn="ctr">
              <a:buClr>
                <a:schemeClr val="accent1"/>
              </a:buClr>
            </a:pPr>
            <a:r>
              <a:rPr lang="en-US" sz="1000" dirty="0"/>
              <a:t>for </a:t>
            </a:r>
            <a:r>
              <a:rPr lang="en-US" sz="1000" b="1" dirty="0"/>
              <a:t>different speaker identities</a:t>
            </a:r>
          </a:p>
        </p:txBody>
      </p:sp>
      <p:sp>
        <p:nvSpPr>
          <p:cNvPr id="10" name="Rechteck: abgerundete Ecken 9">
            <a:extLst>
              <a:ext uri="{FF2B5EF4-FFF2-40B4-BE49-F238E27FC236}">
                <a16:creationId xmlns:a16="http://schemas.microsoft.com/office/drawing/2014/main" id="{45987C4E-0F83-0CAD-5CD3-2F36869B35FD}"/>
              </a:ext>
            </a:extLst>
          </p:cNvPr>
          <p:cNvSpPr/>
          <p:nvPr/>
        </p:nvSpPr>
        <p:spPr>
          <a:xfrm>
            <a:off x="4718447" y="2295529"/>
            <a:ext cx="1738735" cy="1047354"/>
          </a:xfrm>
          <a:prstGeom prst="roundRect">
            <a:avLst>
              <a:gd name="adj" fmla="val 13837"/>
            </a:avLst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buClr>
                <a:schemeClr val="accent1"/>
              </a:buClr>
            </a:pPr>
            <a:r>
              <a:rPr lang="en-US" sz="1000" dirty="0"/>
              <a:t>I expected to find </a:t>
            </a:r>
            <a:r>
              <a:rPr lang="en-US" sz="1000" b="1" dirty="0"/>
              <a:t>NO</a:t>
            </a:r>
            <a:r>
              <a:rPr lang="en-US" sz="1000" dirty="0"/>
              <a:t> simultaneous opposite aftereffects for </a:t>
            </a:r>
            <a:r>
              <a:rPr lang="en-US" sz="1000" b="1" dirty="0"/>
              <a:t>different pseudowords</a:t>
            </a:r>
          </a:p>
        </p:txBody>
      </p:sp>
      <p:sp>
        <p:nvSpPr>
          <p:cNvPr id="11" name="Rechteck: abgerundete Ecken 10">
            <a:extLst>
              <a:ext uri="{FF2B5EF4-FFF2-40B4-BE49-F238E27FC236}">
                <a16:creationId xmlns:a16="http://schemas.microsoft.com/office/drawing/2014/main" id="{C0C6E706-1C38-8EA9-128C-EE6D3107BFE6}"/>
              </a:ext>
            </a:extLst>
          </p:cNvPr>
          <p:cNvSpPr/>
          <p:nvPr/>
        </p:nvSpPr>
        <p:spPr>
          <a:xfrm>
            <a:off x="400818" y="593772"/>
            <a:ext cx="6056364" cy="469103"/>
          </a:xfrm>
          <a:prstGeom prst="roundRect">
            <a:avLst>
              <a:gd name="adj" fmla="val 13837"/>
            </a:avLst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ts val="1650"/>
              </a:lnSpc>
              <a:buClr>
                <a:schemeClr val="accent1"/>
              </a:buClr>
            </a:pPr>
            <a:r>
              <a:rPr lang="de-DE" sz="1200" b="1" dirty="0">
                <a:solidFill>
                  <a:schemeClr val="tx1"/>
                </a:solidFill>
              </a:rPr>
              <a:t>Experiments and </a:t>
            </a:r>
            <a:r>
              <a:rPr lang="de-DE" sz="1200" b="1" dirty="0" err="1">
                <a:solidFill>
                  <a:schemeClr val="tx1"/>
                </a:solidFill>
              </a:rPr>
              <a:t>Predictions</a:t>
            </a:r>
            <a:endParaRPr lang="de-DE" sz="1200" b="1" dirty="0">
              <a:solidFill>
                <a:schemeClr val="tx1"/>
              </a:solidFill>
            </a:endParaRPr>
          </a:p>
        </p:txBody>
      </p:sp>
      <p:sp>
        <p:nvSpPr>
          <p:cNvPr id="12" name="Rechteck: abgerundete Ecken 11">
            <a:extLst>
              <a:ext uri="{FF2B5EF4-FFF2-40B4-BE49-F238E27FC236}">
                <a16:creationId xmlns:a16="http://schemas.microsoft.com/office/drawing/2014/main" id="{438145E0-3B53-2DCC-0569-C8BF66E3CC34}"/>
              </a:ext>
            </a:extLst>
          </p:cNvPr>
          <p:cNvSpPr/>
          <p:nvPr/>
        </p:nvSpPr>
        <p:spPr>
          <a:xfrm>
            <a:off x="461540" y="1548222"/>
            <a:ext cx="1738735" cy="654657"/>
          </a:xfrm>
          <a:prstGeom prst="roundRect">
            <a:avLst>
              <a:gd name="adj" fmla="val 13837"/>
            </a:avLst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buClr>
                <a:schemeClr val="accent1"/>
              </a:buClr>
            </a:pPr>
            <a:r>
              <a:rPr lang="en-US" sz="1000" b="1" dirty="0"/>
              <a:t>Speaker gender</a:t>
            </a:r>
            <a:endParaRPr lang="de-DE" sz="1000" b="1" dirty="0"/>
          </a:p>
        </p:txBody>
      </p:sp>
      <p:sp>
        <p:nvSpPr>
          <p:cNvPr id="13" name="Rechteck: abgerundete Ecken 12">
            <a:extLst>
              <a:ext uri="{FF2B5EF4-FFF2-40B4-BE49-F238E27FC236}">
                <a16:creationId xmlns:a16="http://schemas.microsoft.com/office/drawing/2014/main" id="{2ECA611F-D2D5-4DEB-8B8E-27D4BA795C22}"/>
              </a:ext>
            </a:extLst>
          </p:cNvPr>
          <p:cNvSpPr/>
          <p:nvPr/>
        </p:nvSpPr>
        <p:spPr>
          <a:xfrm>
            <a:off x="2620354" y="1536317"/>
            <a:ext cx="1738735" cy="654658"/>
          </a:xfrm>
          <a:prstGeom prst="roundRect">
            <a:avLst>
              <a:gd name="adj" fmla="val 13837"/>
            </a:avLst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buClr>
                <a:schemeClr val="accent1"/>
              </a:buClr>
            </a:pPr>
            <a:r>
              <a:rPr lang="en-US" sz="1000" b="1" dirty="0"/>
              <a:t>Speaker identity</a:t>
            </a:r>
          </a:p>
        </p:txBody>
      </p:sp>
      <p:sp>
        <p:nvSpPr>
          <p:cNvPr id="14" name="Rechteck: abgerundete Ecken 13">
            <a:extLst>
              <a:ext uri="{FF2B5EF4-FFF2-40B4-BE49-F238E27FC236}">
                <a16:creationId xmlns:a16="http://schemas.microsoft.com/office/drawing/2014/main" id="{53EB379D-4922-EF27-884C-D65BF0FE636A}"/>
              </a:ext>
            </a:extLst>
          </p:cNvPr>
          <p:cNvSpPr/>
          <p:nvPr/>
        </p:nvSpPr>
        <p:spPr>
          <a:xfrm>
            <a:off x="4718447" y="1548221"/>
            <a:ext cx="1738735" cy="642753"/>
          </a:xfrm>
          <a:prstGeom prst="roundRect">
            <a:avLst>
              <a:gd name="adj" fmla="val 13837"/>
            </a:avLst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buClr>
                <a:schemeClr val="accent1"/>
              </a:buClr>
            </a:pPr>
            <a:r>
              <a:rPr lang="en-US" sz="1000" b="1" dirty="0"/>
              <a:t>Phonetic content</a:t>
            </a:r>
          </a:p>
        </p:txBody>
      </p:sp>
      <p:sp>
        <p:nvSpPr>
          <p:cNvPr id="6" name="Rechteck: abgerundete Ecken 5">
            <a:extLst>
              <a:ext uri="{FF2B5EF4-FFF2-40B4-BE49-F238E27FC236}">
                <a16:creationId xmlns:a16="http://schemas.microsoft.com/office/drawing/2014/main" id="{7BD9B9CE-C580-B86E-E421-AC90B726A9CF}"/>
              </a:ext>
            </a:extLst>
          </p:cNvPr>
          <p:cNvSpPr/>
          <p:nvPr/>
        </p:nvSpPr>
        <p:spPr>
          <a:xfrm>
            <a:off x="472259" y="3616179"/>
            <a:ext cx="3899256" cy="384321"/>
          </a:xfrm>
          <a:prstGeom prst="roundRect">
            <a:avLst>
              <a:gd name="adj" fmla="val 13837"/>
            </a:avLst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buClr>
                <a:schemeClr val="accent1"/>
              </a:buClr>
            </a:pPr>
            <a:r>
              <a:rPr lang="en-US" sz="1050" i="1" dirty="0"/>
              <a:t>Extralinguistic cues</a:t>
            </a:r>
            <a:endParaRPr lang="de-DE" sz="1050" b="1" i="1" dirty="0"/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DD7287D1-AE92-4F2E-B036-D2E7598A8B12}"/>
              </a:ext>
            </a:extLst>
          </p:cNvPr>
          <p:cNvSpPr/>
          <p:nvPr/>
        </p:nvSpPr>
        <p:spPr>
          <a:xfrm>
            <a:off x="315076" y="1366776"/>
            <a:ext cx="396934" cy="353716"/>
          </a:xfrm>
          <a:prstGeom prst="ellipse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dirty="0"/>
              <a:t>1</a:t>
            </a:r>
          </a:p>
        </p:txBody>
      </p:sp>
      <p:sp>
        <p:nvSpPr>
          <p:cNvPr id="18" name="Ellipse 17">
            <a:extLst>
              <a:ext uri="{FF2B5EF4-FFF2-40B4-BE49-F238E27FC236}">
                <a16:creationId xmlns:a16="http://schemas.microsoft.com/office/drawing/2014/main" id="{7F424640-25E9-D08D-20CC-6F18E65ADE2F}"/>
              </a:ext>
            </a:extLst>
          </p:cNvPr>
          <p:cNvSpPr/>
          <p:nvPr/>
        </p:nvSpPr>
        <p:spPr>
          <a:xfrm>
            <a:off x="2421887" y="1403784"/>
            <a:ext cx="396934" cy="353716"/>
          </a:xfrm>
          <a:prstGeom prst="ellipse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dirty="0"/>
              <a:t>2</a:t>
            </a:r>
          </a:p>
        </p:txBody>
      </p:sp>
      <p:sp>
        <p:nvSpPr>
          <p:cNvPr id="19" name="Ellipse 18">
            <a:extLst>
              <a:ext uri="{FF2B5EF4-FFF2-40B4-BE49-F238E27FC236}">
                <a16:creationId xmlns:a16="http://schemas.microsoft.com/office/drawing/2014/main" id="{32E05EAA-CE02-9845-2BBC-2DFB7AD0E496}"/>
              </a:ext>
            </a:extLst>
          </p:cNvPr>
          <p:cNvSpPr/>
          <p:nvPr/>
        </p:nvSpPr>
        <p:spPr>
          <a:xfrm>
            <a:off x="4519980" y="1366776"/>
            <a:ext cx="396934" cy="353716"/>
          </a:xfrm>
          <a:prstGeom prst="ellipse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dirty="0"/>
              <a:t>3</a:t>
            </a:r>
          </a:p>
        </p:txBody>
      </p:sp>
      <p:sp>
        <p:nvSpPr>
          <p:cNvPr id="15" name="Rechteck: abgerundete Ecken 14">
            <a:extLst>
              <a:ext uri="{FF2B5EF4-FFF2-40B4-BE49-F238E27FC236}">
                <a16:creationId xmlns:a16="http://schemas.microsoft.com/office/drawing/2014/main" id="{D8CA80B4-A61E-17B5-EDFE-56F406E522C1}"/>
              </a:ext>
            </a:extLst>
          </p:cNvPr>
          <p:cNvSpPr/>
          <p:nvPr/>
        </p:nvSpPr>
        <p:spPr>
          <a:xfrm>
            <a:off x="4718447" y="3625891"/>
            <a:ext cx="1738735" cy="384321"/>
          </a:xfrm>
          <a:prstGeom prst="roundRect">
            <a:avLst>
              <a:gd name="adj" fmla="val 13837"/>
            </a:avLst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buClr>
                <a:schemeClr val="accent1"/>
              </a:buClr>
            </a:pPr>
            <a:r>
              <a:rPr lang="en-US" sz="1050" i="1" dirty="0"/>
              <a:t>Linguistic cues</a:t>
            </a:r>
            <a:endParaRPr lang="de-DE" sz="1050" b="1" i="1" dirty="0"/>
          </a:p>
        </p:txBody>
      </p:sp>
      <p:pic>
        <p:nvPicPr>
          <p:cNvPr id="4" name="Grafik 3" descr="Häkchen mit einfarbiger Füllung">
            <a:extLst>
              <a:ext uri="{FF2B5EF4-FFF2-40B4-BE49-F238E27FC236}">
                <a16:creationId xmlns:a16="http://schemas.microsoft.com/office/drawing/2014/main" id="{07656A2A-9A2C-9A41-6D9D-37BB5A308F6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844172" y="2954188"/>
            <a:ext cx="533220" cy="533218"/>
          </a:xfrm>
          <a:prstGeom prst="rect">
            <a:avLst/>
          </a:prstGeom>
        </p:spPr>
      </p:pic>
      <p:pic>
        <p:nvPicPr>
          <p:cNvPr id="5" name="Grafik 4" descr="Schließen mit einfarbiger Füllung">
            <a:extLst>
              <a:ext uri="{FF2B5EF4-FFF2-40B4-BE49-F238E27FC236}">
                <a16:creationId xmlns:a16="http://schemas.microsoft.com/office/drawing/2014/main" id="{6586AAAB-63CF-7367-BA42-115615892CC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050877" y="3018303"/>
            <a:ext cx="469103" cy="469103"/>
          </a:xfrm>
          <a:prstGeom prst="rect">
            <a:avLst/>
          </a:prstGeom>
        </p:spPr>
      </p:pic>
      <p:pic>
        <p:nvPicPr>
          <p:cNvPr id="16" name="Grafik 15" descr="Häkchen mit einfarbiger Füllung">
            <a:extLst>
              <a:ext uri="{FF2B5EF4-FFF2-40B4-BE49-F238E27FC236}">
                <a16:creationId xmlns:a16="http://schemas.microsoft.com/office/drawing/2014/main" id="{BEA32D41-D4AB-0512-26FA-601CA48D6EF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33268" y="2954188"/>
            <a:ext cx="533220" cy="533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708841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ECF2F2-7220-10BB-092F-F7ABA1AC6F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 descr="Ein Bild, das dunkel, Vorhang, groß, Uhr enthält.&#10;&#10;Automatisch generierte Beschreibung">
            <a:extLst>
              <a:ext uri="{FF2B5EF4-FFF2-40B4-BE49-F238E27FC236}">
                <a16:creationId xmlns:a16="http://schemas.microsoft.com/office/drawing/2014/main" id="{957361A0-0D62-FFF8-3ECC-1ABAB54A47F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6858000" cy="4500000"/>
          </a:xfrm>
          <a:prstGeom prst="rect">
            <a:avLst/>
          </a:prstGeom>
        </p:spPr>
      </p:pic>
      <p:sp>
        <p:nvSpPr>
          <p:cNvPr id="6" name="Rechteck 5">
            <a:extLst>
              <a:ext uri="{FF2B5EF4-FFF2-40B4-BE49-F238E27FC236}">
                <a16:creationId xmlns:a16="http://schemas.microsoft.com/office/drawing/2014/main" id="{23AE9586-5064-DE09-52DB-15D03EE854D8}"/>
              </a:ext>
            </a:extLst>
          </p:cNvPr>
          <p:cNvSpPr/>
          <p:nvPr/>
        </p:nvSpPr>
        <p:spPr>
          <a:xfrm>
            <a:off x="343697" y="3242457"/>
            <a:ext cx="2587282" cy="595313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350" dirty="0"/>
          </a:p>
        </p:txBody>
      </p:sp>
      <p:cxnSp>
        <p:nvCxnSpPr>
          <p:cNvPr id="8" name="Gerade Verbindung 11">
            <a:extLst>
              <a:ext uri="{FF2B5EF4-FFF2-40B4-BE49-F238E27FC236}">
                <a16:creationId xmlns:a16="http://schemas.microsoft.com/office/drawing/2014/main" id="{873B9C10-3DF5-93E3-DC83-CD39B5229444}"/>
              </a:ext>
            </a:extLst>
          </p:cNvPr>
          <p:cNvCxnSpPr/>
          <p:nvPr/>
        </p:nvCxnSpPr>
        <p:spPr>
          <a:xfrm>
            <a:off x="536683" y="3419900"/>
            <a:ext cx="2700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feld 10">
            <a:extLst>
              <a:ext uri="{FF2B5EF4-FFF2-40B4-BE49-F238E27FC236}">
                <a16:creationId xmlns:a16="http://schemas.microsoft.com/office/drawing/2014/main" id="{7C23F3E8-B587-C670-949A-E53A742A5648}"/>
              </a:ext>
            </a:extLst>
          </p:cNvPr>
          <p:cNvSpPr txBox="1"/>
          <p:nvPr/>
        </p:nvSpPr>
        <p:spPr>
          <a:xfrm>
            <a:off x="536683" y="3483202"/>
            <a:ext cx="2463692" cy="26545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de-DE" sz="1500" dirty="0" err="1"/>
              <a:t>Discussion</a:t>
            </a:r>
            <a:endParaRPr lang="de-DE" sz="1500" dirty="0"/>
          </a:p>
        </p:txBody>
      </p:sp>
    </p:spTree>
    <p:extLst>
      <p:ext uri="{BB962C8B-B14F-4D97-AF65-F5344CB8AC3E}">
        <p14:creationId xmlns:p14="http://schemas.microsoft.com/office/powerpoint/2010/main" val="327465036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 descr="Ein Bild, das dunkel, Vorhang, groß, Uhr enthält.&#10;&#10;Automatisch generierte Beschreibung">
            <a:extLst>
              <a:ext uri="{FF2B5EF4-FFF2-40B4-BE49-F238E27FC236}">
                <a16:creationId xmlns:a16="http://schemas.microsoft.com/office/drawing/2014/main" id="{E35DBA12-3FC0-4D4B-B842-1224C3B5CD3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6858000" cy="4500000"/>
          </a:xfrm>
          <a:prstGeom prst="rect">
            <a:avLst/>
          </a:prstGeom>
        </p:spPr>
      </p:pic>
      <p:sp>
        <p:nvSpPr>
          <p:cNvPr id="6" name="Rechteck 5">
            <a:extLst>
              <a:ext uri="{FF2B5EF4-FFF2-40B4-BE49-F238E27FC236}">
                <a16:creationId xmlns:a16="http://schemas.microsoft.com/office/drawing/2014/main" id="{6D3D9EC9-4FA3-43F8-8E13-AA007EB8A74F}"/>
              </a:ext>
            </a:extLst>
          </p:cNvPr>
          <p:cNvSpPr/>
          <p:nvPr/>
        </p:nvSpPr>
        <p:spPr>
          <a:xfrm>
            <a:off x="343697" y="3242457"/>
            <a:ext cx="2587282" cy="595313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350" dirty="0"/>
          </a:p>
        </p:txBody>
      </p:sp>
      <p:cxnSp>
        <p:nvCxnSpPr>
          <p:cNvPr id="8" name="Gerade Verbindung 11">
            <a:extLst>
              <a:ext uri="{FF2B5EF4-FFF2-40B4-BE49-F238E27FC236}">
                <a16:creationId xmlns:a16="http://schemas.microsoft.com/office/drawing/2014/main" id="{7E2A05C0-8925-4517-918F-A77612754D04}"/>
              </a:ext>
            </a:extLst>
          </p:cNvPr>
          <p:cNvCxnSpPr/>
          <p:nvPr/>
        </p:nvCxnSpPr>
        <p:spPr>
          <a:xfrm>
            <a:off x="536683" y="3419900"/>
            <a:ext cx="2700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feld 10">
            <a:extLst>
              <a:ext uri="{FF2B5EF4-FFF2-40B4-BE49-F238E27FC236}">
                <a16:creationId xmlns:a16="http://schemas.microsoft.com/office/drawing/2014/main" id="{C9F15947-D0F7-4D11-A2DA-21A11CD07B42}"/>
              </a:ext>
            </a:extLst>
          </p:cNvPr>
          <p:cNvSpPr txBox="1"/>
          <p:nvPr/>
        </p:nvSpPr>
        <p:spPr>
          <a:xfrm>
            <a:off x="536683" y="3483202"/>
            <a:ext cx="2463692" cy="26545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de-DE" sz="1500" dirty="0" err="1"/>
              <a:t>Thank</a:t>
            </a:r>
            <a:r>
              <a:rPr lang="de-DE" sz="1500" dirty="0"/>
              <a:t> </a:t>
            </a:r>
            <a:r>
              <a:rPr lang="de-DE" sz="1500" dirty="0" err="1"/>
              <a:t>you</a:t>
            </a:r>
            <a:r>
              <a:rPr lang="de-DE" sz="1500" dirty="0"/>
              <a:t> </a:t>
            </a:r>
            <a:r>
              <a:rPr lang="de-DE" sz="1500" dirty="0" err="1"/>
              <a:t>for</a:t>
            </a:r>
            <a:r>
              <a:rPr lang="de-DE" sz="1500" dirty="0"/>
              <a:t> </a:t>
            </a:r>
            <a:r>
              <a:rPr lang="de-DE" sz="1500" dirty="0" err="1"/>
              <a:t>your</a:t>
            </a:r>
            <a:r>
              <a:rPr lang="de-DE" sz="1500" dirty="0"/>
              <a:t> </a:t>
            </a:r>
            <a:r>
              <a:rPr lang="de-DE" sz="1500" dirty="0" err="1"/>
              <a:t>attention</a:t>
            </a:r>
            <a:r>
              <a:rPr lang="de-DE" sz="1500" dirty="0"/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2694074616"/>
      </p:ext>
    </p:extLst>
  </p:cSld>
  <p:clrMapOvr>
    <a:masterClrMapping/>
  </p:clrMapOvr>
</p:sld>
</file>

<file path=ppt/theme/theme1.xml><?xml version="1.0" encoding="utf-8"?>
<a:theme xmlns:a="http://schemas.openxmlformats.org/drawingml/2006/main" name="Universität Jena">
  <a:themeElements>
    <a:clrScheme name="Universität">
      <a:dk1>
        <a:srgbClr val="002F5D"/>
      </a:dk1>
      <a:lt1>
        <a:srgbClr val="FFFFFF"/>
      </a:lt1>
      <a:dk2>
        <a:srgbClr val="002F5D"/>
      </a:dk2>
      <a:lt2>
        <a:srgbClr val="FFFFFF"/>
      </a:lt2>
      <a:accent1>
        <a:srgbClr val="AE9A63"/>
      </a:accent1>
      <a:accent2>
        <a:srgbClr val="7682A5"/>
      </a:accent2>
      <a:accent3>
        <a:srgbClr val="8E98B7"/>
      </a:accent3>
      <a:accent4>
        <a:srgbClr val="FFFFFF"/>
      </a:accent4>
      <a:accent5>
        <a:srgbClr val="FFFFFF"/>
      </a:accent5>
      <a:accent6>
        <a:srgbClr val="FFFFFF"/>
      </a:accent6>
      <a:hlink>
        <a:srgbClr val="7682A5"/>
      </a:hlink>
      <a:folHlink>
        <a:srgbClr val="A8AFC8"/>
      </a:folHlink>
    </a:clrScheme>
    <a:fontScheme name="Universität">
      <a:majorFont>
        <a:latin typeface="Palatino nova Medium"/>
        <a:ea typeface=""/>
        <a:cs typeface=""/>
      </a:majorFont>
      <a:minorFont>
        <a:latin typeface="Roboto Condensed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>
            <a:alpha val="80000"/>
          </a:schemeClr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Universität Jena Blau">
  <a:themeElements>
    <a:clrScheme name="Universität">
      <a:dk1>
        <a:srgbClr val="002F5D"/>
      </a:dk1>
      <a:lt1>
        <a:srgbClr val="FFFFFF"/>
      </a:lt1>
      <a:dk2>
        <a:srgbClr val="002F5D"/>
      </a:dk2>
      <a:lt2>
        <a:srgbClr val="FFFFFF"/>
      </a:lt2>
      <a:accent1>
        <a:srgbClr val="AE9A63"/>
      </a:accent1>
      <a:accent2>
        <a:srgbClr val="7682A5"/>
      </a:accent2>
      <a:accent3>
        <a:srgbClr val="8E98B7"/>
      </a:accent3>
      <a:accent4>
        <a:srgbClr val="FFFFFF"/>
      </a:accent4>
      <a:accent5>
        <a:srgbClr val="FFFFFF"/>
      </a:accent5>
      <a:accent6>
        <a:srgbClr val="FFFFFF"/>
      </a:accent6>
      <a:hlink>
        <a:srgbClr val="7682A5"/>
      </a:hlink>
      <a:folHlink>
        <a:srgbClr val="A8AFC8"/>
      </a:folHlink>
    </a:clrScheme>
    <a:fontScheme name="Universität">
      <a:majorFont>
        <a:latin typeface="Palatino nova Medium"/>
        <a:ea typeface=""/>
        <a:cs typeface=""/>
      </a:majorFont>
      <a:minorFont>
        <a:latin typeface="Roboto Condensed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>
            <a:alpha val="80000"/>
          </a:schemeClr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3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680</Words>
  <Application>Microsoft Office PowerPoint</Application>
  <PresentationFormat>Benutzerdefiniert</PresentationFormat>
  <Paragraphs>188</Paragraphs>
  <Slides>33</Slides>
  <Notes>32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2</vt:i4>
      </vt:variant>
      <vt:variant>
        <vt:lpstr>Folientitel</vt:lpstr>
      </vt:variant>
      <vt:variant>
        <vt:i4>33</vt:i4>
      </vt:variant>
    </vt:vector>
  </HeadingPairs>
  <TitlesOfParts>
    <vt:vector size="39" baseType="lpstr">
      <vt:lpstr>Arial</vt:lpstr>
      <vt:lpstr>Roboto Condensed</vt:lpstr>
      <vt:lpstr>Calibri</vt:lpstr>
      <vt:lpstr>Palatino Linotype</vt:lpstr>
      <vt:lpstr>Universität Jena</vt:lpstr>
      <vt:lpstr>Universität Jena Blau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>FSU Jena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Liana Franke</dc:creator>
  <cp:lastModifiedBy>christine.nussbaum</cp:lastModifiedBy>
  <cp:revision>983</cp:revision>
  <cp:lastPrinted>2017-04-12T09:06:57Z</cp:lastPrinted>
  <dcterms:created xsi:type="dcterms:W3CDTF">2017-03-23T10:34:48Z</dcterms:created>
  <dcterms:modified xsi:type="dcterms:W3CDTF">2026-10-23T16:53:37Z</dcterms:modified>
</cp:coreProperties>
</file>